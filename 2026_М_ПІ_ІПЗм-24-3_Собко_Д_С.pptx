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5"/>
  </p:notesMasterIdLst>
  <p:sldIdLst>
    <p:sldId id="256" r:id="rId2"/>
    <p:sldId id="257" r:id="rId3"/>
    <p:sldId id="258" r:id="rId4"/>
    <p:sldId id="259" r:id="rId5"/>
    <p:sldId id="280" r:id="rId6"/>
    <p:sldId id="274" r:id="rId7"/>
    <p:sldId id="260" r:id="rId8"/>
    <p:sldId id="265" r:id="rId9"/>
    <p:sldId id="282" r:id="rId10"/>
    <p:sldId id="283" r:id="rId11"/>
    <p:sldId id="284" r:id="rId12"/>
    <p:sldId id="263" r:id="rId13"/>
    <p:sldId id="285" r:id="rId14"/>
    <p:sldId id="261" r:id="rId15"/>
    <p:sldId id="272" r:id="rId16"/>
    <p:sldId id="264" r:id="rId17"/>
    <p:sldId id="262" r:id="rId18"/>
    <p:sldId id="269" r:id="rId19"/>
    <p:sldId id="276" r:id="rId20"/>
    <p:sldId id="275" r:id="rId21"/>
    <p:sldId id="277" r:id="rId22"/>
    <p:sldId id="278" r:id="rId23"/>
    <p:sldId id="279" r:id="rId24"/>
    <p:sldId id="266" r:id="rId25"/>
    <p:sldId id="286" r:id="rId26"/>
    <p:sldId id="267" r:id="rId27"/>
    <p:sldId id="268" r:id="rId28"/>
    <p:sldId id="288" r:id="rId29"/>
    <p:sldId id="289" r:id="rId30"/>
    <p:sldId id="290" r:id="rId31"/>
    <p:sldId id="270" r:id="rId32"/>
    <p:sldId id="273" r:id="rId33"/>
    <p:sldId id="271"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3D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40"/>
    <p:restoredTop sz="94694"/>
  </p:normalViewPr>
  <p:slideViewPr>
    <p:cSldViewPr snapToGrid="0" snapToObjects="1">
      <p:cViewPr>
        <p:scale>
          <a:sx n="103" d="100"/>
          <a:sy n="103" d="100"/>
        </p:scale>
        <p:origin x="1176" y="5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UA"/>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23D34A-FD25-FF47-BD8E-FAC8E21C26B3}" type="datetimeFigureOut">
              <a:rPr lang="ru-UA" smtClean="0"/>
              <a:t>23.05.2026</a:t>
            </a:fld>
            <a:endParaRPr lang="ru-UA"/>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UA"/>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UA"/>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2C6A1-8DB1-F34D-8407-5386BCC29986}" type="slidenum">
              <a:rPr lang="ru-UA" smtClean="0"/>
              <a:t>‹#›</a:t>
            </a:fld>
            <a:endParaRPr lang="ru-UA"/>
          </a:p>
        </p:txBody>
      </p:sp>
    </p:spTree>
    <p:extLst>
      <p:ext uri="{BB962C8B-B14F-4D97-AF65-F5344CB8AC3E}">
        <p14:creationId xmlns:p14="http://schemas.microsoft.com/office/powerpoint/2010/main" val="1847651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UA" dirty="0"/>
          </a:p>
        </p:txBody>
      </p:sp>
      <p:sp>
        <p:nvSpPr>
          <p:cNvPr id="4" name="Номер слайда 3"/>
          <p:cNvSpPr>
            <a:spLocks noGrp="1"/>
          </p:cNvSpPr>
          <p:nvPr>
            <p:ph type="sldNum" sz="quarter" idx="5"/>
          </p:nvPr>
        </p:nvSpPr>
        <p:spPr/>
        <p:txBody>
          <a:bodyPr/>
          <a:lstStyle/>
          <a:p>
            <a:fld id="{99C2C6A1-8DB1-F34D-8407-5386BCC29986}" type="slidenum">
              <a:rPr lang="ru-UA" smtClean="0"/>
              <a:t>15</a:t>
            </a:fld>
            <a:endParaRPr lang="ru-UA"/>
          </a:p>
        </p:txBody>
      </p:sp>
    </p:spTree>
    <p:extLst>
      <p:ext uri="{BB962C8B-B14F-4D97-AF65-F5344CB8AC3E}">
        <p14:creationId xmlns:p14="http://schemas.microsoft.com/office/powerpoint/2010/main" val="56279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UA" dirty="0"/>
          </a:p>
        </p:txBody>
      </p:sp>
      <p:sp>
        <p:nvSpPr>
          <p:cNvPr id="4" name="Номер слайда 3"/>
          <p:cNvSpPr>
            <a:spLocks noGrp="1"/>
          </p:cNvSpPr>
          <p:nvPr>
            <p:ph type="sldNum" sz="quarter" idx="5"/>
          </p:nvPr>
        </p:nvSpPr>
        <p:spPr/>
        <p:txBody>
          <a:bodyPr/>
          <a:lstStyle/>
          <a:p>
            <a:fld id="{99C2C6A1-8DB1-F34D-8407-5386BCC29986}" type="slidenum">
              <a:rPr lang="ru-UA" smtClean="0"/>
              <a:t>18</a:t>
            </a:fld>
            <a:endParaRPr lang="ru-UA"/>
          </a:p>
        </p:txBody>
      </p:sp>
    </p:spTree>
    <p:extLst>
      <p:ext uri="{BB962C8B-B14F-4D97-AF65-F5344CB8AC3E}">
        <p14:creationId xmlns:p14="http://schemas.microsoft.com/office/powerpoint/2010/main" val="456568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10" name="Rectangle 9"/>
          <p:cNvSpPr/>
          <p:nvPr/>
        </p:nvSpPr>
        <p:spPr>
          <a:xfrm>
            <a:off x="1007534" y="0"/>
            <a:ext cx="5898825"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6906359"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958856" y="3428999"/>
            <a:ext cx="4138550" cy="2268559"/>
          </a:xfrm>
        </p:spPr>
        <p:txBody>
          <a:bodyPr anchor="t">
            <a:normAutofit/>
          </a:bodyPr>
          <a:lstStyle>
            <a:lvl1pPr algn="r">
              <a:defRPr sz="4200"/>
            </a:lvl1pPr>
          </a:lstStyle>
          <a:p>
            <a:r>
              <a:rPr lang="ru-RU"/>
              <a:t>Образец заголовка</a:t>
            </a:r>
            <a:endParaRPr lang="en-US" dirty="0"/>
          </a:p>
        </p:txBody>
      </p:sp>
      <p:sp>
        <p:nvSpPr>
          <p:cNvPr id="3" name="Subtitle 2"/>
          <p:cNvSpPr>
            <a:spLocks noGrp="1"/>
          </p:cNvSpPr>
          <p:nvPr>
            <p:ph type="subTitle" idx="1"/>
          </p:nvPr>
        </p:nvSpPr>
        <p:spPr>
          <a:xfrm>
            <a:off x="2131292" y="2268787"/>
            <a:ext cx="3966114" cy="1160213"/>
          </a:xfrm>
        </p:spPr>
        <p:txBody>
          <a:bodyPr tIns="0" anchor="b">
            <a:normAutofit/>
          </a:bodyPr>
          <a:lstStyle>
            <a:lvl1pPr marL="0" indent="0" algn="r">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8247F29F-52BC-D04D-9AC2-6600591395FC}" type="datetime1">
              <a:rPr lang="ru-RU"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C1FF6DA9-008F-8B48-92A6-B652298478BF}" type="slidenum">
              <a:rPr lang="en-US" smtClean="0"/>
              <a:t>‹#›</a:t>
            </a:fld>
            <a:endParaRPr lang="en-US"/>
          </a:p>
        </p:txBody>
      </p:sp>
      <p:sp>
        <p:nvSpPr>
          <p:cNvPr id="24" name="TextBox 23"/>
          <p:cNvSpPr txBox="1"/>
          <p:nvPr/>
        </p:nvSpPr>
        <p:spPr>
          <a:xfrm>
            <a:off x="1641440" y="3262168"/>
            <a:ext cx="311727" cy="430887"/>
          </a:xfrm>
          <a:prstGeom prst="rect">
            <a:avLst/>
          </a:prstGeom>
          <a:noFill/>
        </p:spPr>
        <p:txBody>
          <a:bodyPr wrap="square" rtlCol="0">
            <a:spAutoFit/>
          </a:bodyPr>
          <a:lstStyle/>
          <a:p>
            <a:pPr algn="r"/>
            <a:r>
              <a:rPr lang="en-US" sz="2200" dirty="0">
                <a:solidFill>
                  <a:schemeClr val="accent6"/>
                </a:solidFill>
                <a:latin typeface="Wingdings 3" panose="05040102010807070707" pitchFamily="18" charset="2"/>
              </a:rPr>
              <a:t>z</a:t>
            </a:r>
            <a:endParaRPr lang="en-US" sz="22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918628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9" name="Rectangle 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F8374F9-A997-5441-AE22-F23B63BBF79C}" type="datetime1">
              <a:rPr lang="ru-RU"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TextBox 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143604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57405" y="3199028"/>
            <a:ext cx="5967420" cy="1372971"/>
          </a:xfrm>
        </p:spPr>
        <p:txBody>
          <a:bodyPr anchor="t">
            <a:normAutofit/>
          </a:bodyPr>
          <a:lstStyle>
            <a:lvl1pPr algn="r">
              <a:defRPr sz="2800"/>
            </a:lvl1pPr>
          </a:lstStyle>
          <a:p>
            <a:r>
              <a:rPr lang="ru-RU"/>
              <a:t>Образец заголовка</a:t>
            </a:r>
            <a:endParaRPr lang="en-US" dirty="0"/>
          </a:p>
        </p:txBody>
      </p:sp>
      <p:sp>
        <p:nvSpPr>
          <p:cNvPr id="3" name="Text Placeholder 2"/>
          <p:cNvSpPr>
            <a:spLocks noGrp="1"/>
          </p:cNvSpPr>
          <p:nvPr>
            <p:ph type="body" idx="1"/>
          </p:nvPr>
        </p:nvSpPr>
        <p:spPr>
          <a:xfrm>
            <a:off x="2121131" y="2272143"/>
            <a:ext cx="5803294" cy="926885"/>
          </a:xfrm>
        </p:spPr>
        <p:txBody>
          <a:bodyPr tIns="0" anchor="b">
            <a:normAutofit/>
          </a:bodyPr>
          <a:lstStyle>
            <a:lvl1pPr marL="0" indent="0" algn="r">
              <a:buNone/>
              <a:defRPr sz="16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C94A5FCA-985D-B549-81C6-596EF8B545DB}" type="datetime1">
              <a:rPr lang="ru-RU"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6" name="TextBox 15"/>
          <p:cNvSpPr txBox="1"/>
          <p:nvPr/>
        </p:nvSpPr>
        <p:spPr>
          <a:xfrm>
            <a:off x="1644924" y="3023993"/>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934686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12" name="Rectangle 11"/>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61426" y="805818"/>
            <a:ext cx="5882780" cy="1081705"/>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965406" y="2056800"/>
            <a:ext cx="2855547" cy="399314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984679" y="2056800"/>
            <a:ext cx="2859527" cy="399314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156C917B-356B-F44A-B24F-1D3BB6473C2E}" type="datetime1">
              <a:rPr lang="ru-RU" smtClean="0"/>
              <a:t>23.05.2026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TextBox 18"/>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4331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4" name="Rectangle 13"/>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TextBox 23"/>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63589" y="805818"/>
            <a:ext cx="5880617" cy="1077020"/>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963589" y="2054563"/>
            <a:ext cx="2857364"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Content Placeholder 3"/>
          <p:cNvSpPr>
            <a:spLocks noGrp="1"/>
          </p:cNvSpPr>
          <p:nvPr>
            <p:ph sz="half" idx="2"/>
          </p:nvPr>
        </p:nvSpPr>
        <p:spPr>
          <a:xfrm>
            <a:off x="1962510" y="2851330"/>
            <a:ext cx="2858443" cy="319861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984679" y="2054563"/>
            <a:ext cx="2859527" cy="713818"/>
          </a:xfrm>
        </p:spPr>
        <p:txBody>
          <a:bodyPr anchor="b">
            <a:noAutofit/>
          </a:bodyPr>
          <a:lstStyle>
            <a:lvl1pPr marL="0" indent="0" algn="l">
              <a:lnSpc>
                <a:spcPct val="100000"/>
              </a:lnSpc>
              <a:buNone/>
              <a:defRPr sz="2000" b="0" cap="none" baseline="0">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Content Placeholder 5"/>
          <p:cNvSpPr>
            <a:spLocks noGrp="1"/>
          </p:cNvSpPr>
          <p:nvPr>
            <p:ph sz="quarter" idx="4"/>
          </p:nvPr>
        </p:nvSpPr>
        <p:spPr>
          <a:xfrm>
            <a:off x="4984680" y="2851330"/>
            <a:ext cx="2859526" cy="319861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C98235F6-E4B9-F040-998F-C292A8F2F51E}" type="datetime1">
              <a:rPr lang="ru-RU" smtClean="0"/>
              <a:t>23.05.2026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7364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TextBox 15"/>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EB3F9E4C-7832-EA4A-9473-075B1265E7F2}" type="datetime1">
              <a:rPr lang="ru-RU" smtClean="0"/>
              <a:t>23.05.2026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418807" y="123335"/>
            <a:ext cx="638312" cy="322850"/>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82830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9" name="Rectangle 8"/>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88455E53-94FD-E244-89AA-2DA5308B4C12}" type="datetime1">
              <a:rPr lang="ru-RU" smtClean="0"/>
              <a:t>23.05.2026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070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17" name="Rectangle 16"/>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TextBox 21"/>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85983" y="1296618"/>
            <a:ext cx="2120703" cy="1889075"/>
          </a:xfrm>
        </p:spPr>
        <p:txBody>
          <a:bodyPr anchor="b">
            <a:normAutofit/>
          </a:bodyPr>
          <a:lstStyle>
            <a:lvl1pPr algn="l">
              <a:defRPr sz="2000"/>
            </a:lvl1pPr>
          </a:lstStyle>
          <a:p>
            <a:r>
              <a:rPr lang="ru-RU"/>
              <a:t>Образец заголовка</a:t>
            </a:r>
            <a:endParaRPr lang="en-US" dirty="0"/>
          </a:p>
        </p:txBody>
      </p:sp>
      <p:sp>
        <p:nvSpPr>
          <p:cNvPr id="3" name="Content Placeholder 2"/>
          <p:cNvSpPr>
            <a:spLocks noGrp="1"/>
          </p:cNvSpPr>
          <p:nvPr>
            <p:ph idx="1"/>
          </p:nvPr>
        </p:nvSpPr>
        <p:spPr>
          <a:xfrm>
            <a:off x="4088538" y="805818"/>
            <a:ext cx="3755668" cy="5244126"/>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485982" y="3186155"/>
            <a:ext cx="2120703" cy="2386397"/>
          </a:xfrm>
        </p:spPr>
        <p:txBody>
          <a:bodyPr>
            <a:normAutofit/>
          </a:bodyPr>
          <a:lstStyle>
            <a:lvl1pPr marL="0" indent="0" algn="l">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Date Placeholder 4"/>
          <p:cNvSpPr>
            <a:spLocks noGrp="1"/>
          </p:cNvSpPr>
          <p:nvPr>
            <p:ph type="dt" sz="half" idx="10"/>
          </p:nvPr>
        </p:nvSpPr>
        <p:spPr/>
        <p:txBody>
          <a:bodyPr/>
          <a:lstStyle/>
          <a:p>
            <a:fld id="{7C5F66BD-83D0-614B-9E95-227DA94DEAA8}" type="datetime1">
              <a:rPr lang="ru-RU" smtClean="0"/>
              <a:t>23.05.2026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4601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11" name="Rectangle 10"/>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TextBox 12"/>
          <p:cNvSpPr txBox="1"/>
          <p:nvPr/>
        </p:nvSpPr>
        <p:spPr>
          <a:xfrm>
            <a:off x="1179466" y="1127642"/>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3" name="Picture Placeholder 2"/>
          <p:cNvSpPr>
            <a:spLocks noGrp="1" noChangeAspect="1"/>
          </p:cNvSpPr>
          <p:nvPr>
            <p:ph type="pic" idx="1"/>
          </p:nvPr>
        </p:nvSpPr>
        <p:spPr>
          <a:xfrm>
            <a:off x="4582987" y="3229"/>
            <a:ext cx="3727769"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ru-RU"/>
              <a:t>Вставка рисунка</a:t>
            </a:r>
            <a:endParaRPr lang="en-US" dirty="0"/>
          </a:p>
        </p:txBody>
      </p:sp>
      <p:sp>
        <p:nvSpPr>
          <p:cNvPr id="2" name="Title 1"/>
          <p:cNvSpPr>
            <a:spLocks noGrp="1"/>
          </p:cNvSpPr>
          <p:nvPr>
            <p:ph type="title"/>
          </p:nvPr>
        </p:nvSpPr>
        <p:spPr>
          <a:xfrm>
            <a:off x="1486671" y="1296618"/>
            <a:ext cx="2603212" cy="1886308"/>
          </a:xfrm>
        </p:spPr>
        <p:txBody>
          <a:bodyPr anchor="b">
            <a:normAutofit/>
          </a:bodyPr>
          <a:lstStyle>
            <a:lvl1pPr algn="l">
              <a:defRPr sz="2400"/>
            </a:lvl1pPr>
          </a:lstStyle>
          <a:p>
            <a:r>
              <a:rPr lang="ru-RU"/>
              <a:t>Образец заголовка</a:t>
            </a:r>
            <a:endParaRPr lang="en-US" dirty="0"/>
          </a:p>
        </p:txBody>
      </p:sp>
      <p:sp>
        <p:nvSpPr>
          <p:cNvPr id="4" name="Text Placeholder 3"/>
          <p:cNvSpPr>
            <a:spLocks noGrp="1"/>
          </p:cNvSpPr>
          <p:nvPr>
            <p:ph type="body" sz="half" idx="2"/>
          </p:nvPr>
        </p:nvSpPr>
        <p:spPr>
          <a:xfrm>
            <a:off x="1485984" y="3182928"/>
            <a:ext cx="2603794" cy="2386394"/>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Date Placeholder 4"/>
          <p:cNvSpPr>
            <a:spLocks noGrp="1"/>
          </p:cNvSpPr>
          <p:nvPr>
            <p:ph type="dt" sz="half" idx="10"/>
          </p:nvPr>
        </p:nvSpPr>
        <p:spPr/>
        <p:txBody>
          <a:bodyPr/>
          <a:lstStyle/>
          <a:p>
            <a:fld id="{3714381C-FCE1-794A-B3CE-F73790D7ED5F}" type="datetime1">
              <a:rPr lang="ru-RU" smtClean="0"/>
              <a:t>23.05.2026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4223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10" name="Rectangle 9"/>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TextBox 16"/>
          <p:cNvSpPr txBox="1"/>
          <p:nvPr/>
        </p:nvSpPr>
        <p:spPr>
          <a:xfrm>
            <a:off x="1651862" y="636541"/>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8857" y="808057"/>
            <a:ext cx="5885350" cy="1077229"/>
          </a:xfrm>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2120792" y="2049878"/>
            <a:ext cx="5723414" cy="4000066"/>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F3319B5-B4A2-9848-AA53-BABE91FB1ACA}" type="datetime1">
              <a:rPr lang="ru-RU"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8898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18" name="Rectangle 17"/>
          <p:cNvSpPr/>
          <p:nvPr/>
        </p:nvSpPr>
        <p:spPr>
          <a:xfrm>
            <a:off x="1007534" y="0"/>
            <a:ext cx="7315560"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832116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TextBox 22"/>
          <p:cNvSpPr txBox="1"/>
          <p:nvPr/>
        </p:nvSpPr>
        <p:spPr>
          <a:xfrm rot="5400000">
            <a:off x="7688343" y="480678"/>
            <a:ext cx="311727" cy="338554"/>
          </a:xfrm>
          <a:prstGeom prst="rect">
            <a:avLst/>
          </a:prstGeom>
          <a:noFill/>
        </p:spPr>
        <p:txBody>
          <a:bodyPr wrap="square" rtlCol="0">
            <a:spAutoFit/>
          </a:bodyPr>
          <a:lstStyle/>
          <a:p>
            <a:pPr algn="r"/>
            <a:r>
              <a:rPr lang="en-US" sz="1600" dirty="0">
                <a:solidFill>
                  <a:schemeClr val="accent6"/>
                </a:solidFill>
                <a:latin typeface="Wingdings 3" panose="05040102010807070707" pitchFamily="18" charset="2"/>
              </a:rPr>
              <a:t>z</a:t>
            </a:r>
            <a:endParaRPr lang="en-US" sz="16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6849317" y="805818"/>
            <a:ext cx="994889" cy="5244126"/>
          </a:xfrm>
        </p:spPr>
        <p:txBody>
          <a:bodyPr vert="eaVert"/>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a:xfrm>
            <a:off x="1964598" y="970410"/>
            <a:ext cx="4715441" cy="507953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0739418-F348-2047-A180-E487964E068C}" type="datetime1">
              <a:rPr lang="ru-RU"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221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71060" y="2912532"/>
            <a:ext cx="7772939" cy="3945467"/>
          </a:xfrm>
          <a:prstGeom prst="rect">
            <a:avLst/>
          </a:prstGeom>
        </p:spPr>
      </p:pic>
      <p:pic>
        <p:nvPicPr>
          <p:cNvPr id="15" name="Picture 14"/>
          <p:cNvPicPr>
            <a:picLocks noChangeAspect="1"/>
          </p:cNvPicPr>
          <p:nvPr/>
        </p:nvPicPr>
        <p:blipFill rotWithShape="1">
          <a:blip r:embed="rId14">
            <a:extLst>
              <a:ext uri="{28A0092B-C50C-407E-A947-70E740481C1C}">
                <a14:useLocalDpi xmlns:a14="http://schemas.microsoft.com/office/drawing/2010/main" val="0"/>
              </a:ext>
            </a:extLst>
          </a:blip>
          <a:srcRect r="24998"/>
          <a:stretch/>
        </p:blipFill>
        <p:spPr>
          <a:xfrm>
            <a:off x="1" y="0"/>
            <a:ext cx="9143999" cy="6858000"/>
          </a:xfrm>
          <a:prstGeom prst="rect">
            <a:avLst/>
          </a:prstGeom>
        </p:spPr>
      </p:pic>
      <p:sp>
        <p:nvSpPr>
          <p:cNvPr id="12" name="Rectangle 11"/>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dirty="0"/>
          </a:p>
        </p:txBody>
      </p:sp>
      <p:sp>
        <p:nvSpPr>
          <p:cNvPr id="13" name="Rectangle 12"/>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961317" y="808057"/>
            <a:ext cx="5878011" cy="1077229"/>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2126236" y="2049878"/>
            <a:ext cx="5713092" cy="4000066"/>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rot="5400000">
            <a:off x="-828294" y="5272451"/>
            <a:ext cx="2662729" cy="179188"/>
          </a:xfrm>
          <a:prstGeom prst="rect">
            <a:avLst/>
          </a:prstGeom>
        </p:spPr>
        <p:txBody>
          <a:bodyPr vert="horz" lIns="91440" tIns="18288" rIns="91440" bIns="45720" rtlCol="0" anchor="t"/>
          <a:lstStyle>
            <a:lvl1pPr algn="r">
              <a:defRPr sz="900">
                <a:solidFill>
                  <a:schemeClr val="tx1">
                    <a:tint val="75000"/>
                  </a:schemeClr>
                </a:solidFill>
                <a:latin typeface="+mn-lt"/>
              </a:defRPr>
            </a:lvl1pPr>
          </a:lstStyle>
          <a:p>
            <a:fld id="{D783648D-D353-5044-B79B-C2AD7C392DE4}" type="datetime1">
              <a:rPr lang="ru-RU" smtClean="0"/>
              <a:t>23.05.2026</a:t>
            </a:fld>
            <a:endParaRPr lang="en-US"/>
          </a:p>
        </p:txBody>
      </p:sp>
      <p:sp>
        <p:nvSpPr>
          <p:cNvPr id="5" name="Footer Placeholder 4"/>
          <p:cNvSpPr>
            <a:spLocks noGrp="1"/>
          </p:cNvSpPr>
          <p:nvPr>
            <p:ph type="ftr" sz="quarter" idx="3"/>
          </p:nvPr>
        </p:nvSpPr>
        <p:spPr>
          <a:xfrm rot="5400000">
            <a:off x="-2258177" y="3658900"/>
            <a:ext cx="5885352" cy="183663"/>
          </a:xfrm>
          <a:prstGeom prst="rect">
            <a:avLst/>
          </a:prstGeom>
        </p:spPr>
        <p:txBody>
          <a:bodyPr vert="horz" lIns="91440" tIns="45720" rIns="91440" bIns="18288" rtlCol="0" anchor="b"/>
          <a:lstStyle>
            <a:lvl1pPr algn="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368182" y="133009"/>
            <a:ext cx="638312" cy="322850"/>
          </a:xfrm>
          <a:prstGeom prst="rect">
            <a:avLst/>
          </a:prstGeom>
        </p:spPr>
        <p:txBody>
          <a:bodyPr vert="horz" lIns="91440" tIns="45720" rIns="45720" bIns="45720" rtlCol="0" anchor="ctr"/>
          <a:lstStyle>
            <a:lvl1pPr algn="r">
              <a:defRPr sz="16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150312552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r" defTabSz="685800" rtl="0" eaLnBrk="1" latinLnBrk="0" hangingPunct="1">
        <a:lnSpc>
          <a:spcPct val="90000"/>
        </a:lnSpc>
        <a:spcBef>
          <a:spcPct val="0"/>
        </a:spcBef>
        <a:buNone/>
        <a:defRPr sz="2800" b="0" i="0" kern="1200" cap="none">
          <a:solidFill>
            <a:schemeClr val="tx1"/>
          </a:solidFill>
          <a:effectLst/>
          <a:latin typeface="+mj-lt"/>
          <a:ea typeface="+mj-ea"/>
          <a:cs typeface="+mj-cs"/>
        </a:defRPr>
      </a:lvl1pPr>
    </p:titleStyle>
    <p:bodyStyle>
      <a:lvl1pPr marL="258366"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1pPr>
      <a:lvl2pPr marL="596504"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2pPr>
      <a:lvl3pPr marL="944166"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3pPr>
      <a:lvl4pPr marL="1282304"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4pPr>
      <a:lvl5pPr marL="1629966"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188595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a:solidFill>
            <a:schemeClr val="tx1"/>
          </a:solidFill>
          <a:effectLst/>
          <a:latin typeface="+mn-lt"/>
          <a:ea typeface="+mn-ea"/>
          <a:cs typeface="+mn-cs"/>
        </a:defRPr>
      </a:lvl6pPr>
      <a:lvl7pPr marL="222885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a:solidFill>
            <a:schemeClr val="tx1"/>
          </a:solidFill>
          <a:effectLst/>
          <a:latin typeface="+mn-lt"/>
          <a:ea typeface="+mn-ea"/>
          <a:cs typeface="+mn-cs"/>
        </a:defRPr>
      </a:lvl7pPr>
      <a:lvl8pPr marL="257175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a:solidFill>
            <a:schemeClr val="tx1"/>
          </a:solidFill>
          <a:effectLst/>
          <a:latin typeface="+mn-lt"/>
          <a:ea typeface="+mn-ea"/>
          <a:cs typeface="+mn-cs"/>
        </a:defRPr>
      </a:lvl8pPr>
      <a:lvl9pPr marL="2914650" indent="-256032" algn="l" defTabSz="685800" rtl="0" eaLnBrk="1" latinLnBrk="0" hangingPunct="1">
        <a:lnSpc>
          <a:spcPct val="120000"/>
        </a:lnSpc>
        <a:spcBef>
          <a:spcPts val="375"/>
        </a:spcBef>
        <a:spcAft>
          <a:spcPts val="450"/>
        </a:spcAft>
        <a:buClr>
          <a:schemeClr val="accent6"/>
        </a:buClr>
        <a:buSzPct val="90000"/>
        <a:buFont typeface="Wingdings" panose="05000000000000000000" pitchFamily="2" charset="2"/>
        <a:buChar char="§"/>
        <a:defRPr sz="1100" kern="120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4.jpeg"/><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image" Target="../media/image4.jpe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3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35.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35.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4.jpe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12" name="Freeform: Shape 11">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14" name="Picture 13">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6" name="Rectangle 1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Freeform: Shape 17">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932" y="0"/>
            <a:ext cx="5902158"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996">
                <a:srgbClr val="1F2D29">
                  <a:alpha val="4000"/>
                </a:srgbClr>
              </a:gs>
              <a:gs pos="20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Oval 19">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2282700"/>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403041" y="2177787"/>
            <a:ext cx="6988509" cy="2144121"/>
          </a:xfrm>
        </p:spPr>
        <p:txBody>
          <a:bodyPr>
            <a:normAutofit/>
          </a:bodyPr>
          <a:lstStyle/>
          <a:p>
            <a:pPr algn="l">
              <a:defRPr sz="4000" b="1"/>
            </a:pPr>
            <a:r>
              <a:rPr lang="ru-RU" sz="3300" dirty="0" err="1"/>
              <a:t>Дослідження</a:t>
            </a:r>
            <a:r>
              <a:rPr lang="ru-RU" sz="3300" dirty="0"/>
              <a:t> </a:t>
            </a:r>
            <a:r>
              <a:rPr lang="ru-RU" sz="3300" dirty="0" err="1"/>
              <a:t>ефективності</a:t>
            </a:r>
            <a:r>
              <a:rPr lang="ru-RU" sz="3300" dirty="0"/>
              <a:t> </a:t>
            </a:r>
            <a:r>
              <a:rPr lang="ru-RU" sz="3300" dirty="0" err="1"/>
              <a:t>плагінів</a:t>
            </a:r>
            <a:r>
              <a:rPr lang="ru-RU" sz="3300" dirty="0"/>
              <a:t> </a:t>
            </a:r>
            <a:r>
              <a:rPr lang="ru-RU" sz="3300" dirty="0" err="1"/>
              <a:t>безпеки</a:t>
            </a:r>
            <a:r>
              <a:rPr lang="ru-RU" sz="3300" dirty="0"/>
              <a:t> в </a:t>
            </a:r>
            <a:r>
              <a:rPr lang="en" sz="3300" dirty="0" err="1"/>
              <a:t>Wordpress</a:t>
            </a:r>
            <a:r>
              <a:rPr lang="en" sz="3300" dirty="0"/>
              <a:t> </a:t>
            </a:r>
            <a:r>
              <a:rPr lang="ru-RU" sz="3300" dirty="0"/>
              <a:t>для </a:t>
            </a:r>
            <a:r>
              <a:rPr lang="ru-RU" sz="3300" dirty="0" err="1"/>
              <a:t>виявлення</a:t>
            </a:r>
            <a:r>
              <a:rPr lang="ru-RU" sz="3300" dirty="0"/>
              <a:t> </a:t>
            </a:r>
            <a:r>
              <a:rPr lang="ru-RU" sz="3300" dirty="0" err="1"/>
              <a:t>реальних</a:t>
            </a:r>
            <a:r>
              <a:rPr lang="ru-RU" sz="3300" dirty="0"/>
              <a:t> </a:t>
            </a:r>
            <a:r>
              <a:rPr lang="ru-RU" sz="3300" dirty="0" err="1"/>
              <a:t>загроз</a:t>
            </a:r>
            <a:r>
              <a:rPr lang="ru-RU" sz="3300" dirty="0"/>
              <a:t> на </a:t>
            </a:r>
            <a:r>
              <a:rPr lang="en" sz="3300" dirty="0"/>
              <a:t>web-</a:t>
            </a:r>
            <a:r>
              <a:rPr lang="ru-RU" sz="3300" dirty="0" err="1"/>
              <a:t>рішення</a:t>
            </a:r>
            <a:r>
              <a:rPr lang="ru-RU" sz="3300" dirty="0"/>
              <a:t> </a:t>
            </a:r>
          </a:p>
        </p:txBody>
      </p:sp>
      <p:sp>
        <p:nvSpPr>
          <p:cNvPr id="5" name="TextBox 4">
            <a:extLst>
              <a:ext uri="{FF2B5EF4-FFF2-40B4-BE49-F238E27FC236}">
                <a16:creationId xmlns:a16="http://schemas.microsoft.com/office/drawing/2014/main" id="{D192786E-310B-EC6B-2440-2D766A98C556}"/>
              </a:ext>
            </a:extLst>
          </p:cNvPr>
          <p:cNvSpPr txBox="1"/>
          <p:nvPr/>
        </p:nvSpPr>
        <p:spPr>
          <a:xfrm>
            <a:off x="1385011" y="673496"/>
            <a:ext cx="4572000" cy="646331"/>
          </a:xfrm>
          <a:prstGeom prst="rect">
            <a:avLst/>
          </a:prstGeom>
          <a:noFill/>
        </p:spPr>
        <p:txBody>
          <a:bodyPr wrap="square">
            <a:spAutoFit/>
          </a:bodyPr>
          <a:lstStyle/>
          <a:p>
            <a:r>
              <a:rPr lang="ru-UA" sz="1800" dirty="0"/>
              <a:t>ХНУРЕ, Кафедра ПІ </a:t>
            </a:r>
            <a:br>
              <a:rPr lang="ru-UA" sz="1800" dirty="0"/>
            </a:br>
            <a:r>
              <a:rPr lang="ru-UA" sz="1800" dirty="0"/>
              <a:t>Кваліфікаційна робота</a:t>
            </a:r>
            <a:endParaRPr lang="ru-UA" dirty="0"/>
          </a:p>
        </p:txBody>
      </p:sp>
      <p:sp>
        <p:nvSpPr>
          <p:cNvPr id="31" name="Подзаголовок 2">
            <a:extLst>
              <a:ext uri="{FF2B5EF4-FFF2-40B4-BE49-F238E27FC236}">
                <a16:creationId xmlns:a16="http://schemas.microsoft.com/office/drawing/2014/main" id="{77DD1EC7-81D9-B218-F4DF-56F99683BEF0}"/>
              </a:ext>
            </a:extLst>
          </p:cNvPr>
          <p:cNvSpPr>
            <a:spLocks noGrp="1"/>
          </p:cNvSpPr>
          <p:nvPr>
            <p:ph type="subTitle" idx="1"/>
          </p:nvPr>
        </p:nvSpPr>
        <p:spPr>
          <a:xfrm>
            <a:off x="1385011" y="5107283"/>
            <a:ext cx="6673631" cy="829097"/>
          </a:xfrm>
        </p:spPr>
        <p:txBody>
          <a:bodyPr>
            <a:noAutofit/>
          </a:bodyPr>
          <a:lstStyle/>
          <a:p>
            <a:pPr algn="l"/>
            <a:r>
              <a:rPr lang="ru-UA" dirty="0"/>
              <a:t>Виконала: ст. гр. ІПЗм-24-3 Собко Дарʼя Сергіївна</a:t>
            </a:r>
          </a:p>
          <a:p>
            <a:pPr algn="l"/>
            <a:r>
              <a:rPr lang="ru-UA" dirty="0"/>
              <a:t>Керівник: доц. </a:t>
            </a:r>
            <a:r>
              <a:rPr lang="ru-RU" dirty="0"/>
              <a:t>к</a:t>
            </a:r>
            <a:r>
              <a:rPr lang="ru-UA" dirty="0"/>
              <a:t>афедри ПІ Груздо Ірина Володимирівна</a:t>
            </a:r>
          </a:p>
        </p:txBody>
      </p:sp>
      <p:sp>
        <p:nvSpPr>
          <p:cNvPr id="4" name="Номер слайда 3">
            <a:extLst>
              <a:ext uri="{FF2B5EF4-FFF2-40B4-BE49-F238E27FC236}">
                <a16:creationId xmlns:a16="http://schemas.microsoft.com/office/drawing/2014/main" id="{31ED58E2-B53E-7BF3-9DF9-4D4483D748EB}"/>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lumMod val="5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28" name="Freeform: Shape 27">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30" name="Picture 29">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2" name="Rectangle 31">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590693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6" name="Rectangle 3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8" name="Oval 37">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421698"/>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48426" y="650720"/>
            <a:ext cx="7142215" cy="1077229"/>
          </a:xfrm>
        </p:spPr>
        <p:txBody>
          <a:bodyPr vert="horz" lIns="91440" tIns="45720" rIns="91440" bIns="45720" rtlCol="0" anchor="t">
            <a:normAutofit/>
          </a:bodyPr>
          <a:lstStyle/>
          <a:p>
            <a:pPr algn="l" defTabSz="914400">
              <a:defRPr sz="3400" b="1"/>
            </a:pPr>
            <a:r>
              <a:rPr lang="en-US" sz="3300" dirty="0" err="1"/>
              <a:t>Тема</a:t>
            </a:r>
            <a:r>
              <a:rPr lang="en-US" sz="3300" dirty="0"/>
              <a:t> </a:t>
            </a:r>
            <a:r>
              <a:rPr lang="en-US" sz="3300" dirty="0" err="1"/>
              <a:t>та</a:t>
            </a:r>
            <a:r>
              <a:rPr lang="en-US" sz="3300" dirty="0"/>
              <a:t> </a:t>
            </a:r>
            <a:r>
              <a:rPr lang="en-US" sz="3300" dirty="0" err="1"/>
              <a:t>актуальність</a:t>
            </a:r>
            <a:r>
              <a:rPr lang="en-US" sz="3300" dirty="0"/>
              <a:t> </a:t>
            </a:r>
            <a:r>
              <a:rPr lang="en-US" sz="3300" dirty="0" err="1"/>
              <a:t>дослідження</a:t>
            </a:r>
            <a:endParaRPr lang="en-US" sz="3300" dirty="0"/>
          </a:p>
        </p:txBody>
      </p:sp>
      <p:sp>
        <p:nvSpPr>
          <p:cNvPr id="3" name="TextBox 2"/>
          <p:cNvSpPr txBox="1"/>
          <p:nvPr/>
        </p:nvSpPr>
        <p:spPr>
          <a:xfrm>
            <a:off x="1160675" y="2039566"/>
            <a:ext cx="7401241" cy="3997828"/>
          </a:xfrm>
          <a:prstGeom prst="rect">
            <a:avLst/>
          </a:prstGeom>
        </p:spPr>
        <p:txBody>
          <a:bodyPr vert="horz" lIns="91440" tIns="45720" rIns="91440" bIns="45720" rtlCol="0" anchor="t">
            <a:normAutofit fontScale="77500" lnSpcReduction="20000"/>
          </a:bodyPr>
          <a:lstStyle/>
          <a:p>
            <a:pPr algn="just" defTabSz="914400">
              <a:lnSpc>
                <a:spcPct val="120000"/>
              </a:lnSpc>
              <a:spcBef>
                <a:spcPts val="500"/>
              </a:spcBef>
              <a:spcAft>
                <a:spcPts val="600"/>
              </a:spcAft>
              <a:buClr>
                <a:schemeClr val="accent6"/>
              </a:buClr>
              <a:buSzPct val="90000"/>
              <a:defRPr sz="1800"/>
            </a:pPr>
            <a:r>
              <a:rPr lang="en-US" sz="2100" dirty="0" err="1"/>
              <a:t>Магістерська</a:t>
            </a:r>
            <a:r>
              <a:rPr lang="en-US" sz="2100" dirty="0"/>
              <a:t> </a:t>
            </a:r>
            <a:r>
              <a:rPr lang="en-US" sz="2100" dirty="0" err="1"/>
              <a:t>робота</a:t>
            </a:r>
            <a:r>
              <a:rPr lang="en-US" sz="2100" dirty="0"/>
              <a:t> </a:t>
            </a:r>
            <a:r>
              <a:rPr lang="en-US" sz="2100" dirty="0" err="1"/>
              <a:t>присвячена</a:t>
            </a:r>
            <a:r>
              <a:rPr lang="en-US" sz="2100" dirty="0"/>
              <a:t> </a:t>
            </a:r>
            <a:r>
              <a:rPr lang="en-US" sz="2100" dirty="0" err="1"/>
              <a:t>дослідженню</a:t>
            </a:r>
            <a:r>
              <a:rPr lang="en-US" sz="2100" dirty="0"/>
              <a:t> </a:t>
            </a:r>
            <a:r>
              <a:rPr lang="en-US" sz="2100" dirty="0" err="1"/>
              <a:t>ефективності</a:t>
            </a:r>
            <a:r>
              <a:rPr lang="en-US" sz="2100" dirty="0"/>
              <a:t> </a:t>
            </a:r>
            <a:r>
              <a:rPr lang="en-US" sz="2100" dirty="0" err="1"/>
              <a:t>плагінів</a:t>
            </a:r>
            <a:r>
              <a:rPr lang="en-US" sz="2100" dirty="0"/>
              <a:t> </a:t>
            </a:r>
            <a:r>
              <a:rPr lang="en-US" sz="2100" dirty="0" err="1"/>
              <a:t>безпеки</a:t>
            </a:r>
            <a:r>
              <a:rPr lang="en-US" sz="2100" dirty="0"/>
              <a:t> WordPress </a:t>
            </a:r>
            <a:r>
              <a:rPr lang="en-US" sz="2100" dirty="0" err="1"/>
              <a:t>у</a:t>
            </a:r>
            <a:r>
              <a:rPr lang="en-US" sz="2100" dirty="0"/>
              <a:t> </a:t>
            </a:r>
            <a:r>
              <a:rPr lang="en-US" sz="2100" dirty="0" err="1"/>
              <a:t>виявленні</a:t>
            </a:r>
            <a:r>
              <a:rPr lang="en-US" sz="2100" dirty="0"/>
              <a:t> </a:t>
            </a:r>
            <a:r>
              <a:rPr lang="en-US" sz="2100" dirty="0" err="1"/>
              <a:t>реальних</a:t>
            </a:r>
            <a:r>
              <a:rPr lang="en-US" sz="2100" dirty="0"/>
              <a:t> </a:t>
            </a:r>
            <a:r>
              <a:rPr lang="en-US" sz="2100" dirty="0" err="1"/>
              <a:t>загроз</a:t>
            </a:r>
            <a:r>
              <a:rPr lang="en-US" sz="2100" dirty="0"/>
              <a:t> </a:t>
            </a:r>
            <a:r>
              <a:rPr lang="en-US" sz="2100" dirty="0" err="1"/>
              <a:t>для</a:t>
            </a:r>
            <a:r>
              <a:rPr lang="en-US" sz="2100" dirty="0"/>
              <a:t> </a:t>
            </a:r>
            <a:r>
              <a:rPr lang="en-US" sz="2100" dirty="0" err="1"/>
              <a:t>веб‑рішень</a:t>
            </a:r>
            <a:r>
              <a:rPr lang="en-US" sz="2100" dirty="0"/>
              <a:t>, </a:t>
            </a:r>
            <a:r>
              <a:rPr lang="en-US" sz="2100" dirty="0" err="1"/>
              <a:t>зокрема</a:t>
            </a:r>
            <a:r>
              <a:rPr lang="en-US" sz="2100" dirty="0"/>
              <a:t> </a:t>
            </a:r>
            <a:r>
              <a:rPr lang="en-US" sz="2100" dirty="0" err="1"/>
              <a:t>сайтів</a:t>
            </a:r>
            <a:r>
              <a:rPr lang="en-US" sz="2100" dirty="0"/>
              <a:t> </a:t>
            </a:r>
            <a:r>
              <a:rPr lang="en-US" sz="2100" dirty="0" err="1"/>
              <a:t>електронної</a:t>
            </a:r>
            <a:r>
              <a:rPr lang="en-US" sz="2100" dirty="0"/>
              <a:t> </a:t>
            </a:r>
            <a:r>
              <a:rPr lang="en-US" sz="2100" dirty="0" err="1"/>
              <a:t>комерції</a:t>
            </a:r>
            <a:r>
              <a:rPr lang="en-US" sz="2100" dirty="0"/>
              <a:t> </a:t>
            </a:r>
            <a:r>
              <a:rPr lang="en-US" sz="2100" dirty="0" err="1"/>
              <a:t>на</a:t>
            </a:r>
            <a:r>
              <a:rPr lang="en-US" sz="2100" dirty="0"/>
              <a:t> </a:t>
            </a:r>
            <a:r>
              <a:rPr lang="en-US" sz="2100" dirty="0" err="1"/>
              <a:t>базі</a:t>
            </a:r>
            <a:r>
              <a:rPr lang="en-US" sz="2100" dirty="0"/>
              <a:t> WordPress </a:t>
            </a:r>
            <a:r>
              <a:rPr lang="en-US" sz="2100" dirty="0" err="1"/>
              <a:t>і</a:t>
            </a:r>
            <a:r>
              <a:rPr lang="en-US" sz="2100" dirty="0"/>
              <a:t> WooCommerce.</a:t>
            </a:r>
            <a:endParaRPr lang="uk-UA" sz="2100" dirty="0"/>
          </a:p>
          <a:p>
            <a:pPr algn="just" defTabSz="914400">
              <a:lnSpc>
                <a:spcPct val="120000"/>
              </a:lnSpc>
              <a:spcBef>
                <a:spcPts val="500"/>
              </a:spcBef>
              <a:spcAft>
                <a:spcPts val="600"/>
              </a:spcAft>
              <a:buClr>
                <a:schemeClr val="accent6"/>
              </a:buClr>
              <a:buSzPct val="90000"/>
              <a:defRPr sz="1800"/>
            </a:pPr>
            <a:r>
              <a:rPr lang="en-US" sz="2100" dirty="0" err="1"/>
              <a:t>Актуальність</a:t>
            </a:r>
            <a:r>
              <a:rPr lang="en-US" sz="2100" dirty="0"/>
              <a:t> </a:t>
            </a:r>
            <a:r>
              <a:rPr lang="en-US" sz="2100" dirty="0" err="1"/>
              <a:t>теми</a:t>
            </a:r>
            <a:r>
              <a:rPr lang="en-US" sz="2100" dirty="0"/>
              <a:t> </a:t>
            </a:r>
            <a:r>
              <a:rPr lang="en-US" sz="2100" dirty="0" err="1"/>
              <a:t>зумовлена</a:t>
            </a:r>
            <a:r>
              <a:rPr lang="en-US" sz="2100" dirty="0"/>
              <a:t> </a:t>
            </a:r>
            <a:r>
              <a:rPr lang="en-US" sz="2100" dirty="0" err="1"/>
              <a:t>високою</a:t>
            </a:r>
            <a:r>
              <a:rPr lang="en-US" sz="2100" dirty="0"/>
              <a:t> </a:t>
            </a:r>
            <a:r>
              <a:rPr lang="en-US" sz="2100" dirty="0" err="1"/>
              <a:t>популярністю</a:t>
            </a:r>
            <a:r>
              <a:rPr lang="en-US" sz="2100" dirty="0"/>
              <a:t> WordPress </a:t>
            </a:r>
            <a:r>
              <a:rPr lang="en-US" sz="2100" dirty="0" err="1"/>
              <a:t>як</a:t>
            </a:r>
            <a:r>
              <a:rPr lang="en-US" sz="2100" dirty="0"/>
              <a:t> CMS </a:t>
            </a:r>
            <a:r>
              <a:rPr lang="en-US" sz="2100" dirty="0" err="1"/>
              <a:t>та</a:t>
            </a:r>
            <a:r>
              <a:rPr lang="en-US" sz="2100" dirty="0"/>
              <a:t> </a:t>
            </a:r>
            <a:r>
              <a:rPr lang="en-US" sz="2100" dirty="0" err="1"/>
              <a:t>великою</a:t>
            </a:r>
            <a:r>
              <a:rPr lang="en-US" sz="2100" dirty="0"/>
              <a:t> </a:t>
            </a:r>
            <a:r>
              <a:rPr lang="en-US" sz="2100" dirty="0" err="1"/>
              <a:t>кількістю</a:t>
            </a:r>
            <a:r>
              <a:rPr lang="en-US" sz="2100" dirty="0"/>
              <a:t> </a:t>
            </a:r>
            <a:r>
              <a:rPr lang="en-US" sz="2100" dirty="0" err="1"/>
              <a:t>інцидентів</a:t>
            </a:r>
            <a:r>
              <a:rPr lang="en-US" sz="2100" dirty="0"/>
              <a:t>, </a:t>
            </a:r>
            <a:r>
              <a:rPr lang="en-US" sz="2100" dirty="0" err="1"/>
              <a:t>пов’язаних</a:t>
            </a:r>
            <a:r>
              <a:rPr lang="en-US" sz="2100" dirty="0"/>
              <a:t> </a:t>
            </a:r>
            <a:r>
              <a:rPr lang="en-US" sz="2100" dirty="0" err="1"/>
              <a:t>із</a:t>
            </a:r>
            <a:r>
              <a:rPr lang="en-US" sz="2100" dirty="0"/>
              <a:t> </a:t>
            </a:r>
            <a:r>
              <a:rPr lang="en-US" sz="2100" dirty="0" err="1"/>
              <a:t>компрометацією</a:t>
            </a:r>
            <a:r>
              <a:rPr lang="en-US" sz="2100" dirty="0"/>
              <a:t> </a:t>
            </a:r>
            <a:r>
              <a:rPr lang="en-US" sz="2100" dirty="0" err="1"/>
              <a:t>сайтів</a:t>
            </a:r>
            <a:r>
              <a:rPr lang="en-US" sz="2100" dirty="0"/>
              <a:t> </a:t>
            </a:r>
            <a:r>
              <a:rPr lang="en-US" sz="2100" dirty="0" err="1"/>
              <a:t>через</a:t>
            </a:r>
            <a:r>
              <a:rPr lang="en-US" sz="2100" dirty="0"/>
              <a:t> </a:t>
            </a:r>
            <a:r>
              <a:rPr lang="en-US" sz="2100" dirty="0" err="1"/>
              <a:t>вразливі</a:t>
            </a:r>
            <a:r>
              <a:rPr lang="en-US" sz="2100" dirty="0"/>
              <a:t> </a:t>
            </a:r>
            <a:r>
              <a:rPr lang="en-US" sz="2100" dirty="0" err="1"/>
              <a:t>плагіни</a:t>
            </a:r>
            <a:r>
              <a:rPr lang="en-US" sz="2100" dirty="0"/>
              <a:t>, </a:t>
            </a:r>
            <a:r>
              <a:rPr lang="en-US" sz="2100" dirty="0" err="1"/>
              <a:t>слабкі</a:t>
            </a:r>
            <a:r>
              <a:rPr lang="en-US" sz="2100" dirty="0"/>
              <a:t> </a:t>
            </a:r>
            <a:r>
              <a:rPr lang="en-US" sz="2100" dirty="0" err="1"/>
              <a:t>налаштування</a:t>
            </a:r>
            <a:r>
              <a:rPr lang="en-US" sz="2100" dirty="0"/>
              <a:t> </a:t>
            </a:r>
            <a:r>
              <a:rPr lang="en-US" sz="2100" dirty="0" err="1"/>
              <a:t>або</a:t>
            </a:r>
            <a:r>
              <a:rPr lang="en-US" sz="2100" dirty="0"/>
              <a:t> </a:t>
            </a:r>
            <a:r>
              <a:rPr lang="en-US" sz="2100" dirty="0" err="1"/>
              <a:t>відсутність</a:t>
            </a:r>
            <a:r>
              <a:rPr lang="en-US" sz="2100" dirty="0"/>
              <a:t> </a:t>
            </a:r>
            <a:r>
              <a:rPr lang="en-US" sz="2100" dirty="0" err="1"/>
              <a:t>моніторингу</a:t>
            </a:r>
            <a:r>
              <a:rPr lang="uk-UA" sz="2100" dirty="0"/>
              <a:t>.</a:t>
            </a:r>
          </a:p>
          <a:p>
            <a:pPr algn="just" defTabSz="914400">
              <a:lnSpc>
                <a:spcPct val="120000"/>
              </a:lnSpc>
              <a:spcBef>
                <a:spcPts val="500"/>
              </a:spcBef>
              <a:spcAft>
                <a:spcPts val="600"/>
              </a:spcAft>
              <a:buClr>
                <a:schemeClr val="accent6"/>
              </a:buClr>
              <a:buSzPct val="90000"/>
              <a:defRPr sz="1800"/>
            </a:pPr>
            <a:r>
              <a:rPr lang="ru-RU" sz="2100" dirty="0"/>
              <a:t>Для </a:t>
            </a:r>
            <a:r>
              <a:rPr lang="ru-RU" sz="2100" dirty="0" err="1"/>
              <a:t>бізнесу</a:t>
            </a:r>
            <a:r>
              <a:rPr lang="ru-RU" sz="2100" dirty="0"/>
              <a:t> критично </a:t>
            </a:r>
            <a:r>
              <a:rPr lang="ru-RU" sz="2100" dirty="0" err="1"/>
              <a:t>важливими</a:t>
            </a:r>
            <a:r>
              <a:rPr lang="ru-RU" sz="2100" dirty="0"/>
              <a:t> </a:t>
            </a:r>
            <a:r>
              <a:rPr lang="ru-RU" sz="2100" dirty="0" err="1"/>
              <a:t>є</a:t>
            </a:r>
            <a:r>
              <a:rPr lang="ru-RU" sz="2100" dirty="0"/>
              <a:t> </a:t>
            </a:r>
            <a:r>
              <a:rPr lang="ru-RU" sz="2100" dirty="0" err="1"/>
              <a:t>збереження</a:t>
            </a:r>
            <a:r>
              <a:rPr lang="ru-RU" sz="2100" dirty="0"/>
              <a:t> </a:t>
            </a:r>
            <a:r>
              <a:rPr lang="ru-RU" sz="2100" dirty="0" err="1"/>
              <a:t>даних</a:t>
            </a:r>
            <a:r>
              <a:rPr lang="ru-RU" sz="2100" dirty="0"/>
              <a:t> </a:t>
            </a:r>
            <a:r>
              <a:rPr lang="ru-RU" sz="2100" dirty="0" err="1"/>
              <a:t>користувачів</a:t>
            </a:r>
            <a:r>
              <a:rPr lang="ru-RU" sz="2100" dirty="0"/>
              <a:t>, </a:t>
            </a:r>
            <a:r>
              <a:rPr lang="ru-RU" sz="2100" dirty="0" err="1"/>
              <a:t>стабільність</a:t>
            </a:r>
            <a:r>
              <a:rPr lang="ru-RU" sz="2100" dirty="0"/>
              <a:t> </a:t>
            </a:r>
            <a:r>
              <a:rPr lang="ru-RU" sz="2100" dirty="0" err="1"/>
              <a:t>роботи</a:t>
            </a:r>
            <a:r>
              <a:rPr lang="ru-RU" sz="2100" dirty="0"/>
              <a:t> </a:t>
            </a:r>
            <a:r>
              <a:rPr lang="ru-RU" sz="2100" dirty="0" err="1"/>
              <a:t>сервісу</a:t>
            </a:r>
            <a:r>
              <a:rPr lang="ru-RU" sz="2100" dirty="0"/>
              <a:t> та </a:t>
            </a:r>
            <a:r>
              <a:rPr lang="ru-RU" sz="2100" dirty="0" err="1"/>
              <a:t>мінімізація</a:t>
            </a:r>
            <a:r>
              <a:rPr lang="ru-RU" sz="2100" dirty="0"/>
              <a:t> </a:t>
            </a:r>
            <a:r>
              <a:rPr lang="ru-RU" sz="2100" dirty="0" err="1"/>
              <a:t>фінансових</a:t>
            </a:r>
            <a:r>
              <a:rPr lang="ru-RU" sz="2100" dirty="0"/>
              <a:t> і </a:t>
            </a:r>
            <a:r>
              <a:rPr lang="ru-RU" sz="2100" dirty="0" err="1"/>
              <a:t>репутаційних</a:t>
            </a:r>
            <a:r>
              <a:rPr lang="ru-RU" sz="2100" dirty="0"/>
              <a:t> </a:t>
            </a:r>
            <a:r>
              <a:rPr lang="ru-RU" sz="2100" dirty="0" err="1"/>
              <a:t>втрат</a:t>
            </a:r>
            <a:r>
              <a:rPr lang="ru-RU" sz="2100" dirty="0"/>
              <a:t>. На ринку представлено </a:t>
            </a:r>
            <a:r>
              <a:rPr lang="ru-RU" sz="2100" dirty="0" err="1"/>
              <a:t>понад</a:t>
            </a:r>
            <a:r>
              <a:rPr lang="ru-RU" sz="2100" dirty="0"/>
              <a:t> 60 </a:t>
            </a:r>
            <a:r>
              <a:rPr lang="ru-RU" sz="2100" dirty="0" err="1"/>
              <a:t>плагінів</a:t>
            </a:r>
            <a:r>
              <a:rPr lang="ru-RU" sz="2100" dirty="0"/>
              <a:t> </a:t>
            </a:r>
            <a:r>
              <a:rPr lang="ru-RU" sz="2100" dirty="0" err="1"/>
              <a:t>безпеки</a:t>
            </a:r>
            <a:r>
              <a:rPr lang="ru-RU" sz="2100" dirty="0"/>
              <a:t>, </a:t>
            </a:r>
            <a:r>
              <a:rPr lang="ru-RU" sz="2100" dirty="0" err="1"/>
              <a:t>проте</a:t>
            </a:r>
            <a:r>
              <a:rPr lang="ru-RU" sz="2100" dirty="0"/>
              <a:t> </a:t>
            </a:r>
            <a:r>
              <a:rPr lang="ru-RU" sz="2100" dirty="0" err="1"/>
              <a:t>відсутня</a:t>
            </a:r>
            <a:r>
              <a:rPr lang="ru-RU" sz="2100" dirty="0"/>
              <a:t> </a:t>
            </a:r>
            <a:r>
              <a:rPr lang="ru-RU" sz="2100" dirty="0" err="1"/>
              <a:t>єдина</a:t>
            </a:r>
            <a:r>
              <a:rPr lang="ru-RU" sz="2100" dirty="0"/>
              <a:t> методика </a:t>
            </a:r>
            <a:r>
              <a:rPr lang="ru-RU" sz="2100" dirty="0" err="1"/>
              <a:t>їх</a:t>
            </a:r>
            <a:r>
              <a:rPr lang="ru-RU" sz="2100" dirty="0"/>
              <a:t> </a:t>
            </a:r>
            <a:r>
              <a:rPr lang="ru-RU" sz="2100" dirty="0" err="1"/>
              <a:t>об'єктивного</a:t>
            </a:r>
            <a:r>
              <a:rPr lang="ru-RU" sz="2100" dirty="0"/>
              <a:t> </a:t>
            </a:r>
            <a:r>
              <a:rPr lang="ru-RU" sz="2100" dirty="0" err="1"/>
              <a:t>порівняння</a:t>
            </a:r>
            <a:r>
              <a:rPr lang="ru-RU" sz="2100" dirty="0"/>
              <a:t>. </a:t>
            </a:r>
            <a:r>
              <a:rPr lang="ru-RU" sz="2100" dirty="0" err="1"/>
              <a:t>Власники</a:t>
            </a:r>
            <a:r>
              <a:rPr lang="ru-RU" sz="2100" dirty="0"/>
              <a:t> </a:t>
            </a:r>
            <a:r>
              <a:rPr lang="ru-RU" sz="2100" dirty="0" err="1"/>
              <a:t>сайтів</a:t>
            </a:r>
            <a:r>
              <a:rPr lang="ru-RU" sz="2100" dirty="0"/>
              <a:t> </a:t>
            </a:r>
            <a:r>
              <a:rPr lang="ru-RU" sz="2100" dirty="0" err="1"/>
              <a:t>обирають</a:t>
            </a:r>
            <a:r>
              <a:rPr lang="ru-RU" sz="2100" dirty="0"/>
              <a:t> </a:t>
            </a:r>
            <a:r>
              <a:rPr lang="ru-RU" sz="2100" dirty="0" err="1"/>
              <a:t>захист</a:t>
            </a:r>
            <a:r>
              <a:rPr lang="ru-RU" sz="2100" dirty="0"/>
              <a:t> </a:t>
            </a:r>
            <a:r>
              <a:rPr lang="ru-RU" sz="2100" dirty="0" err="1"/>
              <a:t>переважно</a:t>
            </a:r>
            <a:r>
              <a:rPr lang="ru-RU" sz="2100" dirty="0"/>
              <a:t> за рейтингами та </a:t>
            </a:r>
            <a:r>
              <a:rPr lang="ru-RU" sz="2100" dirty="0" err="1"/>
              <a:t>відгуками</a:t>
            </a:r>
            <a:r>
              <a:rPr lang="ru-RU" sz="2100" dirty="0"/>
              <a:t>, не </a:t>
            </a:r>
            <a:r>
              <a:rPr lang="ru-RU" sz="2100" dirty="0" err="1"/>
              <a:t>маючи</a:t>
            </a:r>
            <a:r>
              <a:rPr lang="ru-RU" sz="2100" dirty="0"/>
              <a:t> </a:t>
            </a:r>
            <a:r>
              <a:rPr lang="ru-RU" sz="2100" dirty="0" err="1"/>
              <a:t>об'єктивних</a:t>
            </a:r>
            <a:r>
              <a:rPr lang="ru-RU" sz="2100" dirty="0"/>
              <a:t> </a:t>
            </a:r>
            <a:r>
              <a:rPr lang="ru-RU" sz="2100" dirty="0" err="1"/>
              <a:t>даних</a:t>
            </a:r>
            <a:r>
              <a:rPr lang="ru-RU" sz="2100" dirty="0"/>
              <a:t> про </a:t>
            </a:r>
            <a:r>
              <a:rPr lang="ru-RU" sz="2100" dirty="0" err="1"/>
              <a:t>реальну</a:t>
            </a:r>
            <a:r>
              <a:rPr lang="ru-RU" sz="2100" dirty="0"/>
              <a:t> </a:t>
            </a:r>
            <a:r>
              <a:rPr lang="ru-RU" sz="2100" dirty="0" err="1"/>
              <a:t>ефективність</a:t>
            </a:r>
            <a:r>
              <a:rPr lang="ru-RU" sz="2100" dirty="0"/>
              <a:t> кожного </a:t>
            </a:r>
            <a:r>
              <a:rPr lang="ru-RU" sz="2100" dirty="0" err="1"/>
              <a:t>інструменту</a:t>
            </a:r>
            <a:r>
              <a:rPr lang="ru-RU" sz="2100" dirty="0"/>
              <a:t> в </a:t>
            </a:r>
            <a:r>
              <a:rPr lang="ru-RU" sz="2100" dirty="0" err="1"/>
              <a:t>умовах</a:t>
            </a:r>
            <a:r>
              <a:rPr lang="ru-RU" sz="2100" dirty="0"/>
              <a:t> </a:t>
            </a:r>
            <a:r>
              <a:rPr lang="ru-RU" sz="2100" dirty="0" err="1"/>
              <a:t>справжніх</a:t>
            </a:r>
            <a:r>
              <a:rPr lang="ru-RU" sz="2100" dirty="0"/>
              <a:t> </a:t>
            </a:r>
            <a:r>
              <a:rPr lang="ru-RU" sz="2100" dirty="0" err="1"/>
              <a:t>загроз</a:t>
            </a:r>
            <a:r>
              <a:rPr lang="ru-RU" sz="2100" dirty="0"/>
              <a:t>.</a:t>
            </a:r>
            <a:endParaRPr lang="en-US" sz="2100" dirty="0"/>
          </a:p>
        </p:txBody>
      </p:sp>
      <p:sp>
        <p:nvSpPr>
          <p:cNvPr id="5" name="Номер слайда 4">
            <a:extLst>
              <a:ext uri="{FF2B5EF4-FFF2-40B4-BE49-F238E27FC236}">
                <a16:creationId xmlns:a16="http://schemas.microsoft.com/office/drawing/2014/main" id="{8A077249-C6F4-9F09-9321-29CEE0E167CD}"/>
              </a:ext>
            </a:extLst>
          </p:cNvPr>
          <p:cNvSpPr>
            <a:spLocks noGrp="1"/>
          </p:cNvSpPr>
          <p:nvPr>
            <p:ph type="sldNum" sz="quarter" idx="12"/>
          </p:nvPr>
        </p:nvSpPr>
        <p:spPr/>
        <p:txBody>
          <a:bodyPr/>
          <a:lstStyle/>
          <a:p>
            <a:fld id="{C1FF6DA9-008F-8B48-92A6-B652298478BF}"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6" name="Rectangle 25">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8" name="Rectangle 27">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130" y="0"/>
            <a:ext cx="71925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 name="Title 1"/>
          <p:cNvSpPr>
            <a:spLocks noGrp="1"/>
          </p:cNvSpPr>
          <p:nvPr>
            <p:ph type="title"/>
          </p:nvPr>
        </p:nvSpPr>
        <p:spPr>
          <a:xfrm>
            <a:off x="1026001" y="290579"/>
            <a:ext cx="6918165" cy="762022"/>
          </a:xfrm>
        </p:spPr>
        <p:txBody>
          <a:bodyPr vert="horz" lIns="91440" tIns="45720" rIns="91440" bIns="45720" rtlCol="0" anchor="b">
            <a:normAutofit/>
          </a:bodyPr>
          <a:lstStyle/>
          <a:p>
            <a:pPr algn="l" defTabSz="914400">
              <a:defRPr sz="3400" b="1"/>
            </a:pPr>
            <a:r>
              <a:rPr lang="en-US" sz="3500" dirty="0" err="1"/>
              <a:t>Мета</a:t>
            </a:r>
            <a:r>
              <a:rPr lang="en-US" sz="3500" dirty="0"/>
              <a:t>, </a:t>
            </a:r>
            <a:r>
              <a:rPr lang="en-US" sz="3500" dirty="0" err="1"/>
              <a:t>об’єкт</a:t>
            </a:r>
            <a:r>
              <a:rPr lang="en-US" sz="3500" dirty="0"/>
              <a:t> </a:t>
            </a:r>
            <a:r>
              <a:rPr lang="en-US" sz="3500" dirty="0" err="1"/>
              <a:t>і</a:t>
            </a:r>
            <a:r>
              <a:rPr lang="en-US" sz="3500" dirty="0"/>
              <a:t> </a:t>
            </a:r>
            <a:r>
              <a:rPr lang="en-US" sz="3500" dirty="0" err="1"/>
              <a:t>предмет</a:t>
            </a:r>
            <a:r>
              <a:rPr lang="en-US" sz="3500" dirty="0"/>
              <a:t> </a:t>
            </a:r>
            <a:r>
              <a:rPr lang="en-US" sz="3500" dirty="0" err="1"/>
              <a:t>роботи</a:t>
            </a:r>
            <a:endParaRPr lang="en-US" sz="3500" dirty="0"/>
          </a:p>
        </p:txBody>
      </p:sp>
      <p:sp>
        <p:nvSpPr>
          <p:cNvPr id="3" name="TextBox 2"/>
          <p:cNvSpPr txBox="1"/>
          <p:nvPr/>
        </p:nvSpPr>
        <p:spPr>
          <a:xfrm>
            <a:off x="1026001" y="1211264"/>
            <a:ext cx="6736830" cy="4115358"/>
          </a:xfrm>
          <a:prstGeom prst="rect">
            <a:avLst/>
          </a:prstGeom>
        </p:spPr>
        <p:txBody>
          <a:bodyPr vert="horz" lIns="91440" tIns="45720" rIns="91440" bIns="45720" rtlCol="0" anchor="ctr">
            <a:normAutofit fontScale="92500" lnSpcReduction="20000"/>
          </a:bodyPr>
          <a:lstStyle/>
          <a:p>
            <a:pPr algn="just" defTabSz="914400">
              <a:lnSpc>
                <a:spcPct val="120000"/>
              </a:lnSpc>
              <a:spcBef>
                <a:spcPts val="500"/>
              </a:spcBef>
              <a:spcAft>
                <a:spcPts val="600"/>
              </a:spcAft>
              <a:buClr>
                <a:schemeClr val="accent6"/>
              </a:buClr>
              <a:buSzPct val="90000"/>
              <a:defRPr sz="1800"/>
            </a:pPr>
            <a:r>
              <a:rPr lang="en-US" sz="2100" b="1" dirty="0" err="1">
                <a:solidFill>
                  <a:schemeClr val="accent6"/>
                </a:solidFill>
              </a:rPr>
              <a:t>Метою</a:t>
            </a:r>
            <a:r>
              <a:rPr lang="en-US" sz="2100" dirty="0"/>
              <a:t> </a:t>
            </a:r>
            <a:r>
              <a:rPr lang="en-US" sz="2100" dirty="0" err="1"/>
              <a:t>дослідження</a:t>
            </a:r>
            <a:r>
              <a:rPr lang="en-US" sz="2100" dirty="0"/>
              <a:t> </a:t>
            </a:r>
            <a:r>
              <a:rPr lang="en-US" sz="2100" dirty="0" err="1"/>
              <a:t>є</a:t>
            </a:r>
            <a:r>
              <a:rPr lang="en-US" sz="2100" dirty="0"/>
              <a:t> </a:t>
            </a:r>
            <a:r>
              <a:rPr lang="en-US" sz="2100" dirty="0" err="1"/>
              <a:t>визначення</a:t>
            </a:r>
            <a:r>
              <a:rPr lang="en-US" sz="2100" dirty="0"/>
              <a:t> </a:t>
            </a:r>
            <a:r>
              <a:rPr lang="en-US" sz="2100" dirty="0" err="1"/>
              <a:t>рівня</a:t>
            </a:r>
            <a:r>
              <a:rPr lang="en-US" sz="2100" dirty="0"/>
              <a:t> </a:t>
            </a:r>
            <a:r>
              <a:rPr lang="en-US" sz="2100" dirty="0" err="1"/>
              <a:t>ефективності</a:t>
            </a:r>
            <a:r>
              <a:rPr lang="en-US" sz="2100" dirty="0"/>
              <a:t> </a:t>
            </a:r>
            <a:r>
              <a:rPr lang="en-US" sz="2100" dirty="0" err="1"/>
              <a:t>сучасних</a:t>
            </a:r>
            <a:r>
              <a:rPr lang="en-US" sz="2100" dirty="0"/>
              <a:t> </a:t>
            </a:r>
            <a:r>
              <a:rPr lang="en-US" sz="2100" dirty="0" err="1"/>
              <a:t>плагінів</a:t>
            </a:r>
            <a:r>
              <a:rPr lang="en-US" sz="2100" dirty="0"/>
              <a:t> </a:t>
            </a:r>
            <a:r>
              <a:rPr lang="en-US" sz="2100" dirty="0" err="1"/>
              <a:t>безпеки</a:t>
            </a:r>
            <a:r>
              <a:rPr lang="en-US" sz="2100" dirty="0"/>
              <a:t> WordPress </a:t>
            </a:r>
            <a:r>
              <a:rPr lang="en-US" sz="2100" dirty="0" err="1"/>
              <a:t>у</a:t>
            </a:r>
            <a:r>
              <a:rPr lang="en-US" sz="2100" dirty="0"/>
              <a:t> </a:t>
            </a:r>
            <a:r>
              <a:rPr lang="en-US" sz="2100" dirty="0" err="1"/>
              <a:t>задачах</a:t>
            </a:r>
            <a:r>
              <a:rPr lang="en-US" sz="2100" dirty="0"/>
              <a:t> </a:t>
            </a:r>
            <a:r>
              <a:rPr lang="en-US" sz="2100" dirty="0" err="1"/>
              <a:t>виявлення</a:t>
            </a:r>
            <a:r>
              <a:rPr lang="en-US" sz="2100" dirty="0"/>
              <a:t> </a:t>
            </a:r>
            <a:r>
              <a:rPr lang="en-US" sz="2100" dirty="0" err="1"/>
              <a:t>ризиків</a:t>
            </a:r>
            <a:r>
              <a:rPr lang="en-US" sz="2100" dirty="0"/>
              <a:t> </a:t>
            </a:r>
            <a:r>
              <a:rPr lang="en-US" sz="2100" dirty="0" err="1"/>
              <a:t>та</a:t>
            </a:r>
            <a:r>
              <a:rPr lang="en-US" sz="2100" dirty="0"/>
              <a:t> </a:t>
            </a:r>
            <a:r>
              <a:rPr lang="en-US" sz="2100" dirty="0" err="1"/>
              <a:t>загроз</a:t>
            </a:r>
            <a:r>
              <a:rPr lang="en-US" sz="2100" dirty="0"/>
              <a:t>, </a:t>
            </a:r>
            <a:r>
              <a:rPr lang="en-US" sz="2100" dirty="0" err="1"/>
              <a:t>а</a:t>
            </a:r>
            <a:r>
              <a:rPr lang="en-US" sz="2100" dirty="0"/>
              <a:t> </a:t>
            </a:r>
            <a:r>
              <a:rPr lang="en-US" sz="2100" dirty="0" err="1"/>
              <a:t>також</a:t>
            </a:r>
            <a:r>
              <a:rPr lang="en-US" sz="2100" dirty="0"/>
              <a:t> </a:t>
            </a:r>
            <a:r>
              <a:rPr lang="en-US" sz="2100" dirty="0" err="1"/>
              <a:t>оцінка</a:t>
            </a:r>
            <a:r>
              <a:rPr lang="en-US" sz="2100" dirty="0"/>
              <a:t> </a:t>
            </a:r>
            <a:r>
              <a:rPr lang="en-US" sz="2100" dirty="0" err="1"/>
              <a:t>їхнього</a:t>
            </a:r>
            <a:r>
              <a:rPr lang="en-US" sz="2100" dirty="0"/>
              <a:t> </a:t>
            </a:r>
            <a:r>
              <a:rPr lang="en-US" sz="2100" dirty="0" err="1"/>
              <a:t>впливу</a:t>
            </a:r>
            <a:r>
              <a:rPr lang="en-US" sz="2100" dirty="0"/>
              <a:t> </a:t>
            </a:r>
            <a:r>
              <a:rPr lang="en-US" sz="2100" dirty="0" err="1"/>
              <a:t>на</a:t>
            </a:r>
            <a:r>
              <a:rPr lang="en-US" sz="2100" dirty="0"/>
              <a:t> </a:t>
            </a:r>
            <a:r>
              <a:rPr lang="en-US" sz="2100" dirty="0" err="1"/>
              <a:t>продуктивність</a:t>
            </a:r>
            <a:r>
              <a:rPr lang="en-US" sz="2100" dirty="0"/>
              <a:t> </a:t>
            </a:r>
            <a:r>
              <a:rPr lang="en-US" sz="2100" dirty="0" err="1"/>
              <a:t>веб‑системи</a:t>
            </a:r>
            <a:r>
              <a:rPr lang="en-US" sz="2100" dirty="0"/>
              <a:t>. </a:t>
            </a:r>
            <a:endParaRPr lang="uk-UA" sz="2100" dirty="0"/>
          </a:p>
          <a:p>
            <a:pPr algn="just" defTabSz="914400">
              <a:lnSpc>
                <a:spcPct val="120000"/>
              </a:lnSpc>
              <a:spcBef>
                <a:spcPts val="500"/>
              </a:spcBef>
              <a:spcAft>
                <a:spcPts val="600"/>
              </a:spcAft>
              <a:buClr>
                <a:schemeClr val="accent6"/>
              </a:buClr>
              <a:buSzPct val="90000"/>
              <a:defRPr sz="1800"/>
            </a:pPr>
            <a:r>
              <a:rPr lang="en-US" sz="2100" b="1" dirty="0" err="1">
                <a:solidFill>
                  <a:schemeClr val="accent6"/>
                </a:solidFill>
              </a:rPr>
              <a:t>Об’єктом</a:t>
            </a:r>
            <a:r>
              <a:rPr lang="en-US" sz="2100" dirty="0"/>
              <a:t> </a:t>
            </a:r>
            <a:r>
              <a:rPr lang="en-US" sz="2100" dirty="0" err="1"/>
              <a:t>виступають</a:t>
            </a:r>
            <a:r>
              <a:rPr lang="en-US" sz="2100" dirty="0"/>
              <a:t> </a:t>
            </a:r>
            <a:r>
              <a:rPr lang="en-US" sz="2100" dirty="0" err="1"/>
              <a:t>процеси</a:t>
            </a:r>
            <a:r>
              <a:rPr lang="en-US" sz="2100" dirty="0"/>
              <a:t> </a:t>
            </a:r>
            <a:r>
              <a:rPr lang="en-US" sz="2100" dirty="0" err="1"/>
              <a:t>виявлення</a:t>
            </a:r>
            <a:r>
              <a:rPr lang="en-US" sz="2100" dirty="0"/>
              <a:t> </a:t>
            </a:r>
            <a:r>
              <a:rPr lang="en-US" sz="2100" dirty="0" err="1"/>
              <a:t>та</a:t>
            </a:r>
            <a:r>
              <a:rPr lang="en-US" sz="2100" dirty="0"/>
              <a:t> </a:t>
            </a:r>
            <a:r>
              <a:rPr lang="en-US" sz="2100" dirty="0" err="1"/>
              <a:t>протидії</a:t>
            </a:r>
            <a:r>
              <a:rPr lang="en-US" sz="2100" dirty="0"/>
              <a:t> </a:t>
            </a:r>
            <a:r>
              <a:rPr lang="en-US" sz="2100" dirty="0" err="1"/>
              <a:t>загрозам</a:t>
            </a:r>
            <a:r>
              <a:rPr lang="en-US" sz="2100" dirty="0"/>
              <a:t> </a:t>
            </a:r>
            <a:r>
              <a:rPr lang="en-US" sz="2100" dirty="0" err="1"/>
              <a:t>у</a:t>
            </a:r>
            <a:r>
              <a:rPr lang="en-US" sz="2100" dirty="0"/>
              <a:t> </a:t>
            </a:r>
            <a:r>
              <a:rPr lang="en-US" sz="2100" dirty="0" err="1"/>
              <a:t>веб‑додатках</a:t>
            </a:r>
            <a:r>
              <a:rPr lang="en-US" sz="2100" dirty="0"/>
              <a:t> </a:t>
            </a:r>
            <a:r>
              <a:rPr lang="en-US" sz="2100" dirty="0" err="1"/>
              <a:t>на</a:t>
            </a:r>
            <a:r>
              <a:rPr lang="en-US" sz="2100" dirty="0"/>
              <a:t> </a:t>
            </a:r>
            <a:r>
              <a:rPr lang="en-US" sz="2100" dirty="0" err="1"/>
              <a:t>базі</a:t>
            </a:r>
            <a:r>
              <a:rPr lang="en-US" sz="2100" dirty="0"/>
              <a:t> WordPress. </a:t>
            </a:r>
            <a:endParaRPr lang="uk-UA" sz="2100" dirty="0"/>
          </a:p>
          <a:p>
            <a:pPr algn="just" defTabSz="914400">
              <a:lnSpc>
                <a:spcPct val="120000"/>
              </a:lnSpc>
              <a:spcBef>
                <a:spcPts val="500"/>
              </a:spcBef>
              <a:spcAft>
                <a:spcPts val="600"/>
              </a:spcAft>
              <a:buClr>
                <a:schemeClr val="accent6"/>
              </a:buClr>
              <a:buSzPct val="90000"/>
              <a:defRPr sz="1800"/>
            </a:pPr>
            <a:r>
              <a:rPr lang="en-US" sz="2100" b="1" dirty="0" err="1">
                <a:solidFill>
                  <a:schemeClr val="accent6"/>
                </a:solidFill>
              </a:rPr>
              <a:t>Предметом</a:t>
            </a:r>
            <a:r>
              <a:rPr lang="en-US" sz="2100" dirty="0"/>
              <a:t> </a:t>
            </a:r>
            <a:r>
              <a:rPr lang="en-US" sz="2100" dirty="0" err="1"/>
              <a:t>є</a:t>
            </a:r>
            <a:r>
              <a:rPr lang="en-US" sz="2100" dirty="0"/>
              <a:t> </a:t>
            </a:r>
            <a:r>
              <a:rPr lang="en-US" sz="2100" dirty="0" err="1"/>
              <a:t>програмні</a:t>
            </a:r>
            <a:r>
              <a:rPr lang="en-US" sz="2100" dirty="0"/>
              <a:t> </a:t>
            </a:r>
            <a:r>
              <a:rPr lang="en-US" sz="2100" dirty="0" err="1"/>
              <a:t>інструменти</a:t>
            </a:r>
            <a:r>
              <a:rPr lang="en-US" sz="2100" dirty="0"/>
              <a:t> </a:t>
            </a:r>
            <a:r>
              <a:rPr lang="en-US" sz="2100" dirty="0" err="1"/>
              <a:t>у</a:t>
            </a:r>
            <a:r>
              <a:rPr lang="en-US" sz="2100" dirty="0"/>
              <a:t> </a:t>
            </a:r>
            <a:r>
              <a:rPr lang="en-US" sz="2100" dirty="0" err="1"/>
              <a:t>вигляді</a:t>
            </a:r>
            <a:r>
              <a:rPr lang="en-US" sz="2100" dirty="0"/>
              <a:t> </a:t>
            </a:r>
            <a:r>
              <a:rPr lang="en-US" sz="2100" dirty="0" err="1"/>
              <a:t>плагінів</a:t>
            </a:r>
            <a:r>
              <a:rPr lang="en-US" sz="2100" dirty="0"/>
              <a:t> </a:t>
            </a:r>
            <a:r>
              <a:rPr lang="en-US" sz="2100" dirty="0" err="1"/>
              <a:t>безпеки</a:t>
            </a:r>
            <a:r>
              <a:rPr lang="en-US" sz="2100" dirty="0"/>
              <a:t>, </a:t>
            </a:r>
            <a:r>
              <a:rPr lang="en-US" sz="2100" dirty="0" err="1"/>
              <a:t>що</a:t>
            </a:r>
            <a:r>
              <a:rPr lang="en-US" sz="2100" dirty="0"/>
              <a:t> </a:t>
            </a:r>
            <a:r>
              <a:rPr lang="en-US" sz="2100" dirty="0" err="1"/>
              <a:t>реалізують</a:t>
            </a:r>
            <a:r>
              <a:rPr lang="en-US" sz="2100" dirty="0"/>
              <a:t> </a:t>
            </a:r>
            <a:r>
              <a:rPr lang="en-US" sz="2100" dirty="0" err="1"/>
              <a:t>сканування</a:t>
            </a:r>
            <a:r>
              <a:rPr lang="en-US" sz="2100" dirty="0"/>
              <a:t>, </a:t>
            </a:r>
            <a:r>
              <a:rPr lang="en-US" sz="2100" dirty="0" err="1"/>
              <a:t>моніторинг</a:t>
            </a:r>
            <a:r>
              <a:rPr lang="en-US" sz="2100" dirty="0"/>
              <a:t> </a:t>
            </a:r>
            <a:r>
              <a:rPr lang="en-US" sz="2100" dirty="0" err="1"/>
              <a:t>та</a:t>
            </a:r>
            <a:r>
              <a:rPr lang="en-US" sz="2100" dirty="0"/>
              <a:t>/</a:t>
            </a:r>
            <a:r>
              <a:rPr lang="en-US" sz="2100" dirty="0" err="1"/>
              <a:t>або</a:t>
            </a:r>
            <a:r>
              <a:rPr lang="en-US" sz="2100" dirty="0"/>
              <a:t> </a:t>
            </a:r>
            <a:r>
              <a:rPr lang="en-US" sz="2100" dirty="0" err="1"/>
              <a:t>механізми</a:t>
            </a:r>
            <a:r>
              <a:rPr lang="en-US" sz="2100" dirty="0"/>
              <a:t> </a:t>
            </a:r>
            <a:r>
              <a:rPr lang="en-US" sz="2100" dirty="0" err="1"/>
              <a:t>веб‑захисту</a:t>
            </a:r>
            <a:r>
              <a:rPr lang="en-US" sz="2100" dirty="0"/>
              <a:t>. </a:t>
            </a:r>
            <a:endParaRPr lang="uk-UA" sz="2100" dirty="0"/>
          </a:p>
          <a:p>
            <a:pPr algn="just" defTabSz="914400">
              <a:lnSpc>
                <a:spcPct val="120000"/>
              </a:lnSpc>
              <a:spcBef>
                <a:spcPts val="500"/>
              </a:spcBef>
              <a:spcAft>
                <a:spcPts val="600"/>
              </a:spcAft>
              <a:buClr>
                <a:schemeClr val="accent6"/>
              </a:buClr>
              <a:buSzPct val="90000"/>
              <a:defRPr sz="1800"/>
            </a:pPr>
            <a:r>
              <a:rPr lang="en-US" sz="2100" dirty="0" err="1"/>
              <a:t>Додатковою</a:t>
            </a:r>
            <a:r>
              <a:rPr lang="en-US" sz="2100" dirty="0"/>
              <a:t> </a:t>
            </a:r>
            <a:r>
              <a:rPr lang="en-US" sz="2100" dirty="0" err="1"/>
              <a:t>ціллю</a:t>
            </a:r>
            <a:r>
              <a:rPr lang="en-US" sz="2100" dirty="0"/>
              <a:t> </a:t>
            </a:r>
            <a:r>
              <a:rPr lang="en-US" sz="2100" dirty="0" err="1"/>
              <a:t>є</a:t>
            </a:r>
            <a:r>
              <a:rPr lang="en-US" sz="2100" dirty="0"/>
              <a:t> </a:t>
            </a:r>
            <a:r>
              <a:rPr lang="en-US" sz="2100" dirty="0" err="1"/>
              <a:t>формування</a:t>
            </a:r>
            <a:r>
              <a:rPr lang="en-US" sz="2100" dirty="0"/>
              <a:t> </a:t>
            </a:r>
            <a:r>
              <a:rPr lang="en-US" sz="2100" dirty="0" err="1"/>
              <a:t>практичних</a:t>
            </a:r>
            <a:r>
              <a:rPr lang="en-US" sz="2100" dirty="0"/>
              <a:t> </a:t>
            </a:r>
            <a:r>
              <a:rPr lang="en-US" sz="2100" dirty="0" err="1"/>
              <a:t>рекомендацій</a:t>
            </a:r>
            <a:r>
              <a:rPr lang="en-US" sz="2100" dirty="0"/>
              <a:t> </a:t>
            </a:r>
            <a:r>
              <a:rPr lang="en-US" sz="2100" dirty="0" err="1"/>
              <a:t>щодо</a:t>
            </a:r>
            <a:r>
              <a:rPr lang="en-US" sz="2100" dirty="0"/>
              <a:t> </a:t>
            </a:r>
            <a:r>
              <a:rPr lang="en-US" sz="2100" dirty="0" err="1"/>
              <a:t>вибору</a:t>
            </a:r>
            <a:r>
              <a:rPr lang="en-US" sz="2100" dirty="0"/>
              <a:t> </a:t>
            </a:r>
            <a:r>
              <a:rPr lang="en-US" sz="2100" dirty="0" err="1"/>
              <a:t>таких</a:t>
            </a:r>
            <a:r>
              <a:rPr lang="en-US" sz="2100" dirty="0"/>
              <a:t> </a:t>
            </a:r>
            <a:r>
              <a:rPr lang="en-US" sz="2100" dirty="0" err="1"/>
              <a:t>інструментів</a:t>
            </a:r>
            <a:r>
              <a:rPr lang="en-US" sz="2100" dirty="0"/>
              <a:t> </a:t>
            </a:r>
            <a:r>
              <a:rPr lang="en-US" sz="2100" dirty="0" err="1"/>
              <a:t>для</a:t>
            </a:r>
            <a:r>
              <a:rPr lang="en-US" sz="2100" dirty="0"/>
              <a:t> e‑commerce </a:t>
            </a:r>
            <a:r>
              <a:rPr lang="en-US" sz="2100" dirty="0" err="1"/>
              <a:t>проєктів</a:t>
            </a:r>
            <a:r>
              <a:rPr lang="en-US" dirty="0"/>
              <a:t>.</a:t>
            </a:r>
          </a:p>
        </p:txBody>
      </p:sp>
      <p:sp>
        <p:nvSpPr>
          <p:cNvPr id="5" name="Номер слайда 4">
            <a:extLst>
              <a:ext uri="{FF2B5EF4-FFF2-40B4-BE49-F238E27FC236}">
                <a16:creationId xmlns:a16="http://schemas.microsoft.com/office/drawing/2014/main" id="{9B28F8CA-E344-0936-843B-8A2792A5C9D2}"/>
              </a:ext>
            </a:extLst>
          </p:cNvPr>
          <p:cNvSpPr>
            <a:spLocks noGrp="1"/>
          </p:cNvSpPr>
          <p:nvPr>
            <p:ph type="sldNum" sz="quarter" idx="12"/>
          </p:nvPr>
        </p:nvSpPr>
        <p:spPr/>
        <p:txBody>
          <a:bodyPr/>
          <a:lstStyle/>
          <a:p>
            <a:fld id="{C1FF6DA9-008F-8B48-92A6-B652298478BF}"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750160" y="178738"/>
            <a:ext cx="6396429" cy="1261640"/>
          </a:xfrm>
        </p:spPr>
        <p:txBody>
          <a:bodyPr vert="horz" lIns="91440" tIns="45720" rIns="91440" bIns="45720" rtlCol="0" anchor="t">
            <a:normAutofit/>
          </a:bodyPr>
          <a:lstStyle/>
          <a:p>
            <a:pPr algn="l" defTabSz="914400">
              <a:defRPr sz="3400" b="1"/>
            </a:pPr>
            <a:r>
              <a:rPr lang="en-US" sz="3300" dirty="0" err="1"/>
              <a:t>Постановка</a:t>
            </a:r>
            <a:r>
              <a:rPr lang="en-US" sz="3300" dirty="0"/>
              <a:t> </a:t>
            </a:r>
            <a:r>
              <a:rPr lang="en-US" sz="3300" dirty="0" err="1"/>
              <a:t>задач</a:t>
            </a:r>
            <a:r>
              <a:rPr lang="uk-UA" sz="3300" dirty="0"/>
              <a:t>і</a:t>
            </a:r>
            <a:r>
              <a:rPr lang="en-US" sz="3300" dirty="0"/>
              <a:t> </a:t>
            </a:r>
            <a:r>
              <a:rPr lang="en-US" sz="3300" dirty="0" err="1"/>
              <a:t>та</a:t>
            </a:r>
            <a:r>
              <a:rPr lang="en-US" sz="3300" dirty="0"/>
              <a:t> </a:t>
            </a:r>
            <a:r>
              <a:rPr lang="en-US" sz="3300" dirty="0" err="1"/>
              <a:t>критерії</a:t>
            </a:r>
            <a:r>
              <a:rPr lang="en-US" sz="3300" dirty="0"/>
              <a:t> </a:t>
            </a:r>
            <a:r>
              <a:rPr lang="en-US" sz="3300" dirty="0" err="1"/>
              <a:t>оцінювання</a:t>
            </a:r>
            <a:endParaRPr lang="en-US" sz="3300" dirty="0"/>
          </a:p>
        </p:txBody>
      </p:sp>
      <p:sp>
        <p:nvSpPr>
          <p:cNvPr id="3" name="TextBox 2"/>
          <p:cNvSpPr txBox="1"/>
          <p:nvPr/>
        </p:nvSpPr>
        <p:spPr>
          <a:xfrm>
            <a:off x="788674" y="1236203"/>
            <a:ext cx="8017497" cy="5343656"/>
          </a:xfrm>
          <a:prstGeom prst="rect">
            <a:avLst/>
          </a:prstGeom>
        </p:spPr>
        <p:txBody>
          <a:bodyPr vert="horz" lIns="91440" tIns="45720" rIns="91440" bIns="45720" rtlCol="0" anchor="t">
            <a:noAutofit/>
          </a:bodyPr>
          <a:lstStyle/>
          <a:p>
            <a:pPr marL="342900" indent="-342900" algn="just" defTabSz="914400">
              <a:lnSpc>
                <a:spcPct val="120000"/>
              </a:lnSpc>
              <a:spcBef>
                <a:spcPts val="500"/>
              </a:spcBef>
              <a:spcAft>
                <a:spcPts val="600"/>
              </a:spcAft>
              <a:buClr>
                <a:schemeClr val="accent6"/>
              </a:buClr>
              <a:buSzPct val="90000"/>
              <a:buFontTx/>
              <a:buAutoNum type="arabicPeriod"/>
              <a:defRPr sz="1800"/>
            </a:pPr>
            <a:r>
              <a:rPr lang="ru-RU" sz="1600" dirty="0" err="1"/>
              <a:t>Аналіз</a:t>
            </a:r>
            <a:r>
              <a:rPr lang="ru-RU" sz="1600" dirty="0"/>
              <a:t> </a:t>
            </a:r>
            <a:r>
              <a:rPr lang="ru-RU" sz="1600" dirty="0" err="1"/>
              <a:t>предметної</a:t>
            </a:r>
            <a:r>
              <a:rPr lang="ru-RU" sz="1600" dirty="0"/>
              <a:t> </a:t>
            </a:r>
            <a:r>
              <a:rPr lang="ru-RU" sz="1600" dirty="0" err="1"/>
              <a:t>галузі</a:t>
            </a:r>
            <a:r>
              <a:rPr lang="ru-RU" sz="1600" dirty="0"/>
              <a:t> та </a:t>
            </a:r>
            <a:r>
              <a:rPr lang="ru-RU" sz="1600" dirty="0" err="1"/>
              <a:t>ідентифікація</a:t>
            </a:r>
            <a:r>
              <a:rPr lang="ru-RU" sz="1600" dirty="0"/>
              <a:t> </a:t>
            </a:r>
            <a:r>
              <a:rPr lang="ru-RU" sz="1600" dirty="0" err="1"/>
              <a:t>недоліків</a:t>
            </a:r>
            <a:r>
              <a:rPr lang="ru-RU" sz="1600" dirty="0"/>
              <a:t> </a:t>
            </a:r>
            <a:r>
              <a:rPr lang="ru-RU" sz="1600" dirty="0" err="1"/>
              <a:t>традиційних</a:t>
            </a:r>
            <a:r>
              <a:rPr lang="ru-RU" sz="1600" dirty="0"/>
              <a:t> </a:t>
            </a:r>
            <a:r>
              <a:rPr lang="ru-RU" sz="1600" dirty="0" err="1"/>
              <a:t>підходів</a:t>
            </a:r>
            <a:r>
              <a:rPr lang="ru-RU" sz="1600" dirty="0"/>
              <a:t> до </a:t>
            </a:r>
            <a:r>
              <a:rPr lang="ru-RU" sz="1600" dirty="0" err="1"/>
              <a:t>захисту</a:t>
            </a:r>
            <a:r>
              <a:rPr lang="ru-RU" sz="1600" dirty="0"/>
              <a:t> </a:t>
            </a:r>
            <a:r>
              <a:rPr lang="en" sz="1600" dirty="0"/>
              <a:t>WordPress-</a:t>
            </a:r>
            <a:r>
              <a:rPr lang="ru-RU" sz="1600" dirty="0"/>
              <a:t>систем в </a:t>
            </a:r>
            <a:r>
              <a:rPr lang="ru-RU" sz="1600" dirty="0" err="1"/>
              <a:t>умовах</a:t>
            </a:r>
            <a:r>
              <a:rPr lang="ru-RU" sz="1600" dirty="0"/>
              <a:t> </a:t>
            </a:r>
            <a:r>
              <a:rPr lang="ru-RU" sz="1600" dirty="0" err="1"/>
              <a:t>зростання</a:t>
            </a:r>
            <a:r>
              <a:rPr lang="ru-RU" sz="1600" dirty="0"/>
              <a:t> </a:t>
            </a:r>
            <a:r>
              <a:rPr lang="ru-RU" sz="1600" dirty="0" err="1"/>
              <a:t>інтенсивності</a:t>
            </a:r>
            <a:r>
              <a:rPr lang="ru-RU" sz="1600" dirty="0"/>
              <a:t> </a:t>
            </a:r>
            <a:r>
              <a:rPr lang="ru-RU" sz="1600" dirty="0" err="1"/>
              <a:t>автоматизованих</a:t>
            </a:r>
            <a:r>
              <a:rPr lang="ru-RU" sz="1600" dirty="0"/>
              <a:t> атак </a:t>
            </a:r>
          </a:p>
          <a:p>
            <a:pPr marL="342900" indent="-342900" algn="just" defTabSz="914400">
              <a:lnSpc>
                <a:spcPct val="120000"/>
              </a:lnSpc>
              <a:spcBef>
                <a:spcPts val="500"/>
              </a:spcBef>
              <a:spcAft>
                <a:spcPts val="600"/>
              </a:spcAft>
              <a:buClr>
                <a:schemeClr val="accent6"/>
              </a:buClr>
              <a:buSzPct val="90000"/>
              <a:buFontTx/>
              <a:buAutoNum type="arabicPeriod"/>
              <a:defRPr sz="1800"/>
            </a:pPr>
            <a:r>
              <a:rPr lang="ru-RU" sz="1600" dirty="0" err="1"/>
              <a:t>Ґрунтовний</a:t>
            </a:r>
            <a:r>
              <a:rPr lang="ru-RU" sz="1600" dirty="0"/>
              <a:t> та </a:t>
            </a:r>
            <a:r>
              <a:rPr lang="ru-RU" sz="1600" dirty="0" err="1"/>
              <a:t>повний</a:t>
            </a:r>
            <a:r>
              <a:rPr lang="ru-RU" sz="1600" dirty="0"/>
              <a:t> </a:t>
            </a:r>
            <a:r>
              <a:rPr lang="ru-RU" sz="1600" dirty="0" err="1"/>
              <a:t>аналіз</a:t>
            </a:r>
            <a:r>
              <a:rPr lang="ru-RU" sz="1600" dirty="0"/>
              <a:t> </a:t>
            </a:r>
            <a:r>
              <a:rPr lang="ru-RU" sz="1600" dirty="0" err="1"/>
              <a:t>наукової</a:t>
            </a:r>
            <a:r>
              <a:rPr lang="ru-RU" sz="1600" dirty="0"/>
              <a:t> </a:t>
            </a:r>
            <a:r>
              <a:rPr lang="ru-RU" sz="1600" dirty="0" err="1"/>
              <a:t>літератури</a:t>
            </a:r>
            <a:r>
              <a:rPr lang="ru-RU" sz="1600" dirty="0"/>
              <a:t> та </a:t>
            </a:r>
            <a:r>
              <a:rPr lang="ru-RU" sz="1600" dirty="0" err="1"/>
              <a:t>існуючих</a:t>
            </a:r>
            <a:r>
              <a:rPr lang="ru-RU" sz="1600" dirty="0"/>
              <a:t> </a:t>
            </a:r>
            <a:r>
              <a:rPr lang="ru-RU" sz="1600" dirty="0" err="1"/>
              <a:t>технологічних</a:t>
            </a:r>
            <a:r>
              <a:rPr lang="ru-RU" sz="1600" dirty="0"/>
              <a:t> </a:t>
            </a:r>
            <a:r>
              <a:rPr lang="ru-RU" sz="1600" dirty="0" err="1"/>
              <a:t>рішень</a:t>
            </a:r>
            <a:r>
              <a:rPr lang="ru-RU" sz="1600" dirty="0"/>
              <a:t> (</a:t>
            </a:r>
            <a:r>
              <a:rPr lang="en" sz="1600" dirty="0"/>
              <a:t>WAF, </a:t>
            </a:r>
            <a:r>
              <a:rPr lang="ru-RU" sz="1600" dirty="0" err="1"/>
              <a:t>сигнатурний</a:t>
            </a:r>
            <a:r>
              <a:rPr lang="ru-RU" sz="1600" dirty="0"/>
              <a:t> </a:t>
            </a:r>
            <a:r>
              <a:rPr lang="ru-RU" sz="1600" dirty="0" err="1"/>
              <a:t>аналіз</a:t>
            </a:r>
            <a:r>
              <a:rPr lang="ru-RU" sz="1600" dirty="0"/>
              <a:t>, </a:t>
            </a:r>
            <a:r>
              <a:rPr lang="ru-RU" sz="1600" dirty="0" err="1"/>
              <a:t>фільтрація</a:t>
            </a:r>
            <a:r>
              <a:rPr lang="ru-RU" sz="1600" dirty="0"/>
              <a:t> </a:t>
            </a:r>
            <a:r>
              <a:rPr lang="ru-RU" sz="1600" dirty="0" err="1"/>
              <a:t>трафіку</a:t>
            </a:r>
            <a:r>
              <a:rPr lang="ru-RU" sz="1600" dirty="0"/>
              <a:t>) для </a:t>
            </a:r>
            <a:r>
              <a:rPr lang="ru-RU" sz="1600" dirty="0" err="1"/>
              <a:t>забезпечення</a:t>
            </a:r>
            <a:r>
              <a:rPr lang="ru-RU" sz="1600" dirty="0"/>
              <a:t> </a:t>
            </a:r>
            <a:r>
              <a:rPr lang="ru-RU" sz="1600" dirty="0" err="1"/>
              <a:t>безпеки</a:t>
            </a:r>
            <a:r>
              <a:rPr lang="ru-RU" sz="1600" dirty="0"/>
              <a:t> </a:t>
            </a:r>
            <a:r>
              <a:rPr lang="ru-RU" sz="1600" dirty="0" err="1"/>
              <a:t>модульних</a:t>
            </a:r>
            <a:r>
              <a:rPr lang="ru-RU" sz="1600" dirty="0"/>
              <a:t> веб-структур </a:t>
            </a:r>
          </a:p>
          <a:p>
            <a:pPr marL="342900" indent="-342900" algn="just" defTabSz="914400">
              <a:lnSpc>
                <a:spcPct val="120000"/>
              </a:lnSpc>
              <a:spcBef>
                <a:spcPts val="500"/>
              </a:spcBef>
              <a:spcAft>
                <a:spcPts val="600"/>
              </a:spcAft>
              <a:buClr>
                <a:schemeClr val="accent6"/>
              </a:buClr>
              <a:buSzPct val="90000"/>
              <a:buFontTx/>
              <a:buAutoNum type="arabicPeriod"/>
              <a:defRPr sz="1800"/>
            </a:pPr>
            <a:r>
              <a:rPr lang="ru-RU" sz="1600" dirty="0" err="1"/>
              <a:t>Огляд</a:t>
            </a:r>
            <a:r>
              <a:rPr lang="ru-RU" sz="1600" dirty="0"/>
              <a:t> </a:t>
            </a:r>
            <a:r>
              <a:rPr lang="ru-RU" sz="1600" dirty="0" err="1"/>
              <a:t>актуальних</a:t>
            </a:r>
            <a:r>
              <a:rPr lang="ru-RU" sz="1600" dirty="0"/>
              <a:t> </a:t>
            </a:r>
            <a:r>
              <a:rPr lang="ru-RU" sz="1600" dirty="0" err="1"/>
              <a:t>векторів</a:t>
            </a:r>
            <a:r>
              <a:rPr lang="ru-RU" sz="1600" dirty="0"/>
              <a:t> атак на </a:t>
            </a:r>
            <a:r>
              <a:rPr lang="en" sz="1600" dirty="0"/>
              <a:t>e-commerce </a:t>
            </a:r>
            <a:r>
              <a:rPr lang="ru-RU" sz="1600" dirty="0" err="1"/>
              <a:t>рішення</a:t>
            </a:r>
            <a:r>
              <a:rPr lang="ru-RU" sz="1600" dirty="0"/>
              <a:t>, </a:t>
            </a:r>
            <a:r>
              <a:rPr lang="ru-RU" sz="1600" dirty="0" err="1"/>
              <a:t>зокрема</a:t>
            </a:r>
            <a:r>
              <a:rPr lang="ru-RU" sz="1600" dirty="0"/>
              <a:t> </a:t>
            </a:r>
            <a:r>
              <a:rPr lang="en" sz="1600" dirty="0"/>
              <a:t>XSS, SQL Injection, RCE </a:t>
            </a:r>
            <a:r>
              <a:rPr lang="ru-RU" sz="1600" dirty="0"/>
              <a:t>та </a:t>
            </a:r>
            <a:r>
              <a:rPr lang="en" sz="1600" dirty="0"/>
              <a:t>CSRF, </a:t>
            </a:r>
            <a:r>
              <a:rPr lang="ru-RU" sz="1600" dirty="0" err="1"/>
              <a:t>що</a:t>
            </a:r>
            <a:r>
              <a:rPr lang="ru-RU" sz="1600" dirty="0"/>
              <a:t> </a:t>
            </a:r>
            <a:r>
              <a:rPr lang="ru-RU" sz="1600" dirty="0" err="1"/>
              <a:t>складають</a:t>
            </a:r>
            <a:r>
              <a:rPr lang="ru-RU" sz="1600" dirty="0"/>
              <a:t> базу для </a:t>
            </a:r>
            <a:r>
              <a:rPr lang="ru-RU" sz="1600" dirty="0" err="1"/>
              <a:t>тестування</a:t>
            </a:r>
            <a:r>
              <a:rPr lang="ru-RU" sz="1600" dirty="0"/>
              <a:t> </a:t>
            </a:r>
          </a:p>
          <a:p>
            <a:pPr marL="342900" indent="-342900" algn="just" defTabSz="914400">
              <a:lnSpc>
                <a:spcPct val="120000"/>
              </a:lnSpc>
              <a:spcBef>
                <a:spcPts val="500"/>
              </a:spcBef>
              <a:spcAft>
                <a:spcPts val="600"/>
              </a:spcAft>
              <a:buClr>
                <a:schemeClr val="accent6"/>
              </a:buClr>
              <a:buSzPct val="90000"/>
              <a:buFontTx/>
              <a:buAutoNum type="arabicPeriod"/>
              <a:defRPr sz="1800"/>
            </a:pPr>
            <a:r>
              <a:rPr lang="ru-RU" sz="1600" dirty="0" err="1"/>
              <a:t>Формування</a:t>
            </a:r>
            <a:r>
              <a:rPr lang="ru-RU" sz="1600" dirty="0"/>
              <a:t> </a:t>
            </a:r>
            <a:r>
              <a:rPr lang="ru-RU" sz="1600" dirty="0" err="1"/>
              <a:t>критеріїв</a:t>
            </a:r>
            <a:r>
              <a:rPr lang="ru-RU" sz="1600" dirty="0"/>
              <a:t> </a:t>
            </a:r>
            <a:r>
              <a:rPr lang="ru-RU" sz="1600" dirty="0" err="1"/>
              <a:t>оцінювання</a:t>
            </a:r>
            <a:r>
              <a:rPr lang="ru-RU" sz="1600" dirty="0"/>
              <a:t> та </a:t>
            </a:r>
            <a:r>
              <a:rPr lang="ru-RU" sz="1600" dirty="0" err="1"/>
              <a:t>множини</a:t>
            </a:r>
            <a:r>
              <a:rPr lang="ru-RU" sz="1600" dirty="0"/>
              <a:t> альтернатив (</a:t>
            </a:r>
            <a:r>
              <a:rPr lang="ru-RU" sz="1600" dirty="0" err="1"/>
              <a:t>плагінів</a:t>
            </a:r>
            <a:r>
              <a:rPr lang="ru-RU" sz="1600" dirty="0"/>
              <a:t> </a:t>
            </a:r>
            <a:r>
              <a:rPr lang="ru-RU" sz="1600" dirty="0" err="1"/>
              <a:t>безпеки</a:t>
            </a:r>
            <a:r>
              <a:rPr lang="ru-RU" sz="1600" dirty="0"/>
              <a:t>) для </a:t>
            </a:r>
            <a:r>
              <a:rPr lang="ru-RU" sz="1600" dirty="0" err="1"/>
              <a:t>вибору</a:t>
            </a:r>
            <a:r>
              <a:rPr lang="ru-RU" sz="1600" dirty="0"/>
              <a:t> </a:t>
            </a:r>
            <a:r>
              <a:rPr lang="ru-RU" sz="1600" dirty="0" err="1"/>
              <a:t>оптимальної</a:t>
            </a:r>
            <a:r>
              <a:rPr lang="ru-RU" sz="1600" dirty="0"/>
              <a:t> </a:t>
            </a:r>
            <a:r>
              <a:rPr lang="ru-RU" sz="1600" dirty="0" err="1"/>
              <a:t>конфігурації</a:t>
            </a:r>
            <a:r>
              <a:rPr lang="ru-RU" sz="1600" dirty="0"/>
              <a:t> </a:t>
            </a:r>
            <a:r>
              <a:rPr lang="ru-RU" sz="1600" dirty="0" err="1"/>
              <a:t>захисту</a:t>
            </a:r>
            <a:r>
              <a:rPr lang="ru-RU" sz="1600" dirty="0"/>
              <a:t> </a:t>
            </a:r>
          </a:p>
          <a:p>
            <a:pPr marL="342900" indent="-342900" algn="just" defTabSz="914400">
              <a:lnSpc>
                <a:spcPct val="120000"/>
              </a:lnSpc>
              <a:spcBef>
                <a:spcPts val="500"/>
              </a:spcBef>
              <a:spcAft>
                <a:spcPts val="600"/>
              </a:spcAft>
              <a:buClr>
                <a:schemeClr val="accent6"/>
              </a:buClr>
              <a:buSzPct val="90000"/>
              <a:buFontTx/>
              <a:buAutoNum type="arabicPeriod"/>
              <a:defRPr sz="1800"/>
            </a:pPr>
            <a:r>
              <a:rPr lang="ru-RU" sz="1600" dirty="0" err="1"/>
              <a:t>Побудова</a:t>
            </a:r>
            <a:r>
              <a:rPr lang="ru-RU" sz="1600" dirty="0"/>
              <a:t> </a:t>
            </a:r>
            <a:r>
              <a:rPr lang="ru-RU" sz="1600" dirty="0" err="1"/>
              <a:t>формальної</a:t>
            </a:r>
            <a:r>
              <a:rPr lang="ru-RU" sz="1600" dirty="0"/>
              <a:t> </a:t>
            </a:r>
            <a:r>
              <a:rPr lang="ru-RU" sz="1600" dirty="0" err="1"/>
              <a:t>моделі</a:t>
            </a:r>
            <a:r>
              <a:rPr lang="ru-RU" sz="1600" dirty="0"/>
              <a:t> </a:t>
            </a:r>
            <a:r>
              <a:rPr lang="ru-RU" sz="1600" dirty="0" err="1"/>
              <a:t>процесу</a:t>
            </a:r>
            <a:r>
              <a:rPr lang="ru-RU" sz="1600" dirty="0"/>
              <a:t> </a:t>
            </a:r>
            <a:r>
              <a:rPr lang="ru-RU" sz="1600" dirty="0" err="1"/>
              <a:t>виявлення</a:t>
            </a:r>
            <a:r>
              <a:rPr lang="ru-RU" sz="1600" dirty="0"/>
              <a:t> </a:t>
            </a:r>
            <a:r>
              <a:rPr lang="ru-RU" sz="1600" dirty="0" err="1"/>
              <a:t>загроз</a:t>
            </a:r>
            <a:r>
              <a:rPr lang="ru-RU" sz="1600" dirty="0"/>
              <a:t> </a:t>
            </a:r>
            <a:r>
              <a:rPr lang="ru-RU" sz="1600" dirty="0" err="1"/>
              <a:t>із</a:t>
            </a:r>
            <a:r>
              <a:rPr lang="ru-RU" sz="1600" dirty="0"/>
              <a:t> </a:t>
            </a:r>
            <a:r>
              <a:rPr lang="ru-RU" sz="1600" dirty="0" err="1"/>
              <a:t>застосуванням</a:t>
            </a:r>
            <a:r>
              <a:rPr lang="ru-RU" sz="1600" dirty="0"/>
              <a:t> </a:t>
            </a:r>
            <a:r>
              <a:rPr lang="ru-RU" sz="1600" dirty="0" err="1"/>
              <a:t>алгебраїчного</a:t>
            </a:r>
            <a:r>
              <a:rPr lang="ru-RU" sz="1600" dirty="0"/>
              <a:t> та </a:t>
            </a:r>
            <a:r>
              <a:rPr lang="ru-RU" sz="1600" dirty="0" err="1"/>
              <a:t>аксіоматичного</a:t>
            </a:r>
            <a:r>
              <a:rPr lang="ru-RU" sz="1600" dirty="0"/>
              <a:t> </a:t>
            </a:r>
            <a:r>
              <a:rPr lang="ru-RU" sz="1600" dirty="0" err="1"/>
              <a:t>підходів</a:t>
            </a:r>
            <a:r>
              <a:rPr lang="ru-RU" sz="1600" dirty="0"/>
              <a:t> для </a:t>
            </a:r>
            <a:r>
              <a:rPr lang="ru-RU" sz="1600" dirty="0" err="1"/>
              <a:t>опису</a:t>
            </a:r>
            <a:r>
              <a:rPr lang="ru-RU" sz="1600" dirty="0"/>
              <a:t> </a:t>
            </a:r>
            <a:r>
              <a:rPr lang="ru-RU" sz="1600" dirty="0" err="1"/>
              <a:t>логіки</a:t>
            </a:r>
            <a:r>
              <a:rPr lang="ru-RU" sz="1600" dirty="0"/>
              <a:t> </a:t>
            </a:r>
            <a:r>
              <a:rPr lang="ru-RU" sz="1600" dirty="0" err="1"/>
              <a:t>детекції</a:t>
            </a:r>
            <a:endParaRPr lang="ru-RU" sz="1600" dirty="0"/>
          </a:p>
          <a:p>
            <a:pPr marL="342900" indent="-342900" algn="just" defTabSz="914400">
              <a:lnSpc>
                <a:spcPct val="120000"/>
              </a:lnSpc>
              <a:spcBef>
                <a:spcPts val="500"/>
              </a:spcBef>
              <a:spcAft>
                <a:spcPts val="600"/>
              </a:spcAft>
              <a:buClr>
                <a:schemeClr val="accent6"/>
              </a:buClr>
              <a:buSzPct val="90000"/>
              <a:buFontTx/>
              <a:buAutoNum type="arabicPeriod"/>
              <a:defRPr sz="1800"/>
            </a:pPr>
            <a:r>
              <a:rPr lang="ru-RU" sz="1600" dirty="0" err="1"/>
              <a:t>Оприявлення</a:t>
            </a:r>
            <a:r>
              <a:rPr lang="ru-RU" sz="1600" dirty="0"/>
              <a:t> </a:t>
            </a:r>
            <a:r>
              <a:rPr lang="ru-RU" sz="1600" dirty="0" err="1"/>
              <a:t>формалізованих</a:t>
            </a:r>
            <a:r>
              <a:rPr lang="ru-RU" sz="1600" dirty="0"/>
              <a:t> шкал </a:t>
            </a:r>
            <a:r>
              <a:rPr lang="ru-RU" sz="1600" dirty="0" err="1"/>
              <a:t>оцінювання</a:t>
            </a:r>
            <a:r>
              <a:rPr lang="ru-RU" sz="1600" dirty="0"/>
              <a:t>, </a:t>
            </a:r>
            <a:r>
              <a:rPr lang="ru-RU" sz="1600" dirty="0" err="1"/>
              <a:t>що</a:t>
            </a:r>
            <a:r>
              <a:rPr lang="ru-RU" sz="1600" dirty="0"/>
              <a:t> </a:t>
            </a:r>
            <a:r>
              <a:rPr lang="ru-RU" sz="1600" dirty="0" err="1"/>
              <a:t>базуються</a:t>
            </a:r>
            <a:r>
              <a:rPr lang="ru-RU" sz="1600" dirty="0"/>
              <a:t> на метриках </a:t>
            </a:r>
            <a:r>
              <a:rPr lang="en" sz="1600" dirty="0"/>
              <a:t>Precision, Recall </a:t>
            </a:r>
            <a:r>
              <a:rPr lang="ru-RU" sz="1600" dirty="0"/>
              <a:t>та </a:t>
            </a:r>
            <a:r>
              <a:rPr lang="en" sz="1600" dirty="0"/>
              <a:t>F1-score, </a:t>
            </a:r>
            <a:r>
              <a:rPr lang="ru-RU" sz="1600" dirty="0"/>
              <a:t>а також </a:t>
            </a:r>
            <a:r>
              <a:rPr lang="ru-RU" sz="1600" dirty="0" err="1"/>
              <a:t>показниках</a:t>
            </a:r>
            <a:r>
              <a:rPr lang="ru-RU" sz="1600" dirty="0"/>
              <a:t> </a:t>
            </a:r>
            <a:r>
              <a:rPr lang="ru-RU" sz="1600" dirty="0" err="1"/>
              <a:t>навантаження</a:t>
            </a:r>
            <a:r>
              <a:rPr lang="ru-RU" sz="1600" dirty="0"/>
              <a:t> на </a:t>
            </a:r>
            <a:r>
              <a:rPr lang="ru-RU" sz="1600" dirty="0" err="1"/>
              <a:t>системні</a:t>
            </a:r>
            <a:r>
              <a:rPr lang="ru-RU" sz="1600" dirty="0"/>
              <a:t> </a:t>
            </a:r>
            <a:r>
              <a:rPr lang="ru-RU" sz="1600" dirty="0" err="1"/>
              <a:t>ресурси</a:t>
            </a:r>
            <a:r>
              <a:rPr lang="ru-RU" sz="1600" dirty="0"/>
              <a:t> (</a:t>
            </a:r>
            <a:r>
              <a:rPr lang="en" sz="1600" dirty="0"/>
              <a:t>CPU, </a:t>
            </a:r>
            <a:r>
              <a:rPr lang="ru-RU" sz="1600" dirty="0"/>
              <a:t>БД) </a:t>
            </a:r>
          </a:p>
          <a:p>
            <a:pPr marL="342900" indent="-342900" algn="just" defTabSz="914400">
              <a:lnSpc>
                <a:spcPct val="120000"/>
              </a:lnSpc>
              <a:spcBef>
                <a:spcPts val="500"/>
              </a:spcBef>
              <a:spcAft>
                <a:spcPts val="600"/>
              </a:spcAft>
              <a:buClr>
                <a:schemeClr val="accent6"/>
              </a:buClr>
              <a:buSzPct val="90000"/>
              <a:buFontTx/>
              <a:buAutoNum type="arabicPeriod"/>
              <a:defRPr sz="1800"/>
            </a:pPr>
            <a:endParaRPr lang="ru-RU" sz="1600" dirty="0"/>
          </a:p>
        </p:txBody>
      </p:sp>
      <p:sp>
        <p:nvSpPr>
          <p:cNvPr id="5" name="Номер слайда 4">
            <a:extLst>
              <a:ext uri="{FF2B5EF4-FFF2-40B4-BE49-F238E27FC236}">
                <a16:creationId xmlns:a16="http://schemas.microsoft.com/office/drawing/2014/main" id="{9D108A9D-628F-8C26-D4C3-303D8E9F3340}"/>
              </a:ext>
            </a:extLst>
          </p:cNvPr>
          <p:cNvSpPr>
            <a:spLocks noGrp="1"/>
          </p:cNvSpPr>
          <p:nvPr>
            <p:ph type="sldNum" sz="quarter" idx="12"/>
          </p:nvPr>
        </p:nvSpPr>
        <p:spPr/>
        <p:txBody>
          <a:bodyPr/>
          <a:lstStyle/>
          <a:p>
            <a:fld id="{C1FF6DA9-008F-8B48-92A6-B652298478BF}"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793781" y="195071"/>
            <a:ext cx="6396429" cy="1261640"/>
          </a:xfrm>
        </p:spPr>
        <p:txBody>
          <a:bodyPr vert="horz" lIns="91440" tIns="45720" rIns="91440" bIns="45720" rtlCol="0" anchor="t">
            <a:normAutofit/>
          </a:bodyPr>
          <a:lstStyle/>
          <a:p>
            <a:pPr algn="l" defTabSz="914400">
              <a:defRPr sz="3400" b="1"/>
            </a:pPr>
            <a:r>
              <a:rPr lang="en-US" sz="3300" dirty="0" err="1"/>
              <a:t>Постановка</a:t>
            </a:r>
            <a:r>
              <a:rPr lang="en-US" sz="3300" dirty="0"/>
              <a:t> </a:t>
            </a:r>
            <a:r>
              <a:rPr lang="en-US" sz="3300" dirty="0" err="1"/>
              <a:t>задач</a:t>
            </a:r>
            <a:r>
              <a:rPr lang="uk-UA" sz="3300" dirty="0"/>
              <a:t>і</a:t>
            </a:r>
            <a:r>
              <a:rPr lang="en-US" sz="3300" dirty="0"/>
              <a:t> </a:t>
            </a:r>
            <a:r>
              <a:rPr lang="en-US" sz="3300" dirty="0" err="1"/>
              <a:t>та</a:t>
            </a:r>
            <a:r>
              <a:rPr lang="en-US" sz="3300" dirty="0"/>
              <a:t> </a:t>
            </a:r>
            <a:r>
              <a:rPr lang="en-US" sz="3300" dirty="0" err="1"/>
              <a:t>критерії</a:t>
            </a:r>
            <a:r>
              <a:rPr lang="en-US" sz="3300" dirty="0"/>
              <a:t> </a:t>
            </a:r>
            <a:r>
              <a:rPr lang="en-US" sz="3300" dirty="0" err="1"/>
              <a:t>оцінювання</a:t>
            </a:r>
            <a:endParaRPr lang="en-US" sz="3300" dirty="0"/>
          </a:p>
        </p:txBody>
      </p:sp>
      <p:sp>
        <p:nvSpPr>
          <p:cNvPr id="3" name="TextBox 2"/>
          <p:cNvSpPr txBox="1"/>
          <p:nvPr/>
        </p:nvSpPr>
        <p:spPr>
          <a:xfrm>
            <a:off x="810387" y="1193211"/>
            <a:ext cx="8236781" cy="2981657"/>
          </a:xfrm>
          <a:prstGeom prst="rect">
            <a:avLst/>
          </a:prstGeom>
        </p:spPr>
        <p:txBody>
          <a:bodyPr vert="horz" lIns="91440" tIns="45720" rIns="91440" bIns="45720" rtlCol="0" anchor="t">
            <a:noAutofit/>
          </a:bodyPr>
          <a:lstStyle/>
          <a:p>
            <a:pPr marL="342900" indent="-342900" algn="just" defTabSz="914400">
              <a:lnSpc>
                <a:spcPct val="120000"/>
              </a:lnSpc>
              <a:spcBef>
                <a:spcPts val="500"/>
              </a:spcBef>
              <a:spcAft>
                <a:spcPts val="600"/>
              </a:spcAft>
              <a:buClr>
                <a:schemeClr val="accent6"/>
              </a:buClr>
              <a:buSzPct val="90000"/>
              <a:buFont typeface="+mj-lt"/>
              <a:buAutoNum type="arabicPeriod" startAt="7"/>
              <a:defRPr sz="1800"/>
            </a:pPr>
            <a:r>
              <a:rPr lang="ru-RU" sz="1600" dirty="0" err="1"/>
              <a:t>Проведення</a:t>
            </a:r>
            <a:r>
              <a:rPr lang="ru-RU" sz="1600" dirty="0"/>
              <a:t> </a:t>
            </a:r>
            <a:r>
              <a:rPr lang="ru-RU" sz="1600" dirty="0" err="1"/>
              <a:t>багатокритеріального</a:t>
            </a:r>
            <a:r>
              <a:rPr lang="ru-RU" sz="1600" dirty="0"/>
              <a:t> </a:t>
            </a:r>
            <a:r>
              <a:rPr lang="ru-RU" sz="1600" dirty="0" err="1"/>
              <a:t>аналізу</a:t>
            </a:r>
            <a:r>
              <a:rPr lang="ru-RU" sz="1600" dirty="0"/>
              <a:t> </a:t>
            </a:r>
            <a:r>
              <a:rPr lang="ru-RU" sz="1600" dirty="0" err="1"/>
              <a:t>результатів</a:t>
            </a:r>
            <a:r>
              <a:rPr lang="ru-RU" sz="1600" dirty="0"/>
              <a:t> </a:t>
            </a:r>
            <a:r>
              <a:rPr lang="ru-RU" sz="1600" dirty="0" err="1"/>
              <a:t>експерименту</a:t>
            </a:r>
            <a:r>
              <a:rPr lang="ru-RU" sz="1600" dirty="0"/>
              <a:t> для </a:t>
            </a:r>
            <a:r>
              <a:rPr lang="ru-RU" sz="1600" dirty="0" err="1"/>
              <a:t>визначення</a:t>
            </a:r>
            <a:r>
              <a:rPr lang="ru-RU" sz="1600" dirty="0"/>
              <a:t> </a:t>
            </a:r>
            <a:r>
              <a:rPr lang="ru-RU" sz="1600" dirty="0" err="1"/>
              <a:t>впливу</a:t>
            </a:r>
            <a:r>
              <a:rPr lang="ru-RU" sz="1600" dirty="0"/>
              <a:t> </a:t>
            </a:r>
            <a:r>
              <a:rPr lang="ru-RU" sz="1600" dirty="0" err="1"/>
              <a:t>засобів</a:t>
            </a:r>
            <a:r>
              <a:rPr lang="ru-RU" sz="1600" dirty="0"/>
              <a:t> </a:t>
            </a:r>
            <a:r>
              <a:rPr lang="ru-RU" sz="1600" dirty="0" err="1"/>
              <a:t>захисту</a:t>
            </a:r>
            <a:r>
              <a:rPr lang="ru-RU" sz="1600" dirty="0"/>
              <a:t> на </a:t>
            </a:r>
            <a:r>
              <a:rPr lang="ru-RU" sz="1600" dirty="0" err="1"/>
              <a:t>працездатність</a:t>
            </a:r>
            <a:r>
              <a:rPr lang="ru-RU" sz="1600" dirty="0"/>
              <a:t> та </a:t>
            </a:r>
            <a:r>
              <a:rPr lang="ru-RU" sz="1600" dirty="0" err="1"/>
              <a:t>швидкість</a:t>
            </a:r>
            <a:r>
              <a:rPr lang="ru-RU" sz="1600" dirty="0"/>
              <a:t> </a:t>
            </a:r>
            <a:r>
              <a:rPr lang="ru-RU" sz="1600" dirty="0" err="1"/>
              <a:t>відповіді</a:t>
            </a:r>
            <a:r>
              <a:rPr lang="ru-RU" sz="1600" dirty="0"/>
              <a:t> веб-</a:t>
            </a:r>
            <a:r>
              <a:rPr lang="ru-RU" sz="1600" dirty="0" err="1"/>
              <a:t>рішення</a:t>
            </a:r>
            <a:r>
              <a:rPr lang="ru-RU" sz="1600" dirty="0"/>
              <a:t> </a:t>
            </a:r>
          </a:p>
          <a:p>
            <a:pPr marL="342900" indent="-342900" algn="just" defTabSz="914400">
              <a:lnSpc>
                <a:spcPct val="120000"/>
              </a:lnSpc>
              <a:spcBef>
                <a:spcPts val="500"/>
              </a:spcBef>
              <a:spcAft>
                <a:spcPts val="600"/>
              </a:spcAft>
              <a:buClr>
                <a:schemeClr val="accent6"/>
              </a:buClr>
              <a:buSzPct val="90000"/>
              <a:buAutoNum type="arabicPeriod" startAt="7"/>
              <a:defRPr sz="1800"/>
            </a:pPr>
            <a:r>
              <a:rPr lang="ru-RU" sz="1600" dirty="0" err="1"/>
              <a:t>Проєктування</a:t>
            </a:r>
            <a:r>
              <a:rPr lang="ru-RU" sz="1600" dirty="0"/>
              <a:t> та </a:t>
            </a:r>
            <a:r>
              <a:rPr lang="ru-RU" sz="1600" dirty="0" err="1"/>
              <a:t>реалізація</a:t>
            </a:r>
            <a:r>
              <a:rPr lang="ru-RU" sz="1600" dirty="0"/>
              <a:t> практичного </a:t>
            </a:r>
            <a:r>
              <a:rPr lang="ru-RU" sz="1600" dirty="0" err="1"/>
              <a:t>експерименту</a:t>
            </a:r>
            <a:r>
              <a:rPr lang="ru-RU" sz="1600" dirty="0"/>
              <a:t> на </a:t>
            </a:r>
            <a:r>
              <a:rPr lang="ru-RU" sz="1600" dirty="0" err="1"/>
              <a:t>ізольованому</a:t>
            </a:r>
            <a:r>
              <a:rPr lang="ru-RU" sz="1600" dirty="0"/>
              <a:t> тестовому </a:t>
            </a:r>
            <a:r>
              <a:rPr lang="ru-RU" sz="1600" dirty="0" err="1"/>
              <a:t>стенді</a:t>
            </a:r>
            <a:r>
              <a:rPr lang="ru-RU" sz="1600" dirty="0"/>
              <a:t>, </a:t>
            </a:r>
            <a:r>
              <a:rPr lang="ru-RU" sz="1600" dirty="0" err="1"/>
              <a:t>що</a:t>
            </a:r>
            <a:r>
              <a:rPr lang="ru-RU" sz="1600" dirty="0"/>
              <a:t> </a:t>
            </a:r>
            <a:r>
              <a:rPr lang="ru-RU" sz="1600" dirty="0" err="1"/>
              <a:t>відтворює</a:t>
            </a:r>
            <a:r>
              <a:rPr lang="ru-RU" sz="1600" dirty="0"/>
              <a:t> </a:t>
            </a:r>
            <a:r>
              <a:rPr lang="ru-RU" sz="1600" dirty="0" err="1"/>
              <a:t>реальні</a:t>
            </a:r>
            <a:r>
              <a:rPr lang="ru-RU" sz="1600" dirty="0"/>
              <a:t> </a:t>
            </a:r>
            <a:r>
              <a:rPr lang="ru-RU" sz="1600" dirty="0" err="1"/>
              <a:t>умови</a:t>
            </a:r>
            <a:r>
              <a:rPr lang="ru-RU" sz="1600" dirty="0"/>
              <a:t> </a:t>
            </a:r>
            <a:r>
              <a:rPr lang="ru-RU" sz="1600" dirty="0" err="1"/>
              <a:t>експлуатації</a:t>
            </a:r>
            <a:r>
              <a:rPr lang="ru-RU" sz="1600" dirty="0"/>
              <a:t> </a:t>
            </a:r>
            <a:r>
              <a:rPr lang="en" sz="1600" dirty="0"/>
              <a:t>WordPress </a:t>
            </a:r>
            <a:r>
              <a:rPr lang="ru-RU" sz="1600" dirty="0"/>
              <a:t>у </a:t>
            </a:r>
            <a:r>
              <a:rPr lang="ru-RU" sz="1600" dirty="0" err="1"/>
              <a:t>сегменті</a:t>
            </a:r>
            <a:r>
              <a:rPr lang="ru-RU" sz="1600" dirty="0"/>
              <a:t> </a:t>
            </a:r>
            <a:r>
              <a:rPr lang="ru-RU" sz="1600" dirty="0" err="1"/>
              <a:t>електронної</a:t>
            </a:r>
            <a:r>
              <a:rPr lang="ru-RU" sz="1600" dirty="0"/>
              <a:t> </a:t>
            </a:r>
            <a:r>
              <a:rPr lang="ru-RU" sz="1600" dirty="0" err="1"/>
              <a:t>комерції</a:t>
            </a:r>
            <a:r>
              <a:rPr lang="ru-RU" sz="1600" dirty="0"/>
              <a:t> </a:t>
            </a:r>
          </a:p>
          <a:p>
            <a:pPr marL="342900" indent="-342900" algn="just" defTabSz="914400">
              <a:lnSpc>
                <a:spcPct val="120000"/>
              </a:lnSpc>
              <a:spcBef>
                <a:spcPts val="500"/>
              </a:spcBef>
              <a:spcAft>
                <a:spcPts val="600"/>
              </a:spcAft>
              <a:buClr>
                <a:schemeClr val="accent6"/>
              </a:buClr>
              <a:buSzPct val="90000"/>
              <a:buAutoNum type="arabicPeriod" startAt="7"/>
              <a:defRPr sz="1800"/>
            </a:pPr>
            <a:r>
              <a:rPr lang="ru-RU" sz="1600" dirty="0" err="1"/>
              <a:t>Розробка</a:t>
            </a:r>
            <a:r>
              <a:rPr lang="ru-RU" sz="1600" dirty="0"/>
              <a:t> </a:t>
            </a:r>
            <a:r>
              <a:rPr lang="ru-RU" sz="1600" dirty="0" err="1"/>
              <a:t>рекомендацій</a:t>
            </a:r>
            <a:r>
              <a:rPr lang="ru-RU" sz="1600" dirty="0"/>
              <a:t> </a:t>
            </a:r>
            <a:r>
              <a:rPr lang="ru-RU" sz="1600" dirty="0" err="1"/>
              <a:t>відповідно</a:t>
            </a:r>
            <a:r>
              <a:rPr lang="ru-RU" sz="1600" dirty="0"/>
              <a:t> до </a:t>
            </a:r>
            <a:r>
              <a:rPr lang="ru-RU" sz="1600" dirty="0" err="1"/>
              <a:t>отриманих</a:t>
            </a:r>
            <a:r>
              <a:rPr lang="ru-RU" sz="1600" dirty="0"/>
              <a:t> </a:t>
            </a:r>
            <a:r>
              <a:rPr lang="ru-RU" sz="1600" dirty="0" err="1"/>
              <a:t>результатів</a:t>
            </a:r>
            <a:r>
              <a:rPr lang="ru-RU" sz="1600" dirty="0"/>
              <a:t> </a:t>
            </a:r>
            <a:r>
              <a:rPr lang="ru-RU" sz="1600" dirty="0" err="1"/>
              <a:t>дослідження</a:t>
            </a:r>
            <a:r>
              <a:rPr lang="ru-RU" sz="1600" dirty="0"/>
              <a:t> </a:t>
            </a:r>
          </a:p>
          <a:p>
            <a:pPr marL="342900" indent="-342900" algn="just" defTabSz="914400">
              <a:lnSpc>
                <a:spcPct val="120000"/>
              </a:lnSpc>
              <a:spcBef>
                <a:spcPts val="500"/>
              </a:spcBef>
              <a:spcAft>
                <a:spcPts val="600"/>
              </a:spcAft>
              <a:buClr>
                <a:schemeClr val="accent6"/>
              </a:buClr>
              <a:buSzPct val="90000"/>
              <a:buAutoNum type="arabicPeriod" startAt="7"/>
              <a:defRPr sz="1800"/>
            </a:pPr>
            <a:r>
              <a:rPr lang="ru-RU" sz="1600" dirty="0" err="1"/>
              <a:t>Оцінити</a:t>
            </a:r>
            <a:r>
              <a:rPr lang="ru-RU" sz="1600" dirty="0"/>
              <a:t> </a:t>
            </a:r>
            <a:r>
              <a:rPr lang="ru-RU" sz="1600" dirty="0" err="1"/>
              <a:t>можливості</a:t>
            </a:r>
            <a:r>
              <a:rPr lang="ru-RU" sz="1600" dirty="0"/>
              <a:t> </a:t>
            </a:r>
            <a:r>
              <a:rPr lang="ru-RU" sz="1600" dirty="0" err="1"/>
              <a:t>впровадження</a:t>
            </a:r>
            <a:r>
              <a:rPr lang="ru-RU" sz="1600" dirty="0"/>
              <a:t> на </a:t>
            </a:r>
            <a:r>
              <a:rPr lang="ru-RU" sz="1600" dirty="0" err="1"/>
              <a:t>практиці</a:t>
            </a:r>
            <a:r>
              <a:rPr lang="ru-RU" sz="1600" dirty="0"/>
              <a:t> </a:t>
            </a:r>
            <a:r>
              <a:rPr lang="ru-RU" sz="1600" dirty="0" err="1"/>
              <a:t>розробленої</a:t>
            </a:r>
            <a:r>
              <a:rPr lang="ru-RU" sz="1600" dirty="0"/>
              <a:t> </a:t>
            </a:r>
            <a:r>
              <a:rPr lang="ru-RU" sz="1600" dirty="0" err="1"/>
              <a:t>моделі</a:t>
            </a:r>
            <a:r>
              <a:rPr lang="ru-RU" sz="1600" dirty="0"/>
              <a:t> в </a:t>
            </a:r>
            <a:r>
              <a:rPr lang="en" sz="1600" dirty="0"/>
              <a:t>e-commerce </a:t>
            </a:r>
            <a:r>
              <a:rPr lang="ru-RU" sz="1600" dirty="0" err="1"/>
              <a:t>рішення</a:t>
            </a:r>
            <a:endParaRPr lang="uk-UA" sz="1600" dirty="0"/>
          </a:p>
        </p:txBody>
      </p:sp>
      <p:sp>
        <p:nvSpPr>
          <p:cNvPr id="5" name="Номер слайда 4">
            <a:extLst>
              <a:ext uri="{FF2B5EF4-FFF2-40B4-BE49-F238E27FC236}">
                <a16:creationId xmlns:a16="http://schemas.microsoft.com/office/drawing/2014/main" id="{9D108A9D-628F-8C26-D4C3-303D8E9F3340}"/>
              </a:ext>
            </a:extLst>
          </p:cNvPr>
          <p:cNvSpPr>
            <a:spLocks noGrp="1"/>
          </p:cNvSpPr>
          <p:nvPr>
            <p:ph type="sldNum" sz="quarter" idx="12"/>
          </p:nvPr>
        </p:nvSpPr>
        <p:spPr/>
        <p:txBody>
          <a:bodyPr/>
          <a:lstStyle/>
          <a:p>
            <a:fld id="{C1FF6DA9-008F-8B48-92A6-B652298478BF}" type="slidenum">
              <a:rPr lang="en-US" smtClean="0"/>
              <a:t>5</a:t>
            </a:fld>
            <a:endParaRPr lang="en-US" dirty="0"/>
          </a:p>
        </p:txBody>
      </p:sp>
      <p:pic>
        <p:nvPicPr>
          <p:cNvPr id="7" name="Рисунок 6" descr="Изображение выглядит как текст, визитная карточка, Шрифт, снимок экрана&#10;&#10;Автоматически созданное описание">
            <a:extLst>
              <a:ext uri="{FF2B5EF4-FFF2-40B4-BE49-F238E27FC236}">
                <a16:creationId xmlns:a16="http://schemas.microsoft.com/office/drawing/2014/main" id="{0AE42749-C1A4-EED6-C26D-56F80134ECD9}"/>
              </a:ext>
            </a:extLst>
          </p:cNvPr>
          <p:cNvPicPr>
            <a:picLocks noChangeAspect="1"/>
          </p:cNvPicPr>
          <p:nvPr/>
        </p:nvPicPr>
        <p:blipFill rotWithShape="1">
          <a:blip r:embed="rId7"/>
          <a:srcRect l="2746" t="11326" r="3060" b="28339"/>
          <a:stretch/>
        </p:blipFill>
        <p:spPr>
          <a:xfrm>
            <a:off x="1802070" y="4475664"/>
            <a:ext cx="6396430" cy="2304680"/>
          </a:xfrm>
          <a:prstGeom prst="rect">
            <a:avLst/>
          </a:prstGeom>
        </p:spPr>
      </p:pic>
    </p:spTree>
    <p:extLst>
      <p:ext uri="{BB962C8B-B14F-4D97-AF65-F5344CB8AC3E}">
        <p14:creationId xmlns:p14="http://schemas.microsoft.com/office/powerpoint/2010/main" val="127833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A2822"/>
        </a:solidFill>
        <a:effectLst/>
      </p:bgPr>
    </p:bg>
    <p:spTree>
      <p:nvGrpSpPr>
        <p:cNvPr id="1" name=""/>
        <p:cNvGrpSpPr/>
        <p:nvPr/>
      </p:nvGrpSpPr>
      <p:grpSpPr>
        <a:xfrm>
          <a:off x="0" y="0"/>
          <a:ext cx="0" cy="0"/>
          <a:chOff x="0" y="0"/>
          <a:chExt cx="0" cy="0"/>
        </a:xfrm>
      </p:grpSpPr>
      <p:sp>
        <p:nvSpPr>
          <p:cNvPr id="2" name="Rectangle 1"/>
          <p:cNvSpPr/>
          <p:nvPr/>
        </p:nvSpPr>
        <p:spPr>
          <a:xfrm>
            <a:off x="365760" y="0"/>
            <a:ext cx="54864" cy="6858000"/>
          </a:xfrm>
          <a:prstGeom prst="rect">
            <a:avLst/>
          </a:prstGeom>
          <a:solidFill>
            <a:srgbClr val="FF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0" y="0"/>
            <a:ext cx="548640" cy="685800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595360" y="0"/>
            <a:ext cx="548640" cy="2743200"/>
          </a:xfrm>
          <a:prstGeom prst="rect">
            <a:avLst/>
          </a:prstGeom>
          <a:solidFill>
            <a:srgbClr val="F88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93975" y="388600"/>
            <a:ext cx="5624926" cy="1083374"/>
          </a:xfrm>
          <a:prstGeom prst="rect">
            <a:avLst/>
          </a:prstGeom>
          <a:noFill/>
          <a:ln>
            <a:noFill/>
          </a:ln>
        </p:spPr>
        <p:txBody>
          <a:bodyPr wrap="square" lIns="45720" tIns="18288" rIns="45720" bIns="18288">
            <a:spAutoFit/>
          </a:bodyPr>
          <a:lstStyle/>
          <a:p>
            <a:pPr algn="l"/>
            <a:r>
              <a:rPr sz="3400" b="1" i="0" dirty="0" err="1">
                <a:solidFill>
                  <a:srgbClr val="FFFFFF"/>
                </a:solidFill>
                <a:latin typeface="+mj-lt"/>
              </a:rPr>
              <a:t>Наукова</a:t>
            </a:r>
            <a:r>
              <a:rPr sz="3400" b="1" i="0" dirty="0">
                <a:solidFill>
                  <a:srgbClr val="FFFFFF"/>
                </a:solidFill>
                <a:latin typeface="+mj-lt"/>
              </a:rPr>
              <a:t> </a:t>
            </a:r>
            <a:r>
              <a:rPr sz="3400" b="1" i="0" dirty="0" err="1">
                <a:solidFill>
                  <a:srgbClr val="FFFFFF"/>
                </a:solidFill>
                <a:latin typeface="+mj-lt"/>
              </a:rPr>
              <a:t>новизна</a:t>
            </a:r>
            <a:r>
              <a:rPr sz="3400" b="1" i="0" dirty="0">
                <a:solidFill>
                  <a:srgbClr val="FFFFFF"/>
                </a:solidFill>
                <a:latin typeface="+mj-lt"/>
              </a:rPr>
              <a:t> </a:t>
            </a:r>
            <a:r>
              <a:rPr sz="3400" b="1" i="0" dirty="0" err="1">
                <a:solidFill>
                  <a:srgbClr val="FFFFFF"/>
                </a:solidFill>
                <a:latin typeface="+mj-lt"/>
              </a:rPr>
              <a:t>дослідження</a:t>
            </a:r>
            <a:endParaRPr sz="3400" b="1" i="0" dirty="0">
              <a:solidFill>
                <a:srgbClr val="FFFFFF"/>
              </a:solidFill>
              <a:latin typeface="+mj-lt"/>
            </a:endParaRPr>
          </a:p>
        </p:txBody>
      </p:sp>
      <p:sp>
        <p:nvSpPr>
          <p:cNvPr id="7" name="TextBox 6"/>
          <p:cNvSpPr txBox="1"/>
          <p:nvPr/>
        </p:nvSpPr>
        <p:spPr>
          <a:xfrm>
            <a:off x="1188720" y="1705276"/>
            <a:ext cx="7680960" cy="313932"/>
          </a:xfrm>
          <a:prstGeom prst="rect">
            <a:avLst/>
          </a:prstGeom>
          <a:noFill/>
          <a:ln>
            <a:noFill/>
          </a:ln>
        </p:spPr>
        <p:txBody>
          <a:bodyPr wrap="square" lIns="45720" tIns="18288" rIns="45720" bIns="18288">
            <a:spAutoFit/>
          </a:bodyPr>
          <a:lstStyle/>
          <a:p>
            <a:pPr algn="l"/>
            <a:r>
              <a:rPr sz="1800" b="1" i="0" dirty="0" err="1">
                <a:solidFill>
                  <a:srgbClr val="E74C3C"/>
                </a:solidFill>
              </a:rPr>
              <a:t>Уперше</a:t>
            </a:r>
            <a:endParaRPr sz="1800" b="1" i="0" dirty="0">
              <a:solidFill>
                <a:srgbClr val="E74C3C"/>
              </a:solidFill>
            </a:endParaRPr>
          </a:p>
        </p:txBody>
      </p:sp>
      <p:sp>
        <p:nvSpPr>
          <p:cNvPr id="8" name="TextBox 7"/>
          <p:cNvSpPr txBox="1"/>
          <p:nvPr/>
        </p:nvSpPr>
        <p:spPr>
          <a:xfrm>
            <a:off x="1147773" y="2231484"/>
            <a:ext cx="6959990" cy="590931"/>
          </a:xfrm>
          <a:prstGeom prst="rect">
            <a:avLst/>
          </a:prstGeom>
          <a:noFill/>
          <a:ln>
            <a:noFill/>
          </a:ln>
        </p:spPr>
        <p:txBody>
          <a:bodyPr wrap="square" lIns="45720" tIns="18288" rIns="45720" bIns="18288">
            <a:spAutoFit/>
          </a:bodyPr>
          <a:lstStyle/>
          <a:p>
            <a:pPr algn="just"/>
            <a:r>
              <a:rPr sz="1200" b="0" i="0" dirty="0" err="1">
                <a:solidFill>
                  <a:srgbClr val="FFFFFF"/>
                </a:solidFill>
              </a:rPr>
              <a:t>Запропоновано</a:t>
            </a:r>
            <a:r>
              <a:rPr sz="1200" b="0" i="0" dirty="0">
                <a:solidFill>
                  <a:srgbClr val="FFFFFF"/>
                </a:solidFill>
              </a:rPr>
              <a:t> </a:t>
            </a:r>
            <a:r>
              <a:rPr sz="1200" b="0" i="0" dirty="0" err="1">
                <a:solidFill>
                  <a:srgbClr val="FFFFFF"/>
                </a:solidFill>
              </a:rPr>
              <a:t>комплексну</a:t>
            </a:r>
            <a:r>
              <a:rPr sz="1200" b="0" i="0" dirty="0">
                <a:solidFill>
                  <a:srgbClr val="FFFFFF"/>
                </a:solidFill>
              </a:rPr>
              <a:t> </a:t>
            </a:r>
            <a:r>
              <a:rPr lang="uk-UA" sz="1200" dirty="0">
                <a:solidFill>
                  <a:srgbClr val="FFFFFF"/>
                </a:solidFill>
              </a:rPr>
              <a:t>методику</a:t>
            </a:r>
            <a:r>
              <a:rPr sz="1200" b="0" i="0" dirty="0">
                <a:solidFill>
                  <a:srgbClr val="FFFFFF"/>
                </a:solidFill>
              </a:rPr>
              <a:t> </a:t>
            </a:r>
            <a:r>
              <a:rPr sz="1200" b="0" i="0" dirty="0" err="1">
                <a:solidFill>
                  <a:srgbClr val="FFFFFF"/>
                </a:solidFill>
              </a:rPr>
              <a:t>оцінки</a:t>
            </a:r>
            <a:r>
              <a:rPr sz="1200" b="0" i="0" dirty="0">
                <a:solidFill>
                  <a:srgbClr val="FFFFFF"/>
                </a:solidFill>
              </a:rPr>
              <a:t> </a:t>
            </a:r>
            <a:r>
              <a:rPr sz="1200" b="0" i="0" dirty="0" err="1">
                <a:solidFill>
                  <a:srgbClr val="FFFFFF"/>
                </a:solidFill>
              </a:rPr>
              <a:t>ефективності</a:t>
            </a:r>
            <a:r>
              <a:rPr sz="1200" b="0" i="0" dirty="0">
                <a:solidFill>
                  <a:srgbClr val="FFFFFF"/>
                </a:solidFill>
              </a:rPr>
              <a:t> </a:t>
            </a:r>
            <a:r>
              <a:rPr sz="1200" b="0" i="0" dirty="0" err="1">
                <a:solidFill>
                  <a:srgbClr val="FFFFFF"/>
                </a:solidFill>
              </a:rPr>
              <a:t>плагінів</a:t>
            </a:r>
            <a:r>
              <a:rPr sz="1200" b="0" i="0" dirty="0">
                <a:solidFill>
                  <a:srgbClr val="FFFFFF"/>
                </a:solidFill>
              </a:rPr>
              <a:t> </a:t>
            </a:r>
            <a:r>
              <a:rPr sz="1200" b="0" i="0" dirty="0" err="1">
                <a:solidFill>
                  <a:srgbClr val="FFFFFF"/>
                </a:solidFill>
              </a:rPr>
              <a:t>безпеки</a:t>
            </a:r>
            <a:endParaRPr sz="1200" b="0" i="0" dirty="0">
              <a:solidFill>
                <a:srgbClr val="FFFFFF"/>
              </a:solidFill>
            </a:endParaRPr>
          </a:p>
          <a:p>
            <a:pPr algn="just"/>
            <a:r>
              <a:rPr sz="1200" b="0" i="0" dirty="0">
                <a:solidFill>
                  <a:srgbClr val="FFFFFF"/>
                </a:solidFill>
              </a:rPr>
              <a:t>WordPress, </a:t>
            </a:r>
            <a:r>
              <a:rPr sz="1200" b="0" i="0" dirty="0" err="1">
                <a:solidFill>
                  <a:srgbClr val="FFFFFF"/>
                </a:solidFill>
              </a:rPr>
              <a:t>що</a:t>
            </a:r>
            <a:r>
              <a:rPr sz="1200" b="0" i="0" dirty="0">
                <a:solidFill>
                  <a:srgbClr val="FFFFFF"/>
                </a:solidFill>
              </a:rPr>
              <a:t> </a:t>
            </a:r>
            <a:r>
              <a:rPr sz="1200" b="0" i="0" dirty="0" err="1">
                <a:solidFill>
                  <a:srgbClr val="FFFFFF"/>
                </a:solidFill>
              </a:rPr>
              <a:t>поєднує</a:t>
            </a:r>
            <a:r>
              <a:rPr sz="1200" b="0" i="0" dirty="0">
                <a:solidFill>
                  <a:srgbClr val="FFFFFF"/>
                </a:solidFill>
              </a:rPr>
              <a:t> </a:t>
            </a:r>
            <a:r>
              <a:rPr lang="uk-UA" sz="1200" b="0" i="0" dirty="0">
                <a:solidFill>
                  <a:srgbClr val="FFFFFF"/>
                </a:solidFill>
              </a:rPr>
              <a:t>методи та </a:t>
            </a:r>
            <a:r>
              <a:rPr sz="1200" b="0" i="0" dirty="0" err="1">
                <a:solidFill>
                  <a:srgbClr val="FFFFFF"/>
                </a:solidFill>
              </a:rPr>
              <a:t>метрики</a:t>
            </a:r>
            <a:r>
              <a:rPr sz="1200" b="0" i="0" dirty="0">
                <a:solidFill>
                  <a:srgbClr val="FFFFFF"/>
                </a:solidFill>
              </a:rPr>
              <a:t> </a:t>
            </a:r>
            <a:r>
              <a:rPr sz="1200" b="0" i="0" dirty="0" err="1">
                <a:solidFill>
                  <a:srgbClr val="FFFFFF"/>
                </a:solidFill>
              </a:rPr>
              <a:t>детекції</a:t>
            </a:r>
            <a:r>
              <a:rPr sz="1200" b="0" i="0" dirty="0">
                <a:solidFill>
                  <a:srgbClr val="FFFFFF"/>
                </a:solidFill>
              </a:rPr>
              <a:t> (Precision, Recall, F1) </a:t>
            </a:r>
            <a:r>
              <a:rPr sz="1200" b="0" i="0" dirty="0" err="1">
                <a:solidFill>
                  <a:srgbClr val="FFFFFF"/>
                </a:solidFill>
              </a:rPr>
              <a:t>із</a:t>
            </a:r>
            <a:r>
              <a:rPr sz="1200" b="0" i="0" dirty="0">
                <a:solidFill>
                  <a:srgbClr val="FFFFFF"/>
                </a:solidFill>
              </a:rPr>
              <a:t> </a:t>
            </a:r>
            <a:r>
              <a:rPr sz="1200" b="0" i="0" dirty="0" err="1">
                <a:solidFill>
                  <a:srgbClr val="FFFFFF"/>
                </a:solidFill>
              </a:rPr>
              <a:t>показниками</a:t>
            </a:r>
            <a:r>
              <a:rPr sz="1200" b="0" i="0" dirty="0">
                <a:solidFill>
                  <a:srgbClr val="FFFFFF"/>
                </a:solidFill>
              </a:rPr>
              <a:t> </a:t>
            </a:r>
            <a:r>
              <a:rPr sz="1200" b="0" i="0" dirty="0" err="1">
                <a:solidFill>
                  <a:srgbClr val="FFFFFF"/>
                </a:solidFill>
              </a:rPr>
              <a:t>операційної</a:t>
            </a:r>
            <a:r>
              <a:rPr lang="uk-UA" sz="1200" dirty="0">
                <a:solidFill>
                  <a:srgbClr val="FFFFFF"/>
                </a:solidFill>
              </a:rPr>
              <a:t> </a:t>
            </a:r>
            <a:r>
              <a:rPr sz="1200" b="0" i="0" dirty="0" err="1">
                <a:solidFill>
                  <a:srgbClr val="FFFFFF"/>
                </a:solidFill>
              </a:rPr>
              <a:t>стабільності</a:t>
            </a:r>
            <a:r>
              <a:rPr sz="1200" b="0" i="0" dirty="0">
                <a:solidFill>
                  <a:srgbClr val="FFFFFF"/>
                </a:solidFill>
              </a:rPr>
              <a:t> </a:t>
            </a:r>
            <a:r>
              <a:rPr sz="1200" b="0" i="0" dirty="0" err="1">
                <a:solidFill>
                  <a:srgbClr val="FFFFFF"/>
                </a:solidFill>
              </a:rPr>
              <a:t>веб-системи</a:t>
            </a:r>
            <a:r>
              <a:rPr sz="1200" b="0" i="0" dirty="0">
                <a:solidFill>
                  <a:srgbClr val="FFFFFF"/>
                </a:solidFill>
              </a:rPr>
              <a:t>.</a:t>
            </a:r>
          </a:p>
        </p:txBody>
      </p:sp>
      <p:sp>
        <p:nvSpPr>
          <p:cNvPr id="9" name="TextBox 8"/>
          <p:cNvSpPr txBox="1"/>
          <p:nvPr/>
        </p:nvSpPr>
        <p:spPr>
          <a:xfrm>
            <a:off x="1172703" y="3050814"/>
            <a:ext cx="7680960" cy="313932"/>
          </a:xfrm>
          <a:prstGeom prst="rect">
            <a:avLst/>
          </a:prstGeom>
          <a:noFill/>
          <a:ln>
            <a:noFill/>
          </a:ln>
        </p:spPr>
        <p:txBody>
          <a:bodyPr wrap="square" lIns="45720" tIns="18288" rIns="45720" bIns="18288">
            <a:spAutoFit/>
          </a:bodyPr>
          <a:lstStyle/>
          <a:p>
            <a:pPr algn="l"/>
            <a:r>
              <a:rPr sz="1800" b="1" i="0" dirty="0" err="1">
                <a:solidFill>
                  <a:srgbClr val="E74C3C"/>
                </a:solidFill>
              </a:rPr>
              <a:t>Удосконалено</a:t>
            </a:r>
            <a:endParaRPr sz="1800" b="1" i="0" dirty="0">
              <a:solidFill>
                <a:srgbClr val="E74C3C"/>
              </a:solidFill>
            </a:endParaRPr>
          </a:p>
        </p:txBody>
      </p:sp>
      <p:sp>
        <p:nvSpPr>
          <p:cNvPr id="10" name="TextBox 9"/>
          <p:cNvSpPr txBox="1"/>
          <p:nvPr/>
        </p:nvSpPr>
        <p:spPr>
          <a:xfrm>
            <a:off x="1147773" y="3546122"/>
            <a:ext cx="6910130" cy="406265"/>
          </a:xfrm>
          <a:prstGeom prst="rect">
            <a:avLst/>
          </a:prstGeom>
          <a:noFill/>
          <a:ln>
            <a:noFill/>
          </a:ln>
        </p:spPr>
        <p:txBody>
          <a:bodyPr wrap="square" lIns="45720" tIns="18288" rIns="45720" bIns="18288">
            <a:spAutoFit/>
          </a:bodyPr>
          <a:lstStyle/>
          <a:p>
            <a:pPr algn="just"/>
            <a:r>
              <a:rPr sz="1200" b="0" i="0" dirty="0" err="1">
                <a:solidFill>
                  <a:srgbClr val="FFFFFF"/>
                </a:solidFill>
              </a:rPr>
              <a:t>Метод</a:t>
            </a:r>
            <a:r>
              <a:rPr sz="1200" b="0" i="0" dirty="0">
                <a:solidFill>
                  <a:srgbClr val="FFFFFF"/>
                </a:solidFill>
              </a:rPr>
              <a:t> </a:t>
            </a:r>
            <a:r>
              <a:rPr sz="1200" b="0" i="0" dirty="0" err="1">
                <a:solidFill>
                  <a:srgbClr val="FFFFFF"/>
                </a:solidFill>
              </a:rPr>
              <a:t>багатокритеріального</a:t>
            </a:r>
            <a:r>
              <a:rPr sz="1200" b="0" i="0" dirty="0">
                <a:solidFill>
                  <a:srgbClr val="FFFFFF"/>
                </a:solidFill>
              </a:rPr>
              <a:t> </a:t>
            </a:r>
            <a:r>
              <a:rPr sz="1200" b="0" i="0" dirty="0" err="1">
                <a:solidFill>
                  <a:srgbClr val="FFFFFF"/>
                </a:solidFill>
              </a:rPr>
              <a:t>ранжування</a:t>
            </a:r>
            <a:r>
              <a:rPr sz="1200" b="0" i="0" dirty="0">
                <a:solidFill>
                  <a:srgbClr val="FFFFFF"/>
                </a:solidFill>
              </a:rPr>
              <a:t> </a:t>
            </a:r>
            <a:r>
              <a:rPr sz="1200" b="0" i="0" dirty="0" err="1">
                <a:solidFill>
                  <a:srgbClr val="FFFFFF"/>
                </a:solidFill>
              </a:rPr>
              <a:t>плагінів</a:t>
            </a:r>
            <a:r>
              <a:rPr sz="1200" b="0" i="0" dirty="0">
                <a:solidFill>
                  <a:srgbClr val="FFFFFF"/>
                </a:solidFill>
              </a:rPr>
              <a:t> </a:t>
            </a:r>
            <a:r>
              <a:rPr sz="1200" b="0" i="0" dirty="0" err="1">
                <a:solidFill>
                  <a:srgbClr val="FFFFFF"/>
                </a:solidFill>
              </a:rPr>
              <a:t>безпеки</a:t>
            </a:r>
            <a:r>
              <a:rPr sz="1200" b="0" i="0" dirty="0">
                <a:solidFill>
                  <a:srgbClr val="FFFFFF"/>
                </a:solidFill>
              </a:rPr>
              <a:t> </a:t>
            </a:r>
            <a:r>
              <a:rPr sz="1200" b="0" i="0" dirty="0" err="1">
                <a:solidFill>
                  <a:srgbClr val="FFFFFF"/>
                </a:solidFill>
              </a:rPr>
              <a:t>на</a:t>
            </a:r>
            <a:r>
              <a:rPr sz="1200" b="0" i="0" dirty="0">
                <a:solidFill>
                  <a:srgbClr val="FFFFFF"/>
                </a:solidFill>
              </a:rPr>
              <a:t> </a:t>
            </a:r>
            <a:r>
              <a:rPr sz="1200" b="0" i="0" dirty="0" err="1">
                <a:solidFill>
                  <a:srgbClr val="FFFFFF"/>
                </a:solidFill>
              </a:rPr>
              <a:t>основі</a:t>
            </a:r>
            <a:r>
              <a:rPr sz="1200" b="0" i="0" dirty="0">
                <a:solidFill>
                  <a:srgbClr val="FFFFFF"/>
                </a:solidFill>
              </a:rPr>
              <a:t> </a:t>
            </a:r>
            <a:r>
              <a:rPr sz="1200" b="0" i="0" dirty="0" err="1">
                <a:solidFill>
                  <a:srgbClr val="FFFFFF"/>
                </a:solidFill>
              </a:rPr>
              <a:t>методу</a:t>
            </a:r>
            <a:r>
              <a:rPr sz="1200" b="0" i="0" dirty="0">
                <a:solidFill>
                  <a:srgbClr val="FFFFFF"/>
                </a:solidFill>
              </a:rPr>
              <a:t> TOPSIS</a:t>
            </a:r>
          </a:p>
          <a:p>
            <a:pPr algn="just"/>
            <a:r>
              <a:rPr sz="1200" b="0" i="0" dirty="0" err="1">
                <a:solidFill>
                  <a:srgbClr val="FFFFFF"/>
                </a:solidFill>
              </a:rPr>
              <a:t>з</a:t>
            </a:r>
            <a:r>
              <a:rPr sz="1200" b="0" i="0" dirty="0">
                <a:solidFill>
                  <a:srgbClr val="FFFFFF"/>
                </a:solidFill>
              </a:rPr>
              <a:t> </a:t>
            </a:r>
            <a:r>
              <a:rPr sz="1200" b="0" i="0" dirty="0" err="1">
                <a:solidFill>
                  <a:srgbClr val="FFFFFF"/>
                </a:solidFill>
              </a:rPr>
              <a:t>урахуванням</a:t>
            </a:r>
            <a:r>
              <a:rPr sz="1200" b="0" i="0" dirty="0">
                <a:solidFill>
                  <a:srgbClr val="FFFFFF"/>
                </a:solidFill>
              </a:rPr>
              <a:t> 5 </a:t>
            </a:r>
            <a:r>
              <a:rPr sz="1200" b="0" i="0" dirty="0" err="1">
                <a:solidFill>
                  <a:srgbClr val="FFFFFF"/>
                </a:solidFill>
              </a:rPr>
              <a:t>критеріїв</a:t>
            </a:r>
            <a:r>
              <a:rPr sz="1200" b="0" i="0" dirty="0">
                <a:solidFill>
                  <a:srgbClr val="FFFFFF"/>
                </a:solidFill>
              </a:rPr>
              <a:t> </a:t>
            </a:r>
            <a:r>
              <a:rPr sz="1200" b="0" i="0" dirty="0" err="1">
                <a:solidFill>
                  <a:srgbClr val="FFFFFF"/>
                </a:solidFill>
              </a:rPr>
              <a:t>та</a:t>
            </a:r>
            <a:r>
              <a:rPr sz="1200" b="0" i="0" dirty="0">
                <a:solidFill>
                  <a:srgbClr val="FFFFFF"/>
                </a:solidFill>
              </a:rPr>
              <a:t> </a:t>
            </a:r>
            <a:r>
              <a:rPr sz="1200" b="0" i="0" dirty="0" err="1">
                <a:solidFill>
                  <a:srgbClr val="FFFFFF"/>
                </a:solidFill>
              </a:rPr>
              <a:t>контексту</a:t>
            </a:r>
            <a:r>
              <a:rPr sz="1200" b="0" i="0" dirty="0">
                <a:solidFill>
                  <a:srgbClr val="FFFFFF"/>
                </a:solidFill>
              </a:rPr>
              <a:t> </a:t>
            </a:r>
            <a:r>
              <a:rPr sz="1200" b="0" i="0" dirty="0" err="1">
                <a:solidFill>
                  <a:srgbClr val="FFFFFF"/>
                </a:solidFill>
              </a:rPr>
              <a:t>використання</a:t>
            </a:r>
            <a:r>
              <a:rPr sz="1200" b="0" i="0" dirty="0">
                <a:solidFill>
                  <a:srgbClr val="FFFFFF"/>
                </a:solidFill>
              </a:rPr>
              <a:t> (e-commerce, </a:t>
            </a:r>
            <a:r>
              <a:rPr sz="1200" b="0" i="0" dirty="0" err="1">
                <a:solidFill>
                  <a:srgbClr val="FFFFFF"/>
                </a:solidFill>
              </a:rPr>
              <a:t>корпоративний</a:t>
            </a:r>
            <a:r>
              <a:rPr sz="1200" b="0" i="0" dirty="0">
                <a:solidFill>
                  <a:srgbClr val="FFFFFF"/>
                </a:solidFill>
              </a:rPr>
              <a:t> </a:t>
            </a:r>
            <a:r>
              <a:rPr sz="1200" b="0" i="0" dirty="0" err="1">
                <a:solidFill>
                  <a:srgbClr val="FFFFFF"/>
                </a:solidFill>
              </a:rPr>
              <a:t>сайт</a:t>
            </a:r>
            <a:r>
              <a:rPr sz="1200" b="0" i="0" dirty="0">
                <a:solidFill>
                  <a:srgbClr val="FFFFFF"/>
                </a:solidFill>
              </a:rPr>
              <a:t>, </a:t>
            </a:r>
            <a:r>
              <a:rPr sz="1200" b="0" i="0" dirty="0" err="1">
                <a:solidFill>
                  <a:srgbClr val="FFFFFF"/>
                </a:solidFill>
              </a:rPr>
              <a:t>блог</a:t>
            </a:r>
            <a:r>
              <a:rPr sz="1200" b="0" i="0" dirty="0">
                <a:solidFill>
                  <a:srgbClr val="FFFFFF"/>
                </a:solidFill>
              </a:rPr>
              <a:t>).</a:t>
            </a:r>
          </a:p>
        </p:txBody>
      </p:sp>
      <p:sp>
        <p:nvSpPr>
          <p:cNvPr id="11" name="TextBox 10"/>
          <p:cNvSpPr txBox="1"/>
          <p:nvPr/>
        </p:nvSpPr>
        <p:spPr>
          <a:xfrm>
            <a:off x="1147773" y="4134544"/>
            <a:ext cx="7680960" cy="313932"/>
          </a:xfrm>
          <a:prstGeom prst="rect">
            <a:avLst/>
          </a:prstGeom>
          <a:noFill/>
          <a:ln>
            <a:noFill/>
          </a:ln>
        </p:spPr>
        <p:txBody>
          <a:bodyPr wrap="square" lIns="45720" tIns="18288" rIns="45720" bIns="18288">
            <a:spAutoFit/>
          </a:bodyPr>
          <a:lstStyle/>
          <a:p>
            <a:pPr algn="l"/>
            <a:r>
              <a:rPr sz="1800" b="1" i="0" dirty="0" err="1">
                <a:solidFill>
                  <a:srgbClr val="E74C3C"/>
                </a:solidFill>
              </a:rPr>
              <a:t>Набуло</a:t>
            </a:r>
            <a:r>
              <a:rPr sz="1800" b="1" i="0" dirty="0">
                <a:solidFill>
                  <a:srgbClr val="E74C3C"/>
                </a:solidFill>
              </a:rPr>
              <a:t> </a:t>
            </a:r>
            <a:r>
              <a:rPr sz="1800" b="1" i="0" dirty="0" err="1">
                <a:solidFill>
                  <a:srgbClr val="E74C3C"/>
                </a:solidFill>
              </a:rPr>
              <a:t>подальшого</a:t>
            </a:r>
            <a:r>
              <a:rPr sz="1800" b="1" i="0" dirty="0">
                <a:solidFill>
                  <a:srgbClr val="E74C3C"/>
                </a:solidFill>
              </a:rPr>
              <a:t> </a:t>
            </a:r>
            <a:r>
              <a:rPr sz="1800" b="1" i="0" dirty="0" err="1">
                <a:solidFill>
                  <a:srgbClr val="E74C3C"/>
                </a:solidFill>
              </a:rPr>
              <a:t>розвитку</a:t>
            </a:r>
            <a:endParaRPr sz="1800" b="1" i="0" dirty="0">
              <a:solidFill>
                <a:srgbClr val="E74C3C"/>
              </a:solidFill>
            </a:endParaRPr>
          </a:p>
        </p:txBody>
      </p:sp>
      <p:sp>
        <p:nvSpPr>
          <p:cNvPr id="12" name="TextBox 11"/>
          <p:cNvSpPr txBox="1"/>
          <p:nvPr/>
        </p:nvSpPr>
        <p:spPr>
          <a:xfrm>
            <a:off x="1147773" y="4722185"/>
            <a:ext cx="6910130" cy="590931"/>
          </a:xfrm>
          <a:prstGeom prst="rect">
            <a:avLst/>
          </a:prstGeom>
          <a:noFill/>
          <a:ln>
            <a:noFill/>
          </a:ln>
        </p:spPr>
        <p:txBody>
          <a:bodyPr wrap="square" lIns="45720" tIns="18288" rIns="45720" bIns="18288">
            <a:spAutoFit/>
          </a:bodyPr>
          <a:lstStyle/>
          <a:p>
            <a:pPr algn="just"/>
            <a:r>
              <a:rPr sz="1200" b="0" i="0" dirty="0" err="1">
                <a:solidFill>
                  <a:srgbClr val="FFFFFF"/>
                </a:solidFill>
              </a:rPr>
              <a:t>Методика</a:t>
            </a:r>
            <a:r>
              <a:rPr sz="1200" b="0" i="0" dirty="0">
                <a:solidFill>
                  <a:srgbClr val="FFFFFF"/>
                </a:solidFill>
              </a:rPr>
              <a:t> </a:t>
            </a:r>
            <a:r>
              <a:rPr sz="1200" b="0" i="0" dirty="0" err="1">
                <a:solidFill>
                  <a:srgbClr val="FFFFFF"/>
                </a:solidFill>
              </a:rPr>
              <a:t>експериментального</a:t>
            </a:r>
            <a:r>
              <a:rPr sz="1200" b="0" i="0" dirty="0">
                <a:solidFill>
                  <a:srgbClr val="FFFFFF"/>
                </a:solidFill>
              </a:rPr>
              <a:t> </a:t>
            </a:r>
            <a:r>
              <a:rPr sz="1200" b="0" i="0" dirty="0" err="1">
                <a:solidFill>
                  <a:srgbClr val="FFFFFF"/>
                </a:solidFill>
              </a:rPr>
              <a:t>дослідження</a:t>
            </a:r>
            <a:r>
              <a:rPr sz="1200" b="0" i="0" dirty="0">
                <a:solidFill>
                  <a:srgbClr val="FFFFFF"/>
                </a:solidFill>
              </a:rPr>
              <a:t> </a:t>
            </a:r>
            <a:r>
              <a:rPr sz="1200" b="0" i="0" dirty="0" err="1">
                <a:solidFill>
                  <a:srgbClr val="FFFFFF"/>
                </a:solidFill>
              </a:rPr>
              <a:t>ефективності</a:t>
            </a:r>
            <a:r>
              <a:rPr sz="1200" b="0" i="0" dirty="0">
                <a:solidFill>
                  <a:srgbClr val="FFFFFF"/>
                </a:solidFill>
              </a:rPr>
              <a:t> </a:t>
            </a:r>
            <a:r>
              <a:rPr sz="1200" b="0" i="0" dirty="0" err="1">
                <a:solidFill>
                  <a:srgbClr val="FFFFFF"/>
                </a:solidFill>
              </a:rPr>
              <a:t>захисних</a:t>
            </a:r>
            <a:r>
              <a:rPr sz="1200" b="0" i="0" dirty="0">
                <a:solidFill>
                  <a:srgbClr val="FFFFFF"/>
                </a:solidFill>
              </a:rPr>
              <a:t> </a:t>
            </a:r>
            <a:r>
              <a:rPr sz="1200" b="0" i="0" dirty="0" err="1">
                <a:solidFill>
                  <a:srgbClr val="FFFFFF"/>
                </a:solidFill>
              </a:rPr>
              <a:t>інструментів</a:t>
            </a:r>
            <a:r>
              <a:rPr sz="1200" b="0" i="0" dirty="0">
                <a:solidFill>
                  <a:srgbClr val="FFFFFF"/>
                </a:solidFill>
              </a:rPr>
              <a:t> WordPress</a:t>
            </a:r>
          </a:p>
          <a:p>
            <a:pPr algn="just"/>
            <a:r>
              <a:rPr sz="1200" b="0" i="0" dirty="0" err="1">
                <a:solidFill>
                  <a:srgbClr val="FFFFFF"/>
                </a:solidFill>
              </a:rPr>
              <a:t>на</a:t>
            </a:r>
            <a:r>
              <a:rPr sz="1200" b="0" i="0" dirty="0">
                <a:solidFill>
                  <a:srgbClr val="FFFFFF"/>
                </a:solidFill>
              </a:rPr>
              <a:t> </a:t>
            </a:r>
            <a:r>
              <a:rPr sz="1200" b="0" i="0" dirty="0" err="1">
                <a:solidFill>
                  <a:srgbClr val="FFFFFF"/>
                </a:solidFill>
              </a:rPr>
              <a:t>стенді</a:t>
            </a:r>
            <a:r>
              <a:rPr sz="1200" b="0" i="0" dirty="0">
                <a:solidFill>
                  <a:srgbClr val="FFFFFF"/>
                </a:solidFill>
              </a:rPr>
              <a:t> </a:t>
            </a:r>
            <a:r>
              <a:rPr sz="1200" b="0" i="0" dirty="0" err="1">
                <a:solidFill>
                  <a:srgbClr val="FFFFFF"/>
                </a:solidFill>
              </a:rPr>
              <a:t>з</a:t>
            </a:r>
            <a:r>
              <a:rPr sz="1200" b="0" i="0" dirty="0">
                <a:solidFill>
                  <a:srgbClr val="FFFFFF"/>
                </a:solidFill>
              </a:rPr>
              <a:t> 51 </a:t>
            </a:r>
            <a:r>
              <a:rPr sz="1200" b="0" i="0" dirty="0" err="1">
                <a:solidFill>
                  <a:srgbClr val="FFFFFF"/>
                </a:solidFill>
              </a:rPr>
              <a:t>відомою</a:t>
            </a:r>
            <a:r>
              <a:rPr sz="1200" b="0" i="0" dirty="0">
                <a:solidFill>
                  <a:srgbClr val="FFFFFF"/>
                </a:solidFill>
              </a:rPr>
              <a:t> CVE</a:t>
            </a:r>
            <a:r>
              <a:rPr lang="uk-UA" sz="1200" b="0" i="0" dirty="0">
                <a:solidFill>
                  <a:srgbClr val="FFFFFF"/>
                </a:solidFill>
              </a:rPr>
              <a:t>(публічна база відомих </a:t>
            </a:r>
            <a:r>
              <a:rPr lang="uk-UA" sz="1200" b="0" i="0" dirty="0" err="1">
                <a:solidFill>
                  <a:srgbClr val="FFFFFF"/>
                </a:solidFill>
              </a:rPr>
              <a:t>уразливостей</a:t>
            </a:r>
            <a:r>
              <a:rPr lang="uk-UA" sz="1200" b="0" i="0" dirty="0">
                <a:solidFill>
                  <a:srgbClr val="FFFFFF"/>
                </a:solidFill>
              </a:rPr>
              <a:t> ПЗ)</a:t>
            </a:r>
            <a:r>
              <a:rPr sz="1200" b="0" i="0" dirty="0">
                <a:solidFill>
                  <a:srgbClr val="FFFFFF"/>
                </a:solidFill>
              </a:rPr>
              <a:t>-</a:t>
            </a:r>
            <a:r>
              <a:rPr sz="1200" b="0" i="0" dirty="0" err="1">
                <a:solidFill>
                  <a:srgbClr val="FFFFFF"/>
                </a:solidFill>
              </a:rPr>
              <a:t>уразливіст</a:t>
            </a:r>
            <a:r>
              <a:rPr lang="ru-RU" sz="1200" b="0" i="0" dirty="0">
                <a:solidFill>
                  <a:srgbClr val="FFFFFF"/>
                </a:solidFill>
              </a:rPr>
              <a:t>ю</a:t>
            </a:r>
            <a:r>
              <a:rPr sz="1200" b="0" i="0" dirty="0">
                <a:solidFill>
                  <a:srgbClr val="FFFFFF"/>
                </a:solidFill>
              </a:rPr>
              <a:t> </a:t>
            </a:r>
            <a:r>
              <a:rPr sz="1200" b="0" i="0" dirty="0" err="1">
                <a:solidFill>
                  <a:srgbClr val="FFFFFF"/>
                </a:solidFill>
              </a:rPr>
              <a:t>та</a:t>
            </a:r>
            <a:r>
              <a:rPr sz="1200" b="0" i="0" dirty="0">
                <a:solidFill>
                  <a:srgbClr val="FFFFFF"/>
                </a:solidFill>
              </a:rPr>
              <a:t> </a:t>
            </a:r>
            <a:r>
              <a:rPr sz="1200" b="0" i="0" dirty="0" err="1">
                <a:solidFill>
                  <a:srgbClr val="FFFFFF"/>
                </a:solidFill>
              </a:rPr>
              <a:t>аналізом</a:t>
            </a:r>
            <a:r>
              <a:rPr sz="1200" b="0" i="0" dirty="0">
                <a:solidFill>
                  <a:srgbClr val="FFFFFF"/>
                </a:solidFill>
              </a:rPr>
              <a:t> </a:t>
            </a:r>
            <a:r>
              <a:rPr sz="1200" b="0" i="0" dirty="0" err="1">
                <a:solidFill>
                  <a:srgbClr val="FFFFFF"/>
                </a:solidFill>
              </a:rPr>
              <a:t>продуктивності</a:t>
            </a:r>
            <a:r>
              <a:rPr sz="1200" b="0" i="0" dirty="0">
                <a:solidFill>
                  <a:srgbClr val="FFFFFF"/>
                </a:solidFill>
              </a:rPr>
              <a:t> </a:t>
            </a:r>
            <a:r>
              <a:rPr sz="1200" b="0" i="0" dirty="0" err="1">
                <a:solidFill>
                  <a:srgbClr val="FFFFFF"/>
                </a:solidFill>
              </a:rPr>
              <a:t>в</a:t>
            </a:r>
            <a:r>
              <a:rPr sz="1200" b="0" i="0" dirty="0">
                <a:solidFill>
                  <a:srgbClr val="FFFFFF"/>
                </a:solidFill>
              </a:rPr>
              <a:t> </a:t>
            </a:r>
            <a:r>
              <a:rPr sz="1200" b="0" i="0" dirty="0" err="1">
                <a:solidFill>
                  <a:srgbClr val="FFFFFF"/>
                </a:solidFill>
              </a:rPr>
              <a:t>умовах</a:t>
            </a:r>
            <a:r>
              <a:rPr sz="1200" b="0" i="0" dirty="0">
                <a:solidFill>
                  <a:srgbClr val="FFFFFF"/>
                </a:solidFill>
              </a:rPr>
              <a:t> </a:t>
            </a:r>
            <a:r>
              <a:rPr sz="1200" b="0" i="0" dirty="0" err="1">
                <a:solidFill>
                  <a:srgbClr val="FFFFFF"/>
                </a:solidFill>
              </a:rPr>
              <a:t>реального</a:t>
            </a:r>
            <a:r>
              <a:rPr lang="uk-UA" sz="1200" dirty="0">
                <a:solidFill>
                  <a:srgbClr val="FFFFFF"/>
                </a:solidFill>
              </a:rPr>
              <a:t> </a:t>
            </a:r>
            <a:r>
              <a:rPr sz="1200" b="0" i="0" dirty="0">
                <a:solidFill>
                  <a:srgbClr val="FFFFFF"/>
                </a:solidFill>
              </a:rPr>
              <a:t>e-commerce </a:t>
            </a:r>
            <a:r>
              <a:rPr sz="1200" b="0" i="0" dirty="0" err="1">
                <a:solidFill>
                  <a:srgbClr val="FFFFFF"/>
                </a:solidFill>
              </a:rPr>
              <a:t>навантаження</a:t>
            </a:r>
            <a:r>
              <a:rPr sz="1200" b="0" i="0" dirty="0">
                <a:solidFill>
                  <a:srgbClr val="FFFFFF"/>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lumMod val="5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28" name="Freeform: Shape 27">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30" name="Picture 29">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2" name="Rectangle 31">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590693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6" name="Rectangle 3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8" name="Oval 37">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421698"/>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95089" y="311617"/>
            <a:ext cx="7295776" cy="1077229"/>
          </a:xfrm>
        </p:spPr>
        <p:txBody>
          <a:bodyPr vert="horz" lIns="91440" tIns="45720" rIns="91440" bIns="45720" rtlCol="0" anchor="t">
            <a:normAutofit/>
          </a:bodyPr>
          <a:lstStyle/>
          <a:p>
            <a:pPr algn="l" defTabSz="914400">
              <a:defRPr sz="3400" b="1"/>
            </a:pPr>
            <a:r>
              <a:rPr lang="en-US" sz="3300" dirty="0" err="1"/>
              <a:t>Огляд</a:t>
            </a:r>
            <a:r>
              <a:rPr lang="en-US" sz="3300" dirty="0"/>
              <a:t> </a:t>
            </a:r>
            <a:r>
              <a:rPr lang="en-US" sz="3300" dirty="0" err="1"/>
              <a:t>підходів</a:t>
            </a:r>
            <a:r>
              <a:rPr lang="en-US" sz="3300" dirty="0"/>
              <a:t> </a:t>
            </a:r>
            <a:r>
              <a:rPr lang="en-US" sz="3300" dirty="0" err="1"/>
              <a:t>до</a:t>
            </a:r>
            <a:r>
              <a:rPr lang="en-US" sz="3300" dirty="0"/>
              <a:t> </a:t>
            </a:r>
            <a:r>
              <a:rPr lang="en-US" sz="3300" dirty="0" err="1"/>
              <a:t>захисту</a:t>
            </a:r>
            <a:r>
              <a:rPr lang="en-US" sz="3300" dirty="0"/>
              <a:t> WordPress</a:t>
            </a:r>
          </a:p>
        </p:txBody>
      </p:sp>
      <p:sp>
        <p:nvSpPr>
          <p:cNvPr id="3" name="TextBox 2"/>
          <p:cNvSpPr txBox="1"/>
          <p:nvPr/>
        </p:nvSpPr>
        <p:spPr>
          <a:xfrm>
            <a:off x="941602" y="1532265"/>
            <a:ext cx="8013246" cy="4552012"/>
          </a:xfrm>
          <a:prstGeom prst="rect">
            <a:avLst/>
          </a:prstGeom>
        </p:spPr>
        <p:txBody>
          <a:bodyPr vert="horz" lIns="91440" tIns="45720" rIns="91440" bIns="45720" rtlCol="0" anchor="t">
            <a:normAutofit/>
          </a:bodyPr>
          <a:lstStyle/>
          <a:p>
            <a:pPr algn="just" defTabSz="914400">
              <a:lnSpc>
                <a:spcPct val="120000"/>
              </a:lnSpc>
              <a:spcBef>
                <a:spcPts val="500"/>
              </a:spcBef>
              <a:spcAft>
                <a:spcPts val="600"/>
              </a:spcAft>
              <a:buClr>
                <a:schemeClr val="accent6"/>
              </a:buClr>
              <a:buSzPct val="90000"/>
              <a:defRPr sz="1800"/>
            </a:pPr>
            <a:r>
              <a:rPr lang="ru-RU" sz="1400" dirty="0" err="1"/>
              <a:t>Захист</a:t>
            </a:r>
            <a:r>
              <a:rPr lang="ru-RU" sz="1400" dirty="0"/>
              <a:t> </a:t>
            </a:r>
            <a:r>
              <a:rPr lang="en-US" sz="1400" dirty="0"/>
              <a:t>WordPress </a:t>
            </a:r>
            <a:r>
              <a:rPr lang="ru-RU" sz="1400" dirty="0" err="1"/>
              <a:t>включає</a:t>
            </a:r>
            <a:r>
              <a:rPr lang="ru-RU" sz="1400" dirty="0"/>
              <a:t> </a:t>
            </a:r>
            <a:r>
              <a:rPr lang="ru-RU" sz="1400" dirty="0" err="1"/>
              <a:t>чотири</a:t>
            </a:r>
            <a:r>
              <a:rPr lang="ru-RU" sz="1400" dirty="0"/>
              <a:t> </a:t>
            </a:r>
            <a:r>
              <a:rPr lang="ru-RU" sz="1400" dirty="0" err="1"/>
              <a:t>основні</a:t>
            </a:r>
            <a:r>
              <a:rPr lang="ru-RU" sz="1400" dirty="0"/>
              <a:t> </a:t>
            </a:r>
            <a:r>
              <a:rPr lang="ru-RU" sz="1400" dirty="0" err="1"/>
              <a:t>групи</a:t>
            </a:r>
            <a:r>
              <a:rPr lang="ru-RU" sz="1400" dirty="0"/>
              <a:t> </a:t>
            </a:r>
            <a:r>
              <a:rPr lang="ru-RU" sz="1400" dirty="0" err="1"/>
              <a:t>підходів</a:t>
            </a:r>
            <a:r>
              <a:rPr lang="ru-RU" sz="1400" dirty="0"/>
              <a:t>: </a:t>
            </a:r>
          </a:p>
          <a:p>
            <a:pPr marL="342900" indent="-342900" algn="just" defTabSz="914400">
              <a:lnSpc>
                <a:spcPct val="120000"/>
              </a:lnSpc>
              <a:spcBef>
                <a:spcPts val="500"/>
              </a:spcBef>
              <a:spcAft>
                <a:spcPts val="600"/>
              </a:spcAft>
              <a:buClr>
                <a:schemeClr val="accent6"/>
              </a:buClr>
              <a:buSzPct val="90000"/>
              <a:buAutoNum type="arabicPeriod"/>
              <a:defRPr sz="1800"/>
            </a:pPr>
            <a:r>
              <a:rPr lang="ru-RU" sz="1400" dirty="0" err="1"/>
              <a:t>Офіційні</a:t>
            </a:r>
            <a:r>
              <a:rPr lang="ru-RU" sz="1400" dirty="0"/>
              <a:t> </a:t>
            </a:r>
            <a:r>
              <a:rPr lang="ru-RU" sz="1400" dirty="0" err="1"/>
              <a:t>рекомендації</a:t>
            </a:r>
            <a:r>
              <a:rPr lang="ru-RU" sz="1400" dirty="0"/>
              <a:t> (</a:t>
            </a:r>
            <a:r>
              <a:rPr lang="en" sz="1400" dirty="0" err="1"/>
              <a:t>WordPress.org</a:t>
            </a:r>
            <a:r>
              <a:rPr lang="en" sz="1400" dirty="0"/>
              <a:t> [1], OWASP [2]): </a:t>
            </a:r>
            <a:r>
              <a:rPr lang="ru-RU" sz="1400" dirty="0" err="1"/>
              <a:t>регулярні</a:t>
            </a:r>
            <a:r>
              <a:rPr lang="ru-RU" sz="1400" dirty="0"/>
              <a:t> </a:t>
            </a:r>
            <a:r>
              <a:rPr lang="ru-RU" sz="1400" dirty="0" err="1"/>
              <a:t>оновлення</a:t>
            </a:r>
            <a:r>
              <a:rPr lang="ru-RU" sz="1400" dirty="0"/>
              <a:t>, принцип </a:t>
            </a:r>
            <a:r>
              <a:rPr lang="ru-RU" sz="1400" dirty="0" err="1"/>
              <a:t>найменших</a:t>
            </a:r>
            <a:r>
              <a:rPr lang="ru-RU" sz="1400" dirty="0"/>
              <a:t> </a:t>
            </a:r>
            <a:r>
              <a:rPr lang="ru-RU" sz="1400" dirty="0" err="1"/>
              <a:t>привілеїв</a:t>
            </a:r>
            <a:r>
              <a:rPr lang="ru-RU" sz="1400" dirty="0"/>
              <a:t>, </a:t>
            </a:r>
            <a:r>
              <a:rPr lang="ru-RU" sz="1400" dirty="0" err="1"/>
              <a:t>резервне</a:t>
            </a:r>
            <a:r>
              <a:rPr lang="ru-RU" sz="1400" dirty="0"/>
              <a:t> </a:t>
            </a:r>
            <a:r>
              <a:rPr lang="ru-RU" sz="1400" dirty="0" err="1"/>
              <a:t>копіювання</a:t>
            </a:r>
            <a:r>
              <a:rPr lang="ru-RU" sz="1400" dirty="0"/>
              <a:t> </a:t>
            </a:r>
          </a:p>
          <a:p>
            <a:pPr marL="342900" indent="-342900" algn="just" defTabSz="914400">
              <a:lnSpc>
                <a:spcPct val="120000"/>
              </a:lnSpc>
              <a:spcBef>
                <a:spcPts val="500"/>
              </a:spcBef>
              <a:spcAft>
                <a:spcPts val="600"/>
              </a:spcAft>
              <a:buClr>
                <a:schemeClr val="accent6"/>
              </a:buClr>
              <a:buSzPct val="90000"/>
              <a:buAutoNum type="arabicPeriod"/>
              <a:defRPr sz="1800"/>
            </a:pPr>
            <a:r>
              <a:rPr lang="ru-RU" sz="1400" dirty="0" err="1"/>
              <a:t>Плагіни</a:t>
            </a:r>
            <a:r>
              <a:rPr lang="ru-RU" sz="1400" dirty="0"/>
              <a:t> </a:t>
            </a:r>
            <a:r>
              <a:rPr lang="ru-RU" sz="1400" dirty="0" err="1"/>
              <a:t>безпеки</a:t>
            </a:r>
            <a:r>
              <a:rPr lang="ru-RU" sz="1400" dirty="0"/>
              <a:t> [3]: </a:t>
            </a:r>
            <a:r>
              <a:rPr lang="ru-RU" sz="1400" dirty="0" err="1"/>
              <a:t>сканування</a:t>
            </a:r>
            <a:r>
              <a:rPr lang="ru-RU" sz="1400" dirty="0"/>
              <a:t> </a:t>
            </a:r>
            <a:r>
              <a:rPr lang="ru-RU" sz="1400" dirty="0" err="1"/>
              <a:t>вразливостей</a:t>
            </a:r>
            <a:r>
              <a:rPr lang="ru-RU" sz="1400" dirty="0"/>
              <a:t>, контроль </a:t>
            </a:r>
            <a:r>
              <a:rPr lang="ru-RU" sz="1400" dirty="0" err="1"/>
              <a:t>цілісності</a:t>
            </a:r>
            <a:r>
              <a:rPr lang="ru-RU" sz="1400" dirty="0"/>
              <a:t> </a:t>
            </a:r>
            <a:r>
              <a:rPr lang="ru-RU" sz="1400" dirty="0" err="1"/>
              <a:t>файлів</a:t>
            </a:r>
            <a:r>
              <a:rPr lang="ru-RU" sz="1400" dirty="0"/>
              <a:t>, </a:t>
            </a:r>
            <a:r>
              <a:rPr lang="ru-RU" sz="1400" dirty="0" err="1"/>
              <a:t>захист</a:t>
            </a:r>
            <a:r>
              <a:rPr lang="ru-RU" sz="1400" dirty="0"/>
              <a:t> </a:t>
            </a:r>
            <a:r>
              <a:rPr lang="ru-RU" sz="1400" dirty="0" err="1"/>
              <a:t>від</a:t>
            </a:r>
            <a:r>
              <a:rPr lang="ru-RU" sz="1400" dirty="0"/>
              <a:t> </a:t>
            </a:r>
            <a:r>
              <a:rPr lang="en" sz="1400" dirty="0"/>
              <a:t>brute force, WAF-</a:t>
            </a:r>
            <a:r>
              <a:rPr lang="ru-RU" sz="1400" dirty="0" err="1"/>
              <a:t>механізми</a:t>
            </a:r>
            <a:r>
              <a:rPr lang="ru-RU" sz="1400" dirty="0"/>
              <a:t> </a:t>
            </a:r>
          </a:p>
          <a:p>
            <a:pPr marL="342900" indent="-342900" algn="just" defTabSz="914400">
              <a:lnSpc>
                <a:spcPct val="120000"/>
              </a:lnSpc>
              <a:spcBef>
                <a:spcPts val="500"/>
              </a:spcBef>
              <a:spcAft>
                <a:spcPts val="600"/>
              </a:spcAft>
              <a:buClr>
                <a:schemeClr val="accent6"/>
              </a:buClr>
              <a:buSzPct val="90000"/>
              <a:buAutoNum type="arabicPeriod"/>
              <a:defRPr sz="1800"/>
            </a:pPr>
            <a:r>
              <a:rPr lang="ru-RU" sz="1400" dirty="0" err="1"/>
              <a:t>Хмарні</a:t>
            </a:r>
            <a:r>
              <a:rPr lang="ru-RU" sz="1400" dirty="0"/>
              <a:t> </a:t>
            </a:r>
            <a:r>
              <a:rPr lang="en" sz="1400" dirty="0"/>
              <a:t>WAF-</a:t>
            </a:r>
            <a:r>
              <a:rPr lang="ru-RU" sz="1400" dirty="0" err="1"/>
              <a:t>рішення</a:t>
            </a:r>
            <a:r>
              <a:rPr lang="ru-RU" sz="1400" dirty="0"/>
              <a:t>: </a:t>
            </a:r>
            <a:r>
              <a:rPr lang="en" sz="1400" dirty="0"/>
              <a:t>Cloudflare [4], </a:t>
            </a:r>
            <a:r>
              <a:rPr lang="en" sz="1400" dirty="0" err="1"/>
              <a:t>Sucuri</a:t>
            </a:r>
            <a:r>
              <a:rPr lang="en" sz="1400" dirty="0"/>
              <a:t> Firewall [5] </a:t>
            </a:r>
            <a:endParaRPr lang="uk-UA" sz="1400" dirty="0"/>
          </a:p>
          <a:p>
            <a:pPr marL="342900" indent="-342900" algn="just" defTabSz="914400">
              <a:lnSpc>
                <a:spcPct val="120000"/>
              </a:lnSpc>
              <a:spcBef>
                <a:spcPts val="500"/>
              </a:spcBef>
              <a:spcAft>
                <a:spcPts val="600"/>
              </a:spcAft>
              <a:buClr>
                <a:schemeClr val="accent6"/>
              </a:buClr>
              <a:buSzPct val="90000"/>
              <a:buAutoNum type="arabicPeriod"/>
              <a:defRPr sz="1800"/>
            </a:pPr>
            <a:r>
              <a:rPr lang="ru-RU" sz="1400" dirty="0" err="1"/>
              <a:t>Академічні</a:t>
            </a:r>
            <a:r>
              <a:rPr lang="ru-RU" sz="1400" dirty="0"/>
              <a:t> </a:t>
            </a:r>
            <a:r>
              <a:rPr lang="ru-RU" sz="1400" dirty="0" err="1"/>
              <a:t>моделі</a:t>
            </a:r>
            <a:r>
              <a:rPr lang="ru-RU" sz="1400" dirty="0"/>
              <a:t> </a:t>
            </a:r>
            <a:r>
              <a:rPr lang="ru-RU" sz="1400" dirty="0" err="1"/>
              <a:t>багаторівневого</a:t>
            </a:r>
            <a:r>
              <a:rPr lang="ru-RU" sz="1400" dirty="0"/>
              <a:t> </a:t>
            </a:r>
            <a:r>
              <a:rPr lang="ru-RU" sz="1400" dirty="0" err="1"/>
              <a:t>захисту</a:t>
            </a:r>
            <a:r>
              <a:rPr lang="ru-RU" sz="1400" dirty="0"/>
              <a:t>: </a:t>
            </a:r>
            <a:r>
              <a:rPr lang="en" sz="1400" dirty="0" err="1"/>
              <a:t>Trunde</a:t>
            </a:r>
            <a:r>
              <a:rPr lang="en" sz="1400" dirty="0"/>
              <a:t> &amp; </a:t>
            </a:r>
            <a:r>
              <a:rPr lang="en" sz="1400" dirty="0" err="1"/>
              <a:t>Weippl</a:t>
            </a:r>
            <a:r>
              <a:rPr lang="en" sz="1400" dirty="0"/>
              <a:t> (2015) [6], Patil et al. (2019) [7]</a:t>
            </a:r>
            <a:endParaRPr lang="ru-RU" sz="1400" dirty="0"/>
          </a:p>
          <a:p>
            <a:pPr algn="just" defTabSz="914400">
              <a:lnSpc>
                <a:spcPct val="120000"/>
              </a:lnSpc>
              <a:spcBef>
                <a:spcPts val="500"/>
              </a:spcBef>
              <a:spcAft>
                <a:spcPts val="600"/>
              </a:spcAft>
              <a:buClr>
                <a:schemeClr val="accent6"/>
              </a:buClr>
              <a:buSzPct val="90000"/>
              <a:defRPr sz="1800"/>
            </a:pPr>
            <a:endParaRPr lang="ru-RU" sz="1400" dirty="0"/>
          </a:p>
          <a:p>
            <a:pPr algn="just" defTabSz="914400">
              <a:lnSpc>
                <a:spcPct val="120000"/>
              </a:lnSpc>
              <a:spcBef>
                <a:spcPts val="500"/>
              </a:spcBef>
              <a:spcAft>
                <a:spcPts val="600"/>
              </a:spcAft>
              <a:buClr>
                <a:schemeClr val="accent6"/>
              </a:buClr>
              <a:buSzPct val="90000"/>
              <a:defRPr sz="1800"/>
            </a:pPr>
            <a:r>
              <a:rPr lang="ru-RU" sz="1400" dirty="0" err="1"/>
              <a:t>Однак</a:t>
            </a:r>
            <a:r>
              <a:rPr lang="ru-RU" sz="1400" dirty="0"/>
              <a:t> </a:t>
            </a:r>
            <a:r>
              <a:rPr lang="ru-RU" sz="1400" dirty="0" err="1"/>
              <a:t>жоден</a:t>
            </a:r>
            <a:r>
              <a:rPr lang="ru-RU" sz="1400" dirty="0"/>
              <a:t> з </a:t>
            </a:r>
            <a:r>
              <a:rPr lang="ru-RU" sz="1400" dirty="0" err="1"/>
              <a:t>підходів</a:t>
            </a:r>
            <a:r>
              <a:rPr lang="ru-RU" sz="1400" dirty="0"/>
              <a:t> </a:t>
            </a:r>
            <a:r>
              <a:rPr lang="ru-RU" sz="1400" dirty="0" err="1"/>
              <a:t>самостійно</a:t>
            </a:r>
            <a:r>
              <a:rPr lang="ru-RU" sz="1400" dirty="0"/>
              <a:t> не </a:t>
            </a:r>
            <a:r>
              <a:rPr lang="ru-RU" sz="1400" dirty="0" err="1"/>
              <a:t>забезпечує</a:t>
            </a:r>
            <a:r>
              <a:rPr lang="ru-RU" sz="1400" dirty="0"/>
              <a:t> </a:t>
            </a:r>
            <a:r>
              <a:rPr lang="ru-RU" sz="1400" dirty="0" err="1"/>
              <a:t>повного</a:t>
            </a:r>
            <a:r>
              <a:rPr lang="ru-RU" sz="1400" dirty="0"/>
              <a:t> </a:t>
            </a:r>
            <a:r>
              <a:rPr lang="ru-RU" sz="1400" dirty="0" err="1"/>
              <a:t>захисту</a:t>
            </a:r>
            <a:r>
              <a:rPr lang="ru-RU" sz="1400" dirty="0"/>
              <a:t>: </a:t>
            </a:r>
            <a:r>
              <a:rPr lang="ru-RU" sz="1400" dirty="0" err="1"/>
              <a:t>офіційні</a:t>
            </a:r>
            <a:r>
              <a:rPr lang="ru-RU" sz="1400" dirty="0"/>
              <a:t> </a:t>
            </a:r>
            <a:r>
              <a:rPr lang="ru-RU" sz="1400" dirty="0" err="1"/>
              <a:t>рекомендації</a:t>
            </a:r>
            <a:r>
              <a:rPr lang="ru-RU" sz="1400" dirty="0"/>
              <a:t> не </a:t>
            </a:r>
            <a:r>
              <a:rPr lang="ru-RU" sz="1400" dirty="0" err="1"/>
              <a:t>виявляють</a:t>
            </a:r>
            <a:r>
              <a:rPr lang="ru-RU" sz="1400" dirty="0"/>
              <a:t> </a:t>
            </a:r>
            <a:r>
              <a:rPr lang="ru-RU" sz="1400" dirty="0" err="1"/>
              <a:t>активних</a:t>
            </a:r>
            <a:r>
              <a:rPr lang="ru-RU" sz="1400" dirty="0"/>
              <a:t> </a:t>
            </a:r>
            <a:r>
              <a:rPr lang="ru-RU" sz="1400" dirty="0" err="1"/>
              <a:t>загроз</a:t>
            </a:r>
            <a:r>
              <a:rPr lang="ru-RU" sz="1400" dirty="0"/>
              <a:t>, </a:t>
            </a:r>
            <a:r>
              <a:rPr lang="ru-RU" sz="1400" dirty="0" err="1"/>
              <a:t>плагіни</a:t>
            </a:r>
            <a:r>
              <a:rPr lang="ru-RU" sz="1400" dirty="0"/>
              <a:t> </a:t>
            </a:r>
            <a:r>
              <a:rPr lang="ru-RU" sz="1400" dirty="0" err="1"/>
              <a:t>безпеки</a:t>
            </a:r>
            <a:r>
              <a:rPr lang="ru-RU" sz="1400" dirty="0"/>
              <a:t> </a:t>
            </a:r>
            <a:r>
              <a:rPr lang="ru-RU" sz="1400" dirty="0" err="1"/>
              <a:t>орієнтовані</a:t>
            </a:r>
            <a:r>
              <a:rPr lang="ru-RU" sz="1400" dirty="0"/>
              <a:t> на </a:t>
            </a:r>
            <a:r>
              <a:rPr lang="ru-RU" sz="1400" dirty="0" err="1"/>
              <a:t>різні</a:t>
            </a:r>
            <a:r>
              <a:rPr lang="ru-RU" sz="1400" dirty="0"/>
              <a:t> </a:t>
            </a:r>
            <a:r>
              <a:rPr lang="ru-RU" sz="1400" dirty="0" err="1"/>
              <a:t>рівні</a:t>
            </a:r>
            <a:r>
              <a:rPr lang="ru-RU" sz="1400" dirty="0"/>
              <a:t> </a:t>
            </a:r>
            <a:r>
              <a:rPr lang="ru-RU" sz="1400" dirty="0" err="1"/>
              <a:t>захисту</a:t>
            </a:r>
            <a:r>
              <a:rPr lang="ru-RU" sz="1400" dirty="0"/>
              <a:t> та </a:t>
            </a:r>
            <a:r>
              <a:rPr lang="ru-RU" sz="1400" dirty="0" err="1"/>
              <a:t>потребують</a:t>
            </a:r>
            <a:r>
              <a:rPr lang="ru-RU" sz="1400" dirty="0"/>
              <a:t> </a:t>
            </a:r>
            <a:r>
              <a:rPr lang="ru-RU" sz="1400" dirty="0" err="1"/>
              <a:t>об'єктивного</a:t>
            </a:r>
            <a:r>
              <a:rPr lang="ru-RU" sz="1400" dirty="0"/>
              <a:t> </a:t>
            </a:r>
            <a:r>
              <a:rPr lang="ru-RU" sz="1400" dirty="0" err="1"/>
              <a:t>порівняння</a:t>
            </a:r>
            <a:r>
              <a:rPr lang="ru-RU" sz="1400" dirty="0"/>
              <a:t>, </a:t>
            </a:r>
            <a:r>
              <a:rPr lang="ru-RU" sz="1400" dirty="0" err="1"/>
              <a:t>хмарні</a:t>
            </a:r>
            <a:r>
              <a:rPr lang="ru-RU" sz="1400" dirty="0"/>
              <a:t> </a:t>
            </a:r>
            <a:r>
              <a:rPr lang="en-US" sz="1400" dirty="0"/>
              <a:t>WAF </a:t>
            </a:r>
            <a:r>
              <a:rPr lang="ru-RU" sz="1400" dirty="0" err="1"/>
              <a:t>потребують</a:t>
            </a:r>
            <a:r>
              <a:rPr lang="ru-RU" sz="1400" dirty="0"/>
              <a:t> </a:t>
            </a:r>
            <a:r>
              <a:rPr lang="ru-RU" sz="1400" dirty="0" err="1"/>
              <a:t>перенаправлення</a:t>
            </a:r>
            <a:r>
              <a:rPr lang="ru-RU" sz="1400" dirty="0"/>
              <a:t> </a:t>
            </a:r>
            <a:r>
              <a:rPr lang="ru-RU" sz="1400" dirty="0" err="1"/>
              <a:t>трафіку</a:t>
            </a:r>
            <a:r>
              <a:rPr lang="ru-RU" sz="1400" dirty="0"/>
              <a:t> та оплати, </a:t>
            </a:r>
            <a:r>
              <a:rPr lang="ru-RU" sz="1400" dirty="0" err="1"/>
              <a:t>академічні</a:t>
            </a:r>
            <a:r>
              <a:rPr lang="ru-RU" sz="1400" dirty="0"/>
              <a:t> </a:t>
            </a:r>
            <a:r>
              <a:rPr lang="ru-RU" sz="1400" dirty="0" err="1"/>
              <a:t>моделі</a:t>
            </a:r>
            <a:r>
              <a:rPr lang="ru-RU" sz="1400" dirty="0"/>
              <a:t> </a:t>
            </a:r>
            <a:r>
              <a:rPr lang="ru-RU" sz="1400" dirty="0" err="1"/>
              <a:t>залишаються</a:t>
            </a:r>
            <a:r>
              <a:rPr lang="ru-RU" sz="1400" dirty="0"/>
              <a:t> </a:t>
            </a:r>
            <a:r>
              <a:rPr lang="ru-RU" sz="1400" dirty="0" err="1"/>
              <a:t>переважно</a:t>
            </a:r>
            <a:r>
              <a:rPr lang="ru-RU" sz="1400" dirty="0"/>
              <a:t> </a:t>
            </a:r>
            <a:r>
              <a:rPr lang="ru-RU" sz="1400" dirty="0" err="1"/>
              <a:t>теоретичними</a:t>
            </a:r>
            <a:r>
              <a:rPr lang="ru-RU" sz="1400" dirty="0"/>
              <a:t>. </a:t>
            </a:r>
            <a:r>
              <a:rPr lang="ru-RU" sz="1400" dirty="0" err="1"/>
              <a:t>Це</a:t>
            </a:r>
            <a:r>
              <a:rPr lang="ru-RU" sz="1400" dirty="0"/>
              <a:t> </a:t>
            </a:r>
            <a:r>
              <a:rPr lang="ru-RU" sz="1400" dirty="0" err="1"/>
              <a:t>обґрунтовує</a:t>
            </a:r>
            <a:r>
              <a:rPr lang="ru-RU" sz="1400" dirty="0"/>
              <a:t> </a:t>
            </a:r>
            <a:r>
              <a:rPr lang="ru-RU" sz="1400" dirty="0" err="1"/>
              <a:t>актуальність</a:t>
            </a:r>
            <a:r>
              <a:rPr lang="ru-RU" sz="1400" dirty="0"/>
              <a:t> </a:t>
            </a:r>
            <a:r>
              <a:rPr lang="ru-RU" sz="1400" dirty="0" err="1"/>
              <a:t>комплексної</a:t>
            </a:r>
            <a:r>
              <a:rPr lang="ru-RU" sz="1400" dirty="0"/>
              <a:t> </a:t>
            </a:r>
            <a:r>
              <a:rPr lang="ru-RU" sz="1400" dirty="0" err="1"/>
              <a:t>оцінки</a:t>
            </a:r>
            <a:r>
              <a:rPr lang="ru-RU" sz="1400" dirty="0"/>
              <a:t> </a:t>
            </a:r>
            <a:r>
              <a:rPr lang="ru-RU" sz="1400" dirty="0" err="1"/>
              <a:t>плагінів</a:t>
            </a:r>
            <a:r>
              <a:rPr lang="ru-RU" sz="1400" dirty="0"/>
              <a:t> </a:t>
            </a:r>
            <a:r>
              <a:rPr lang="ru-RU" sz="1400" dirty="0" err="1"/>
              <a:t>безпеки</a:t>
            </a:r>
            <a:r>
              <a:rPr lang="ru-RU" sz="1400" dirty="0"/>
              <a:t> для </a:t>
            </a:r>
            <a:r>
              <a:rPr lang="ru-RU" sz="1400" dirty="0" err="1"/>
              <a:t>реальних</a:t>
            </a:r>
            <a:r>
              <a:rPr lang="ru-RU" sz="1400" dirty="0"/>
              <a:t> </a:t>
            </a:r>
            <a:r>
              <a:rPr lang="en-US" sz="1400" dirty="0"/>
              <a:t>e-commerce </a:t>
            </a:r>
            <a:r>
              <a:rPr lang="ru-RU" sz="1400" dirty="0"/>
              <a:t>умов.</a:t>
            </a:r>
            <a:endParaRPr lang="en-US" sz="1400" dirty="0"/>
          </a:p>
        </p:txBody>
      </p:sp>
      <p:sp>
        <p:nvSpPr>
          <p:cNvPr id="5" name="Номер слайда 4">
            <a:extLst>
              <a:ext uri="{FF2B5EF4-FFF2-40B4-BE49-F238E27FC236}">
                <a16:creationId xmlns:a16="http://schemas.microsoft.com/office/drawing/2014/main" id="{A81A6749-E6A4-0CB9-8DA3-461157D4F222}"/>
              </a:ext>
            </a:extLst>
          </p:cNvPr>
          <p:cNvSpPr>
            <a:spLocks noGrp="1"/>
          </p:cNvSpPr>
          <p:nvPr>
            <p:ph type="sldNum" sz="quarter" idx="12"/>
          </p:nvPr>
        </p:nvSpPr>
        <p:spPr/>
        <p:txBody>
          <a:bodyPr/>
          <a:lstStyle/>
          <a:p>
            <a:fld id="{C1FF6DA9-008F-8B48-92A6-B652298478BF}" type="slidenum">
              <a:rPr lang="en-US" smtClean="0"/>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821398" y="374694"/>
            <a:ext cx="6917290" cy="1153672"/>
          </a:xfrm>
        </p:spPr>
        <p:txBody>
          <a:bodyPr vert="horz" lIns="91440" tIns="45720" rIns="91440" bIns="45720" rtlCol="0" anchor="t">
            <a:normAutofit/>
          </a:bodyPr>
          <a:lstStyle/>
          <a:p>
            <a:pPr algn="l" defTabSz="914400">
              <a:defRPr sz="3400" b="1"/>
            </a:pPr>
            <a:r>
              <a:rPr lang="ru-RU" sz="2900" dirty="0"/>
              <a:t>Методика </a:t>
            </a:r>
            <a:r>
              <a:rPr lang="ru-RU" sz="2900" dirty="0" err="1"/>
              <a:t>оцінки</a:t>
            </a:r>
            <a:r>
              <a:rPr lang="ru-RU" sz="2900" dirty="0"/>
              <a:t> </a:t>
            </a:r>
            <a:r>
              <a:rPr lang="ru-RU" sz="2900" dirty="0" err="1"/>
              <a:t>ефективності</a:t>
            </a:r>
            <a:r>
              <a:rPr lang="ru-RU" sz="2900" dirty="0"/>
              <a:t> </a:t>
            </a:r>
            <a:r>
              <a:rPr lang="ru-RU" sz="2900" dirty="0" err="1"/>
              <a:t>плагінів</a:t>
            </a:r>
            <a:r>
              <a:rPr lang="ru-RU" sz="2900" dirty="0"/>
              <a:t> </a:t>
            </a:r>
            <a:r>
              <a:rPr lang="ru-RU" sz="2900" dirty="0" err="1"/>
              <a:t>безпеки</a:t>
            </a:r>
            <a:r>
              <a:rPr lang="ru-RU" sz="2900" dirty="0"/>
              <a:t> </a:t>
            </a:r>
            <a:r>
              <a:rPr lang="en-US" sz="2900" dirty="0"/>
              <a:t>WordPress</a:t>
            </a:r>
          </a:p>
        </p:txBody>
      </p:sp>
      <p:sp>
        <p:nvSpPr>
          <p:cNvPr id="3" name="TextBox 2"/>
          <p:cNvSpPr txBox="1"/>
          <p:nvPr/>
        </p:nvSpPr>
        <p:spPr>
          <a:xfrm>
            <a:off x="786048" y="1357108"/>
            <a:ext cx="7498339" cy="5325046"/>
          </a:xfrm>
          <a:prstGeom prst="rect">
            <a:avLst/>
          </a:prstGeom>
        </p:spPr>
        <p:txBody>
          <a:bodyPr vert="horz" lIns="91440" tIns="45720" rIns="91440" bIns="45720" rtlCol="0" anchor="t">
            <a:normAutofit/>
          </a:bodyPr>
          <a:lstStyle/>
          <a:p>
            <a:r>
              <a:rPr lang="ru-RU" sz="1400" b="1" u="sng" dirty="0"/>
              <a:t>КРОК 1. </a:t>
            </a:r>
            <a:r>
              <a:rPr lang="ru-RU" sz="1400" b="1" u="sng" dirty="0" err="1"/>
              <a:t>Формування</a:t>
            </a:r>
            <a:r>
              <a:rPr lang="ru-RU" sz="1400" b="1" u="sng" dirty="0"/>
              <a:t> тестового набору</a:t>
            </a:r>
          </a:p>
          <a:p>
            <a:pPr algn="just">
              <a:spcBef>
                <a:spcPts val="200"/>
              </a:spcBef>
            </a:pPr>
            <a:r>
              <a:rPr lang="uk-UA" sz="1400" dirty="0"/>
              <a:t>Визначається множина уразливих компонентів</a:t>
            </a:r>
            <a:r>
              <a:rPr lang="en" sz="1400" b="1" dirty="0"/>
              <a:t> </a:t>
            </a:r>
            <a:r>
              <a:rPr lang="en" sz="1400" dirty="0"/>
              <a:t>(51 </a:t>
            </a:r>
            <a:r>
              <a:rPr lang="uk-UA" sz="1400" dirty="0"/>
              <a:t>плагін із </a:t>
            </a:r>
            <a:r>
              <a:rPr lang="en" sz="1400" dirty="0"/>
              <a:t>CVE)</a:t>
            </a:r>
          </a:p>
          <a:p>
            <a:pPr algn="just">
              <a:spcBef>
                <a:spcPts val="200"/>
              </a:spcBef>
            </a:pPr>
            <a:endParaRPr lang="en-US" sz="1400" dirty="0"/>
          </a:p>
          <a:p>
            <a:pPr algn="just">
              <a:spcBef>
                <a:spcPts val="200"/>
              </a:spcBef>
            </a:pPr>
            <a:endParaRPr lang="en-US" sz="1400" dirty="0"/>
          </a:p>
          <a:p>
            <a:pPr algn="just">
              <a:spcBef>
                <a:spcPts val="200"/>
              </a:spcBef>
            </a:pPr>
            <a:r>
              <a:rPr lang="uk-UA" sz="1400" dirty="0"/>
              <a:t>та множина контрольних атак</a:t>
            </a:r>
            <a:endParaRPr lang="en-US" sz="1400" dirty="0"/>
          </a:p>
          <a:p>
            <a:pPr algn="just">
              <a:spcBef>
                <a:spcPts val="200"/>
              </a:spcBef>
            </a:pPr>
            <a:endParaRPr lang="uk-UA" sz="1400" b="1" dirty="0"/>
          </a:p>
          <a:p>
            <a:pPr algn="just">
              <a:spcBef>
                <a:spcPts val="200"/>
              </a:spcBef>
            </a:pPr>
            <a:endParaRPr lang="uk-UA" sz="1400" b="1" dirty="0"/>
          </a:p>
          <a:p>
            <a:r>
              <a:rPr lang="ru-RU" sz="1400" b="1" u="sng" dirty="0"/>
              <a:t>КРОК 2. </a:t>
            </a:r>
            <a:r>
              <a:rPr lang="ru-RU" sz="1400" b="1" u="sng" dirty="0" err="1"/>
              <a:t>Конфігурація</a:t>
            </a:r>
            <a:r>
              <a:rPr lang="ru-RU" sz="1400" b="1" u="sng" dirty="0"/>
              <a:t> </a:t>
            </a:r>
            <a:r>
              <a:rPr lang="ru-RU" sz="1400" b="1" u="sng" dirty="0" err="1"/>
              <a:t>засобів</a:t>
            </a:r>
            <a:r>
              <a:rPr lang="ru-RU" sz="1400" b="1" u="sng" dirty="0"/>
              <a:t> </a:t>
            </a:r>
            <a:r>
              <a:rPr lang="ru-RU" sz="1400" b="1" u="sng" dirty="0" err="1"/>
              <a:t>захисту</a:t>
            </a:r>
            <a:endParaRPr lang="ru-RU" sz="1400" b="1" u="sng" dirty="0"/>
          </a:p>
          <a:p>
            <a:endParaRPr lang="ru-RU" sz="1400" b="1" dirty="0"/>
          </a:p>
          <a:p>
            <a:pPr algn="just">
              <a:spcBef>
                <a:spcPts val="200"/>
              </a:spcBef>
            </a:pPr>
            <a:r>
              <a:rPr lang="uk-UA" sz="1400" dirty="0"/>
              <a:t>Почергова інтеграція плагіна </a:t>
            </a:r>
            <a:r>
              <a:rPr lang="en" sz="1400" dirty="0"/>
              <a:t>p ∈ P</a:t>
            </a:r>
          </a:p>
          <a:p>
            <a:pPr algn="just">
              <a:spcBef>
                <a:spcPts val="200"/>
              </a:spcBef>
            </a:pPr>
            <a:endParaRPr lang="en-US" sz="1400" dirty="0"/>
          </a:p>
          <a:p>
            <a:pPr algn="just">
              <a:spcBef>
                <a:spcPts val="200"/>
              </a:spcBef>
            </a:pPr>
            <a:endParaRPr lang="en-US" sz="1400" dirty="0"/>
          </a:p>
          <a:p>
            <a:pPr algn="just">
              <a:spcBef>
                <a:spcPts val="200"/>
              </a:spcBef>
            </a:pPr>
            <a:r>
              <a:rPr lang="uk-UA" sz="1400" dirty="0"/>
              <a:t>Фіксація </a:t>
            </a:r>
            <a:r>
              <a:rPr lang="en" sz="1400" dirty="0"/>
              <a:t>Baseline-</a:t>
            </a:r>
            <a:r>
              <a:rPr lang="uk-UA" sz="1400" dirty="0"/>
              <a:t>параметрів системи</a:t>
            </a:r>
          </a:p>
          <a:p>
            <a:pPr algn="just">
              <a:spcBef>
                <a:spcPts val="200"/>
              </a:spcBef>
            </a:pPr>
            <a:endParaRPr lang="uk-UA" sz="1400" dirty="0"/>
          </a:p>
          <a:p>
            <a:pPr algn="just">
              <a:spcBef>
                <a:spcPts val="200"/>
              </a:spcBef>
            </a:pPr>
            <a:r>
              <a:rPr lang="ru-RU" sz="1400" b="1" u="sng" dirty="0"/>
              <a:t>КРОК 3. Запуск </a:t>
            </a:r>
            <a:r>
              <a:rPr lang="ru-RU" sz="1400" b="1" u="sng" dirty="0" err="1"/>
              <a:t>сканування</a:t>
            </a:r>
            <a:r>
              <a:rPr lang="ru-RU" sz="1400" b="1" u="sng" dirty="0"/>
              <a:t> та </a:t>
            </a:r>
            <a:r>
              <a:rPr lang="ru-RU" sz="1400" b="1" u="sng" dirty="0" err="1"/>
              <a:t>моніторингу</a:t>
            </a:r>
            <a:endParaRPr lang="ru-RU" sz="1400" b="1" u="sng" dirty="0"/>
          </a:p>
          <a:p>
            <a:pPr algn="just">
              <a:spcBef>
                <a:spcPts val="200"/>
              </a:spcBef>
            </a:pPr>
            <a:endParaRPr lang="uk-UA" sz="1400" dirty="0"/>
          </a:p>
          <a:p>
            <a:pPr algn="just">
              <a:spcBef>
                <a:spcPts val="200"/>
              </a:spcBef>
            </a:pPr>
            <a:r>
              <a:rPr lang="uk-UA" sz="1400" dirty="0"/>
              <a:t>Циклічне відтворення векторів атак з </a:t>
            </a:r>
            <a:r>
              <a:rPr lang="en" sz="1400" dirty="0"/>
              <a:t>A</a:t>
            </a:r>
          </a:p>
          <a:p>
            <a:pPr algn="just">
              <a:spcBef>
                <a:spcPts val="200"/>
              </a:spcBef>
            </a:pPr>
            <a:r>
              <a:rPr lang="uk-UA" sz="1400" dirty="0"/>
              <a:t>Класифікація множини </a:t>
            </a:r>
            <a:r>
              <a:rPr lang="uk-UA" sz="1400" dirty="0" err="1"/>
              <a:t>виявлень</a:t>
            </a:r>
            <a:r>
              <a:rPr lang="uk-UA" sz="1400" dirty="0"/>
              <a:t> </a:t>
            </a:r>
            <a:r>
              <a:rPr lang="en" sz="1400" dirty="0"/>
              <a:t>D(p):</a:t>
            </a:r>
          </a:p>
          <a:p>
            <a:pPr algn="just">
              <a:spcBef>
                <a:spcPts val="200"/>
              </a:spcBef>
            </a:pPr>
            <a:r>
              <a:rPr lang="en" sz="1400" dirty="0"/>
              <a:t>TP </a:t>
            </a:r>
            <a:r>
              <a:rPr lang="uk-UA" sz="1400" dirty="0"/>
              <a:t>-</a:t>
            </a:r>
            <a:r>
              <a:rPr lang="en" sz="1400" dirty="0"/>
              <a:t> </a:t>
            </a:r>
            <a:r>
              <a:rPr lang="uk-UA" sz="1400" dirty="0"/>
              <a:t>правильно виявлена загроза</a:t>
            </a:r>
          </a:p>
          <a:p>
            <a:pPr algn="just">
              <a:spcBef>
                <a:spcPts val="200"/>
              </a:spcBef>
            </a:pPr>
            <a:r>
              <a:rPr lang="en" sz="1400" dirty="0"/>
              <a:t>FP </a:t>
            </a:r>
            <a:r>
              <a:rPr lang="uk-UA" sz="1400" dirty="0"/>
              <a:t>- хибне спрацювання</a:t>
            </a:r>
          </a:p>
          <a:p>
            <a:pPr algn="just">
              <a:spcBef>
                <a:spcPts val="200"/>
              </a:spcBef>
            </a:pPr>
            <a:r>
              <a:rPr lang="en" sz="1400" dirty="0"/>
              <a:t>FN </a:t>
            </a:r>
            <a:r>
              <a:rPr lang="uk-UA" sz="1400" dirty="0"/>
              <a:t>-</a:t>
            </a:r>
            <a:r>
              <a:rPr lang="en" sz="1400" dirty="0"/>
              <a:t> </a:t>
            </a:r>
            <a:r>
              <a:rPr lang="uk-UA" sz="1400" dirty="0"/>
              <a:t>пропущена загроза</a:t>
            </a:r>
          </a:p>
          <a:p>
            <a:pPr algn="just">
              <a:spcBef>
                <a:spcPts val="200"/>
              </a:spcBef>
            </a:pPr>
            <a:r>
              <a:rPr lang="en" sz="1400" dirty="0"/>
              <a:t>TN </a:t>
            </a:r>
            <a:r>
              <a:rPr lang="uk-UA" sz="1400" dirty="0"/>
              <a:t>-</a:t>
            </a:r>
            <a:r>
              <a:rPr lang="en" sz="1400" dirty="0"/>
              <a:t> </a:t>
            </a:r>
            <a:r>
              <a:rPr lang="uk-UA" sz="1400" dirty="0"/>
              <a:t>правильна відмова від спрацювання</a:t>
            </a:r>
          </a:p>
        </p:txBody>
      </p:sp>
      <p:sp>
        <p:nvSpPr>
          <p:cNvPr id="5" name="Номер слайда 4">
            <a:extLst>
              <a:ext uri="{FF2B5EF4-FFF2-40B4-BE49-F238E27FC236}">
                <a16:creationId xmlns:a16="http://schemas.microsoft.com/office/drawing/2014/main" id="{F3EA73B1-28C6-BA4E-A1CA-A53ED5C4535D}"/>
              </a:ext>
            </a:extLst>
          </p:cNvPr>
          <p:cNvSpPr>
            <a:spLocks noGrp="1"/>
          </p:cNvSpPr>
          <p:nvPr>
            <p:ph type="sldNum" sz="quarter" idx="12"/>
          </p:nvPr>
        </p:nvSpPr>
        <p:spPr/>
        <p:txBody>
          <a:bodyPr/>
          <a:lstStyle/>
          <a:p>
            <a:fld id="{C1FF6DA9-008F-8B48-92A6-B652298478BF}" type="slidenum">
              <a:rPr lang="en-US" smtClean="0"/>
              <a:t>8</a:t>
            </a:fld>
            <a:endParaRPr lang="en-US" dirty="0"/>
          </a:p>
        </p:txBody>
      </p:sp>
      <p:pic>
        <p:nvPicPr>
          <p:cNvPr id="17" name="Рисунок 16" descr="Изображение выглядит как текст, Шрифт, снимок экрана, черный&#10;&#10;Автоматически созданное описание">
            <a:extLst>
              <a:ext uri="{FF2B5EF4-FFF2-40B4-BE49-F238E27FC236}">
                <a16:creationId xmlns:a16="http://schemas.microsoft.com/office/drawing/2014/main" id="{BFDAD4FA-F1AF-388F-935F-6CFE4C80AA51}"/>
              </a:ext>
            </a:extLst>
          </p:cNvPr>
          <p:cNvPicPr>
            <a:picLocks noChangeAspect="1"/>
          </p:cNvPicPr>
          <p:nvPr/>
        </p:nvPicPr>
        <p:blipFill>
          <a:blip r:embed="rId7"/>
          <a:stretch>
            <a:fillRect/>
          </a:stretch>
        </p:blipFill>
        <p:spPr>
          <a:xfrm>
            <a:off x="801746" y="2403054"/>
            <a:ext cx="5019333" cy="767965"/>
          </a:xfrm>
          <a:prstGeom prst="rect">
            <a:avLst/>
          </a:prstGeom>
        </p:spPr>
      </p:pic>
      <p:pic>
        <p:nvPicPr>
          <p:cNvPr id="21" name="Рисунок 20">
            <a:extLst>
              <a:ext uri="{FF2B5EF4-FFF2-40B4-BE49-F238E27FC236}">
                <a16:creationId xmlns:a16="http://schemas.microsoft.com/office/drawing/2014/main" id="{985A70BB-971B-0D73-A68E-0A052DB4314F}"/>
              </a:ext>
            </a:extLst>
          </p:cNvPr>
          <p:cNvPicPr>
            <a:picLocks noChangeAspect="1"/>
          </p:cNvPicPr>
          <p:nvPr/>
        </p:nvPicPr>
        <p:blipFill>
          <a:blip r:embed="rId8"/>
          <a:stretch>
            <a:fillRect/>
          </a:stretch>
        </p:blipFill>
        <p:spPr>
          <a:xfrm>
            <a:off x="786091" y="3550042"/>
            <a:ext cx="5008065" cy="738142"/>
          </a:xfrm>
          <a:prstGeom prst="rect">
            <a:avLst/>
          </a:prstGeom>
        </p:spPr>
      </p:pic>
      <p:pic>
        <p:nvPicPr>
          <p:cNvPr id="25" name="Рисунок 24" descr="Изображение выглядит как Шрифт, рукописный текст, Графика, типография&#10;&#10;Автоматически созданное описание">
            <a:extLst>
              <a:ext uri="{FF2B5EF4-FFF2-40B4-BE49-F238E27FC236}">
                <a16:creationId xmlns:a16="http://schemas.microsoft.com/office/drawing/2014/main" id="{8D40DD12-C27F-DF64-73B2-084D26388FC2}"/>
              </a:ext>
            </a:extLst>
          </p:cNvPr>
          <p:cNvPicPr>
            <a:picLocks noChangeAspect="1"/>
          </p:cNvPicPr>
          <p:nvPr/>
        </p:nvPicPr>
        <p:blipFill>
          <a:blip r:embed="rId9"/>
          <a:stretch>
            <a:fillRect/>
          </a:stretch>
        </p:blipFill>
        <p:spPr>
          <a:xfrm>
            <a:off x="784449" y="1785364"/>
            <a:ext cx="2104284" cy="617690"/>
          </a:xfrm>
          <a:prstGeom prst="rect">
            <a:avLst/>
          </a:prstGeom>
        </p:spPr>
      </p:pic>
      <p:sp>
        <p:nvSpPr>
          <p:cNvPr id="27" name="TextBox 26">
            <a:extLst>
              <a:ext uri="{FF2B5EF4-FFF2-40B4-BE49-F238E27FC236}">
                <a16:creationId xmlns:a16="http://schemas.microsoft.com/office/drawing/2014/main" id="{3DEB34C1-FEA5-8CCF-2E07-B64B3D1C4F45}"/>
              </a:ext>
            </a:extLst>
          </p:cNvPr>
          <p:cNvSpPr txBox="1"/>
          <p:nvPr/>
        </p:nvSpPr>
        <p:spPr>
          <a:xfrm>
            <a:off x="8390641" y="1909543"/>
            <a:ext cx="466794" cy="369332"/>
          </a:xfrm>
          <a:prstGeom prst="rect">
            <a:avLst/>
          </a:prstGeom>
          <a:noFill/>
        </p:spPr>
        <p:txBody>
          <a:bodyPr wrap="none" rtlCol="0">
            <a:spAutoFit/>
          </a:bodyPr>
          <a:lstStyle/>
          <a:p>
            <a:r>
              <a:rPr lang="en-US" dirty="0"/>
              <a:t>(1)</a:t>
            </a:r>
            <a:endParaRPr lang="ru-UA" dirty="0"/>
          </a:p>
        </p:txBody>
      </p:sp>
      <p:sp>
        <p:nvSpPr>
          <p:cNvPr id="31" name="TextBox 30">
            <a:extLst>
              <a:ext uri="{FF2B5EF4-FFF2-40B4-BE49-F238E27FC236}">
                <a16:creationId xmlns:a16="http://schemas.microsoft.com/office/drawing/2014/main" id="{DA1794B1-D5E0-3974-1727-FF5F7CE7B916}"/>
              </a:ext>
            </a:extLst>
          </p:cNvPr>
          <p:cNvSpPr txBox="1"/>
          <p:nvPr/>
        </p:nvSpPr>
        <p:spPr>
          <a:xfrm>
            <a:off x="8384047" y="2602370"/>
            <a:ext cx="602733" cy="369332"/>
          </a:xfrm>
          <a:prstGeom prst="rect">
            <a:avLst/>
          </a:prstGeom>
          <a:noFill/>
        </p:spPr>
        <p:txBody>
          <a:bodyPr wrap="square">
            <a:spAutoFit/>
          </a:bodyPr>
          <a:lstStyle/>
          <a:p>
            <a:r>
              <a:rPr lang="en-US" dirty="0"/>
              <a:t>(2)</a:t>
            </a:r>
            <a:endParaRPr lang="ru-UA" dirty="0"/>
          </a:p>
        </p:txBody>
      </p:sp>
      <p:sp>
        <p:nvSpPr>
          <p:cNvPr id="35" name="TextBox 34">
            <a:extLst>
              <a:ext uri="{FF2B5EF4-FFF2-40B4-BE49-F238E27FC236}">
                <a16:creationId xmlns:a16="http://schemas.microsoft.com/office/drawing/2014/main" id="{09D913C5-12EC-41D8-81F4-CC88F367CA19}"/>
              </a:ext>
            </a:extLst>
          </p:cNvPr>
          <p:cNvSpPr txBox="1"/>
          <p:nvPr/>
        </p:nvSpPr>
        <p:spPr>
          <a:xfrm>
            <a:off x="8407445" y="3734447"/>
            <a:ext cx="602733" cy="369332"/>
          </a:xfrm>
          <a:prstGeom prst="rect">
            <a:avLst/>
          </a:prstGeom>
          <a:noFill/>
        </p:spPr>
        <p:txBody>
          <a:bodyPr wrap="square">
            <a:spAutoFit/>
          </a:bodyPr>
          <a:lstStyle/>
          <a:p>
            <a:r>
              <a:rPr lang="en-US" dirty="0"/>
              <a:t>(3)</a:t>
            </a:r>
            <a:endParaRPr lang="ru-UA"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890135" y="327196"/>
            <a:ext cx="6917290" cy="1153672"/>
          </a:xfrm>
        </p:spPr>
        <p:txBody>
          <a:bodyPr vert="horz" lIns="91440" tIns="45720" rIns="91440" bIns="45720" rtlCol="0" anchor="t">
            <a:normAutofit/>
          </a:bodyPr>
          <a:lstStyle/>
          <a:p>
            <a:pPr algn="l" defTabSz="914400">
              <a:defRPr sz="3400" b="1"/>
            </a:pPr>
            <a:r>
              <a:rPr lang="ru-RU" sz="2900" dirty="0"/>
              <a:t>Методика </a:t>
            </a:r>
            <a:r>
              <a:rPr lang="ru-RU" sz="2900" dirty="0" err="1"/>
              <a:t>оцінки</a:t>
            </a:r>
            <a:r>
              <a:rPr lang="ru-RU" sz="2900" dirty="0"/>
              <a:t> </a:t>
            </a:r>
            <a:r>
              <a:rPr lang="ru-RU" sz="2900" dirty="0" err="1"/>
              <a:t>ефективності</a:t>
            </a:r>
            <a:r>
              <a:rPr lang="ru-RU" sz="2900" dirty="0"/>
              <a:t> </a:t>
            </a:r>
            <a:r>
              <a:rPr lang="ru-RU" sz="2900" dirty="0" err="1"/>
              <a:t>плагінів</a:t>
            </a:r>
            <a:r>
              <a:rPr lang="ru-RU" sz="2900" dirty="0"/>
              <a:t> </a:t>
            </a:r>
            <a:r>
              <a:rPr lang="ru-RU" sz="2900" dirty="0" err="1"/>
              <a:t>безпеки</a:t>
            </a:r>
            <a:r>
              <a:rPr lang="ru-RU" sz="2900" dirty="0"/>
              <a:t> </a:t>
            </a:r>
            <a:r>
              <a:rPr lang="en-US" sz="2900" dirty="0"/>
              <a:t>WordPress</a:t>
            </a:r>
          </a:p>
        </p:txBody>
      </p:sp>
      <p:sp>
        <p:nvSpPr>
          <p:cNvPr id="3" name="TextBox 2"/>
          <p:cNvSpPr txBox="1"/>
          <p:nvPr/>
        </p:nvSpPr>
        <p:spPr>
          <a:xfrm>
            <a:off x="899777" y="1480868"/>
            <a:ext cx="7342846" cy="4864033"/>
          </a:xfrm>
          <a:prstGeom prst="rect">
            <a:avLst/>
          </a:prstGeom>
        </p:spPr>
        <p:txBody>
          <a:bodyPr vert="horz" lIns="91440" tIns="45720" rIns="91440" bIns="45720" rtlCol="0" anchor="t">
            <a:normAutofit lnSpcReduction="10000"/>
          </a:bodyPr>
          <a:lstStyle/>
          <a:p>
            <a:r>
              <a:rPr lang="ru-RU" sz="1400" b="1" u="sng" dirty="0"/>
              <a:t>КРОК 4. </a:t>
            </a:r>
            <a:r>
              <a:rPr lang="ru-RU" sz="1400" b="1" u="sng" dirty="0" err="1"/>
              <a:t>Обчислення</a:t>
            </a:r>
            <a:r>
              <a:rPr lang="ru-RU" sz="1400" b="1" u="sng" dirty="0"/>
              <a:t> метрик </a:t>
            </a:r>
            <a:r>
              <a:rPr lang="ru-RU" sz="1400" b="1" u="sng" dirty="0" err="1"/>
              <a:t>якості</a:t>
            </a:r>
            <a:r>
              <a:rPr lang="ru-RU" sz="1400" b="1" u="sng" dirty="0"/>
              <a:t> </a:t>
            </a:r>
            <a:r>
              <a:rPr lang="ru-RU" sz="1400" b="1" u="sng" dirty="0" err="1"/>
              <a:t>детекції</a:t>
            </a:r>
            <a:endParaRPr lang="ru-RU" sz="1400" b="1" u="sng" dirty="0"/>
          </a:p>
          <a:p>
            <a:endParaRPr lang="ru-RU" sz="1400" b="1" dirty="0"/>
          </a:p>
          <a:p>
            <a:r>
              <a:rPr lang="en" sz="1400" dirty="0"/>
              <a:t>Recall (</a:t>
            </a:r>
            <a:r>
              <a:rPr lang="ru-RU" sz="1400" dirty="0" err="1"/>
              <a:t>повнота</a:t>
            </a:r>
            <a:r>
              <a:rPr lang="ru-RU" sz="1400" dirty="0"/>
              <a:t>) - </a:t>
            </a:r>
            <a:r>
              <a:rPr lang="ru-RU" sz="1400" dirty="0" err="1"/>
              <a:t>частка</a:t>
            </a:r>
            <a:r>
              <a:rPr lang="ru-RU" sz="1400" dirty="0"/>
              <a:t> </a:t>
            </a:r>
            <a:r>
              <a:rPr lang="ru-RU" sz="1400" dirty="0" err="1"/>
              <a:t>виявлених</a:t>
            </a:r>
            <a:r>
              <a:rPr lang="ru-RU" sz="1400" dirty="0"/>
              <a:t> </a:t>
            </a:r>
            <a:r>
              <a:rPr lang="ru-RU" sz="1400" dirty="0" err="1"/>
              <a:t>реальних</a:t>
            </a:r>
            <a:r>
              <a:rPr lang="ru-RU" sz="1400" dirty="0"/>
              <a:t> </a:t>
            </a:r>
            <a:r>
              <a:rPr lang="ru-RU" sz="1400" dirty="0" err="1"/>
              <a:t>загроз</a:t>
            </a:r>
            <a:r>
              <a:rPr lang="ru-RU" sz="1400" dirty="0"/>
              <a:t>:</a:t>
            </a:r>
            <a:endParaRPr lang="ru-RU" sz="1400" b="1" dirty="0"/>
          </a:p>
          <a:p>
            <a:endParaRPr lang="ru-RU" sz="1400" b="1" dirty="0"/>
          </a:p>
          <a:p>
            <a:endParaRPr lang="ru-RU" sz="1400" b="1" dirty="0"/>
          </a:p>
          <a:p>
            <a:endParaRPr lang="ru-RU" sz="1400" b="1" dirty="0"/>
          </a:p>
          <a:p>
            <a:endParaRPr lang="ru-RU" sz="1400" b="1" dirty="0"/>
          </a:p>
          <a:p>
            <a:r>
              <a:rPr lang="en" sz="1400" dirty="0"/>
              <a:t>Precision (</a:t>
            </a:r>
            <a:r>
              <a:rPr lang="ru-RU" sz="1400" dirty="0" err="1"/>
              <a:t>точність</a:t>
            </a:r>
            <a:r>
              <a:rPr lang="ru-RU" sz="1400" dirty="0"/>
              <a:t>) — </a:t>
            </a:r>
            <a:r>
              <a:rPr lang="ru-RU" sz="1400" dirty="0" err="1"/>
              <a:t>частка</a:t>
            </a:r>
            <a:r>
              <a:rPr lang="ru-RU" sz="1400" dirty="0"/>
              <a:t> </a:t>
            </a:r>
            <a:r>
              <a:rPr lang="ru-RU" sz="1400" dirty="0" err="1"/>
              <a:t>коректних</a:t>
            </a:r>
            <a:r>
              <a:rPr lang="ru-RU" sz="1400" dirty="0"/>
              <a:t> </a:t>
            </a:r>
            <a:r>
              <a:rPr lang="ru-RU" sz="1400" dirty="0" err="1"/>
              <a:t>спрацювань</a:t>
            </a:r>
            <a:r>
              <a:rPr lang="ru-RU" sz="1400" dirty="0"/>
              <a:t>:</a:t>
            </a:r>
            <a:endParaRPr lang="ru-RU" sz="1400" b="1" dirty="0"/>
          </a:p>
          <a:p>
            <a:endParaRPr lang="ru-RU" sz="1400" b="1" dirty="0"/>
          </a:p>
          <a:p>
            <a:endParaRPr lang="ru-RU" sz="1400" b="1" dirty="0"/>
          </a:p>
          <a:p>
            <a:endParaRPr lang="ru-RU" sz="1400" b="1" dirty="0"/>
          </a:p>
          <a:p>
            <a:endParaRPr lang="ru-RU" sz="1400" b="1" dirty="0"/>
          </a:p>
          <a:p>
            <a:r>
              <a:rPr lang="ru-RU" sz="1400" dirty="0" err="1"/>
              <a:t>Збалансований</a:t>
            </a:r>
            <a:r>
              <a:rPr lang="ru-RU" sz="1400" dirty="0"/>
              <a:t> </a:t>
            </a:r>
            <a:r>
              <a:rPr lang="ru-RU" sz="1400" dirty="0" err="1"/>
              <a:t>узагальнений</a:t>
            </a:r>
            <a:r>
              <a:rPr lang="ru-RU" sz="1400" dirty="0"/>
              <a:t> </a:t>
            </a:r>
            <a:r>
              <a:rPr lang="ru-RU" sz="1400" dirty="0" err="1"/>
              <a:t>показник</a:t>
            </a:r>
            <a:r>
              <a:rPr lang="ru-RU" sz="1400" dirty="0"/>
              <a:t>: </a:t>
            </a:r>
            <a:endParaRPr lang="ru-RU" sz="1400" b="1" dirty="0"/>
          </a:p>
          <a:p>
            <a:endParaRPr lang="ru-RU" sz="1400" b="1" dirty="0"/>
          </a:p>
          <a:p>
            <a:endParaRPr lang="ru-RU" sz="1400" b="1" dirty="0"/>
          </a:p>
          <a:p>
            <a:endParaRPr lang="ru-RU" sz="1400" b="1" dirty="0"/>
          </a:p>
          <a:p>
            <a:endParaRPr lang="ru-RU" sz="1400" b="1" dirty="0"/>
          </a:p>
          <a:p>
            <a:endParaRPr lang="ru-RU" sz="1400" b="1" dirty="0"/>
          </a:p>
          <a:p>
            <a:endParaRPr lang="ru-RU" sz="1400" b="1" dirty="0"/>
          </a:p>
          <a:p>
            <a:r>
              <a:rPr lang="ru-RU" sz="1400" b="1" u="sng" dirty="0"/>
              <a:t>КРОК 5. </a:t>
            </a:r>
            <a:r>
              <a:rPr lang="ru-RU" sz="1400" b="1" u="sng" dirty="0" err="1"/>
              <a:t>Замірювання</a:t>
            </a:r>
            <a:r>
              <a:rPr lang="ru-RU" sz="1400" b="1" u="sng" dirty="0"/>
              <a:t> </a:t>
            </a:r>
            <a:r>
              <a:rPr lang="ru-RU" sz="1400" b="1" u="sng" dirty="0" err="1"/>
              <a:t>операційних</a:t>
            </a:r>
            <a:r>
              <a:rPr lang="ru-RU" sz="1400" b="1" u="sng" dirty="0"/>
              <a:t> </a:t>
            </a:r>
            <a:r>
              <a:rPr lang="ru-RU" sz="1400" b="1" u="sng" dirty="0" err="1"/>
              <a:t>параметрів</a:t>
            </a:r>
            <a:endParaRPr lang="ru-RU" sz="1400" b="1" u="sng" dirty="0"/>
          </a:p>
          <a:p>
            <a:endParaRPr lang="ru-RU" sz="1400" b="1" dirty="0"/>
          </a:p>
          <a:p>
            <a:pPr algn="just"/>
            <a:r>
              <a:rPr lang="ru-RU" sz="1400" dirty="0" err="1"/>
              <a:t>Паралельно</a:t>
            </a:r>
            <a:r>
              <a:rPr lang="ru-RU" sz="1400" dirty="0"/>
              <a:t> з Кроком 3 </a:t>
            </a:r>
            <a:r>
              <a:rPr lang="ru-RU" sz="1400" dirty="0" err="1"/>
              <a:t>фіксуються</a:t>
            </a:r>
            <a:r>
              <a:rPr lang="ru-RU" sz="1400" dirty="0"/>
              <a:t> </a:t>
            </a:r>
            <a:r>
              <a:rPr lang="ru-RU" sz="1400" dirty="0" err="1"/>
              <a:t>прирости</a:t>
            </a:r>
            <a:r>
              <a:rPr lang="ru-RU" sz="1400" dirty="0"/>
              <a:t>: </a:t>
            </a:r>
            <a:r>
              <a:rPr lang="el-GR" sz="1400" dirty="0"/>
              <a:t>Δ</a:t>
            </a:r>
            <a:r>
              <a:rPr lang="en" sz="1400" dirty="0"/>
              <a:t>CPU, </a:t>
            </a:r>
            <a:r>
              <a:rPr lang="el-GR" sz="1400" dirty="0"/>
              <a:t>Δ</a:t>
            </a:r>
            <a:r>
              <a:rPr lang="en" sz="1400" dirty="0"/>
              <a:t>RAM, </a:t>
            </a:r>
            <a:r>
              <a:rPr lang="el-GR" sz="1400" dirty="0"/>
              <a:t>Δ</a:t>
            </a:r>
            <a:r>
              <a:rPr lang="en" sz="1400" dirty="0"/>
              <a:t>latency, </a:t>
            </a:r>
            <a:r>
              <a:rPr lang="el-GR" sz="1400" dirty="0"/>
              <a:t>Δ</a:t>
            </a:r>
            <a:r>
              <a:rPr lang="en" sz="1400" dirty="0"/>
              <a:t>SQL-</a:t>
            </a:r>
            <a:r>
              <a:rPr lang="ru-RU" sz="1400" dirty="0" err="1"/>
              <a:t>запитів</a:t>
            </a:r>
            <a:r>
              <a:rPr lang="ru-RU" sz="1400" dirty="0"/>
              <a:t> </a:t>
            </a:r>
            <a:r>
              <a:rPr lang="ru-RU" sz="1400" dirty="0" err="1"/>
              <a:t>відносно</a:t>
            </a:r>
            <a:r>
              <a:rPr lang="ru-RU" sz="1400" dirty="0"/>
              <a:t> базового стану стенду без </a:t>
            </a:r>
            <a:r>
              <a:rPr lang="ru-RU" sz="1400" dirty="0" err="1"/>
              <a:t>плагіна</a:t>
            </a:r>
            <a:r>
              <a:rPr lang="ru-RU" sz="1400" dirty="0"/>
              <a:t>. </a:t>
            </a:r>
            <a:r>
              <a:rPr lang="ru-RU" sz="1400" dirty="0" err="1"/>
              <a:t>Виміри</a:t>
            </a:r>
            <a:r>
              <a:rPr lang="ru-RU" sz="1400" dirty="0"/>
              <a:t> </a:t>
            </a:r>
            <a:r>
              <a:rPr lang="ru-RU" sz="1400" dirty="0" err="1"/>
              <a:t>усереднюються</a:t>
            </a:r>
            <a:r>
              <a:rPr lang="ru-RU" sz="1400" dirty="0"/>
              <a:t> за </a:t>
            </a:r>
            <a:r>
              <a:rPr lang="ru-RU" sz="1400" dirty="0" err="1"/>
              <a:t>серією</a:t>
            </a:r>
            <a:r>
              <a:rPr lang="ru-RU" sz="1400" dirty="0"/>
              <a:t> </a:t>
            </a:r>
            <a:r>
              <a:rPr lang="ru-RU" sz="1400" dirty="0" err="1"/>
              <a:t>повторів</a:t>
            </a:r>
            <a:endParaRPr lang="ru-RU" sz="1400" dirty="0"/>
          </a:p>
        </p:txBody>
      </p:sp>
      <p:sp>
        <p:nvSpPr>
          <p:cNvPr id="5" name="Номер слайда 4">
            <a:extLst>
              <a:ext uri="{FF2B5EF4-FFF2-40B4-BE49-F238E27FC236}">
                <a16:creationId xmlns:a16="http://schemas.microsoft.com/office/drawing/2014/main" id="{F3EA73B1-28C6-BA4E-A1CA-A53ED5C4535D}"/>
              </a:ext>
            </a:extLst>
          </p:cNvPr>
          <p:cNvSpPr>
            <a:spLocks noGrp="1"/>
          </p:cNvSpPr>
          <p:nvPr>
            <p:ph type="sldNum" sz="quarter" idx="12"/>
          </p:nvPr>
        </p:nvSpPr>
        <p:spPr/>
        <p:txBody>
          <a:bodyPr/>
          <a:lstStyle/>
          <a:p>
            <a:fld id="{C1FF6DA9-008F-8B48-92A6-B652298478BF}" type="slidenum">
              <a:rPr lang="en-US" smtClean="0"/>
              <a:t>9</a:t>
            </a:fld>
            <a:endParaRPr lang="en-US" dirty="0"/>
          </a:p>
        </p:txBody>
      </p:sp>
      <p:pic>
        <p:nvPicPr>
          <p:cNvPr id="6" name="Рисунок 5" descr="Изображение выглядит как текст, Шрифт, Графика, символ&#10;&#10;Автоматически созданное описание">
            <a:extLst>
              <a:ext uri="{FF2B5EF4-FFF2-40B4-BE49-F238E27FC236}">
                <a16:creationId xmlns:a16="http://schemas.microsoft.com/office/drawing/2014/main" id="{841EBBBC-0EB3-0F9A-369B-02C57FA8D70D}"/>
              </a:ext>
            </a:extLst>
          </p:cNvPr>
          <p:cNvPicPr>
            <a:picLocks noChangeAspect="1"/>
          </p:cNvPicPr>
          <p:nvPr/>
        </p:nvPicPr>
        <p:blipFill>
          <a:blip r:embed="rId7"/>
          <a:stretch>
            <a:fillRect/>
          </a:stretch>
        </p:blipFill>
        <p:spPr>
          <a:xfrm>
            <a:off x="719931" y="2069574"/>
            <a:ext cx="2246520" cy="832979"/>
          </a:xfrm>
          <a:prstGeom prst="rect">
            <a:avLst/>
          </a:prstGeom>
        </p:spPr>
      </p:pic>
      <p:pic>
        <p:nvPicPr>
          <p:cNvPr id="9" name="Рисунок 8" descr="Изображение выглядит как текст, Шрифт, Графика, символ&#10;&#10;Автоматически созданное описание">
            <a:extLst>
              <a:ext uri="{FF2B5EF4-FFF2-40B4-BE49-F238E27FC236}">
                <a16:creationId xmlns:a16="http://schemas.microsoft.com/office/drawing/2014/main" id="{0DC4D97F-1852-8F51-3466-72C875E026D2}"/>
              </a:ext>
            </a:extLst>
          </p:cNvPr>
          <p:cNvPicPr>
            <a:picLocks noChangeAspect="1"/>
          </p:cNvPicPr>
          <p:nvPr/>
        </p:nvPicPr>
        <p:blipFill>
          <a:blip r:embed="rId8"/>
          <a:stretch>
            <a:fillRect/>
          </a:stretch>
        </p:blipFill>
        <p:spPr>
          <a:xfrm>
            <a:off x="850016" y="2999106"/>
            <a:ext cx="2318817" cy="859786"/>
          </a:xfrm>
          <a:prstGeom prst="rect">
            <a:avLst/>
          </a:prstGeom>
        </p:spPr>
      </p:pic>
      <p:pic>
        <p:nvPicPr>
          <p:cNvPr id="13" name="Рисунок 12" descr="Изображение выглядит как текст, Шрифт, Графика, снимок экрана&#10;&#10;Автоматически созданное описание">
            <a:extLst>
              <a:ext uri="{FF2B5EF4-FFF2-40B4-BE49-F238E27FC236}">
                <a16:creationId xmlns:a16="http://schemas.microsoft.com/office/drawing/2014/main" id="{C12F2D75-B679-B2CB-30F7-73054C6B73FA}"/>
              </a:ext>
            </a:extLst>
          </p:cNvPr>
          <p:cNvPicPr>
            <a:picLocks noChangeAspect="1"/>
          </p:cNvPicPr>
          <p:nvPr/>
        </p:nvPicPr>
        <p:blipFill>
          <a:blip r:embed="rId9"/>
          <a:stretch>
            <a:fillRect/>
          </a:stretch>
        </p:blipFill>
        <p:spPr>
          <a:xfrm>
            <a:off x="908390" y="4080957"/>
            <a:ext cx="2430908" cy="797217"/>
          </a:xfrm>
          <a:prstGeom prst="rect">
            <a:avLst/>
          </a:prstGeom>
        </p:spPr>
      </p:pic>
      <p:sp>
        <p:nvSpPr>
          <p:cNvPr id="15" name="TextBox 14">
            <a:extLst>
              <a:ext uri="{FF2B5EF4-FFF2-40B4-BE49-F238E27FC236}">
                <a16:creationId xmlns:a16="http://schemas.microsoft.com/office/drawing/2014/main" id="{26F1AFFA-1B25-4D33-634E-82588D523B15}"/>
              </a:ext>
            </a:extLst>
          </p:cNvPr>
          <p:cNvSpPr txBox="1"/>
          <p:nvPr/>
        </p:nvSpPr>
        <p:spPr>
          <a:xfrm>
            <a:off x="8398888" y="2261951"/>
            <a:ext cx="466794" cy="369332"/>
          </a:xfrm>
          <a:prstGeom prst="rect">
            <a:avLst/>
          </a:prstGeom>
          <a:noFill/>
        </p:spPr>
        <p:txBody>
          <a:bodyPr wrap="none" rtlCol="0">
            <a:spAutoFit/>
          </a:bodyPr>
          <a:lstStyle/>
          <a:p>
            <a:r>
              <a:rPr lang="en-US" dirty="0"/>
              <a:t>(</a:t>
            </a:r>
            <a:r>
              <a:rPr lang="uk-UA" dirty="0"/>
              <a:t>4</a:t>
            </a:r>
            <a:r>
              <a:rPr lang="en-US" dirty="0"/>
              <a:t>)</a:t>
            </a:r>
            <a:endParaRPr lang="ru-UA" dirty="0"/>
          </a:p>
        </p:txBody>
      </p:sp>
      <p:sp>
        <p:nvSpPr>
          <p:cNvPr id="17" name="TextBox 16">
            <a:extLst>
              <a:ext uri="{FF2B5EF4-FFF2-40B4-BE49-F238E27FC236}">
                <a16:creationId xmlns:a16="http://schemas.microsoft.com/office/drawing/2014/main" id="{257D2D19-692B-7859-1E55-D0B926B841AE}"/>
              </a:ext>
            </a:extLst>
          </p:cNvPr>
          <p:cNvSpPr txBox="1"/>
          <p:nvPr/>
        </p:nvSpPr>
        <p:spPr>
          <a:xfrm>
            <a:off x="8393395" y="3178976"/>
            <a:ext cx="466794" cy="369332"/>
          </a:xfrm>
          <a:prstGeom prst="rect">
            <a:avLst/>
          </a:prstGeom>
          <a:noFill/>
        </p:spPr>
        <p:txBody>
          <a:bodyPr wrap="none" rtlCol="0">
            <a:spAutoFit/>
          </a:bodyPr>
          <a:lstStyle/>
          <a:p>
            <a:r>
              <a:rPr lang="en-US" dirty="0"/>
              <a:t>(</a:t>
            </a:r>
            <a:r>
              <a:rPr lang="uk-UA" dirty="0"/>
              <a:t>5</a:t>
            </a:r>
            <a:r>
              <a:rPr lang="en-US" dirty="0"/>
              <a:t>)</a:t>
            </a:r>
            <a:endParaRPr lang="ru-UA" dirty="0"/>
          </a:p>
        </p:txBody>
      </p:sp>
      <p:sp>
        <p:nvSpPr>
          <p:cNvPr id="19" name="TextBox 18">
            <a:extLst>
              <a:ext uri="{FF2B5EF4-FFF2-40B4-BE49-F238E27FC236}">
                <a16:creationId xmlns:a16="http://schemas.microsoft.com/office/drawing/2014/main" id="{165CA1EE-7748-BFF4-8B84-13ADC79F59B1}"/>
              </a:ext>
            </a:extLst>
          </p:cNvPr>
          <p:cNvSpPr txBox="1"/>
          <p:nvPr/>
        </p:nvSpPr>
        <p:spPr>
          <a:xfrm>
            <a:off x="8418807" y="4252750"/>
            <a:ext cx="466794" cy="369332"/>
          </a:xfrm>
          <a:prstGeom prst="rect">
            <a:avLst/>
          </a:prstGeom>
          <a:noFill/>
        </p:spPr>
        <p:txBody>
          <a:bodyPr wrap="none" rtlCol="0">
            <a:spAutoFit/>
          </a:bodyPr>
          <a:lstStyle/>
          <a:p>
            <a:r>
              <a:rPr lang="en-US" dirty="0"/>
              <a:t>(</a:t>
            </a:r>
            <a:r>
              <a:rPr lang="uk-UA" dirty="0"/>
              <a:t>6</a:t>
            </a:r>
            <a:r>
              <a:rPr lang="en-US" dirty="0"/>
              <a:t>)</a:t>
            </a:r>
            <a:endParaRPr lang="ru-UA" dirty="0"/>
          </a:p>
        </p:txBody>
      </p:sp>
    </p:spTree>
    <p:extLst>
      <p:ext uri="{BB962C8B-B14F-4D97-AF65-F5344CB8AC3E}">
        <p14:creationId xmlns:p14="http://schemas.microsoft.com/office/powerpoint/2010/main" val="174607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997968" y="374694"/>
            <a:ext cx="6917290" cy="1153672"/>
          </a:xfrm>
        </p:spPr>
        <p:txBody>
          <a:bodyPr vert="horz" lIns="91440" tIns="45720" rIns="91440" bIns="45720" rtlCol="0" anchor="t">
            <a:normAutofit/>
          </a:bodyPr>
          <a:lstStyle/>
          <a:p>
            <a:pPr algn="l" defTabSz="914400">
              <a:defRPr sz="3400" b="1"/>
            </a:pPr>
            <a:r>
              <a:rPr lang="ru-RU" sz="2900" dirty="0"/>
              <a:t>Методика </a:t>
            </a:r>
            <a:r>
              <a:rPr lang="ru-RU" sz="2900" dirty="0" err="1"/>
              <a:t>оцінки</a:t>
            </a:r>
            <a:r>
              <a:rPr lang="ru-RU" sz="2900" dirty="0"/>
              <a:t> </a:t>
            </a:r>
            <a:r>
              <a:rPr lang="ru-RU" sz="2900" dirty="0" err="1"/>
              <a:t>ефективності</a:t>
            </a:r>
            <a:r>
              <a:rPr lang="ru-RU" sz="2900" dirty="0"/>
              <a:t> </a:t>
            </a:r>
            <a:r>
              <a:rPr lang="ru-RU" sz="2900" dirty="0" err="1"/>
              <a:t>плагінів</a:t>
            </a:r>
            <a:r>
              <a:rPr lang="ru-RU" sz="2900" dirty="0"/>
              <a:t> </a:t>
            </a:r>
            <a:r>
              <a:rPr lang="ru-RU" sz="2900" dirty="0" err="1"/>
              <a:t>безпеки</a:t>
            </a:r>
            <a:r>
              <a:rPr lang="ru-RU" sz="2900" dirty="0"/>
              <a:t> </a:t>
            </a:r>
            <a:r>
              <a:rPr lang="en-US" sz="2900" dirty="0"/>
              <a:t>WordPress</a:t>
            </a:r>
          </a:p>
        </p:txBody>
      </p:sp>
      <p:sp>
        <p:nvSpPr>
          <p:cNvPr id="3" name="TextBox 2"/>
          <p:cNvSpPr txBox="1"/>
          <p:nvPr/>
        </p:nvSpPr>
        <p:spPr>
          <a:xfrm>
            <a:off x="1085998" y="1528366"/>
            <a:ext cx="7342846" cy="4864033"/>
          </a:xfrm>
          <a:prstGeom prst="rect">
            <a:avLst/>
          </a:prstGeom>
        </p:spPr>
        <p:txBody>
          <a:bodyPr vert="horz" lIns="91440" tIns="45720" rIns="91440" bIns="45720" rtlCol="0" anchor="t">
            <a:normAutofit/>
          </a:bodyPr>
          <a:lstStyle/>
          <a:p>
            <a:r>
              <a:rPr lang="ru-RU" sz="1400" b="1" u="sng" dirty="0"/>
              <a:t>КРОК 6. </a:t>
            </a:r>
            <a:r>
              <a:rPr lang="ru-RU" sz="1400" b="1" u="sng" dirty="0" err="1"/>
              <a:t>Нормалізація</a:t>
            </a:r>
            <a:r>
              <a:rPr lang="ru-RU" sz="1400" b="1" u="sng" dirty="0"/>
              <a:t> </a:t>
            </a:r>
            <a:r>
              <a:rPr lang="ru-RU" sz="1400" b="1" u="sng" dirty="0" err="1"/>
              <a:t>показників</a:t>
            </a:r>
            <a:endParaRPr lang="en-US" sz="1400" b="1" u="sng" dirty="0"/>
          </a:p>
          <a:p>
            <a:endParaRPr lang="ru-RU" sz="1400" b="1" dirty="0"/>
          </a:p>
          <a:p>
            <a:r>
              <a:rPr lang="ru-RU" sz="1400" dirty="0"/>
              <a:t>Для </a:t>
            </a:r>
            <a:r>
              <a:rPr lang="ru-RU" sz="1400" dirty="0" err="1"/>
              <a:t>критеріїв-максимумів</a:t>
            </a:r>
            <a:r>
              <a:rPr lang="ru-RU" sz="1400" dirty="0"/>
              <a:t> (</a:t>
            </a:r>
            <a:r>
              <a:rPr lang="en" sz="1400" dirty="0"/>
              <a:t>Recall, </a:t>
            </a:r>
            <a:r>
              <a:rPr lang="ru-RU" sz="1400" dirty="0" err="1"/>
              <a:t>моніторинг</a:t>
            </a:r>
            <a:r>
              <a:rPr lang="ru-RU" sz="1400" dirty="0"/>
              <a:t> - </a:t>
            </a:r>
            <a:r>
              <a:rPr lang="ru-RU" sz="1400" dirty="0" err="1"/>
              <a:t>більше</a:t>
            </a:r>
            <a:r>
              <a:rPr lang="ru-RU" sz="1400" dirty="0"/>
              <a:t> </a:t>
            </a:r>
            <a:r>
              <a:rPr lang="ru-RU" sz="1400" dirty="0" err="1"/>
              <a:t>це</a:t>
            </a:r>
            <a:r>
              <a:rPr lang="ru-RU" sz="1400" dirty="0"/>
              <a:t> </a:t>
            </a:r>
            <a:r>
              <a:rPr lang="ru-RU" sz="1400" dirty="0" err="1"/>
              <a:t>краще</a:t>
            </a:r>
            <a:r>
              <a:rPr lang="ru-RU" sz="1400" dirty="0"/>
              <a:t>):</a:t>
            </a:r>
          </a:p>
          <a:p>
            <a:endParaRPr lang="en-US" sz="1400" b="1" dirty="0"/>
          </a:p>
          <a:p>
            <a:endParaRPr lang="en-US" sz="1400" b="1" dirty="0"/>
          </a:p>
          <a:p>
            <a:endParaRPr lang="en-US" sz="1400" b="1" dirty="0"/>
          </a:p>
          <a:p>
            <a:endParaRPr lang="ru-RU" sz="1400" b="1" dirty="0"/>
          </a:p>
          <a:p>
            <a:endParaRPr lang="en-US" sz="1400" b="1" dirty="0"/>
          </a:p>
          <a:p>
            <a:endParaRPr lang="en-US" sz="1400" b="1" dirty="0"/>
          </a:p>
          <a:p>
            <a:endParaRPr lang="uk-UA" sz="1400" b="1" dirty="0"/>
          </a:p>
          <a:p>
            <a:endParaRPr lang="en-US" sz="1400" b="1" dirty="0"/>
          </a:p>
          <a:p>
            <a:r>
              <a:rPr lang="ru-RU" sz="1400" dirty="0"/>
              <a:t>Для </a:t>
            </a:r>
            <a:r>
              <a:rPr lang="ru-RU" sz="1400" dirty="0" err="1"/>
              <a:t>критеріїв-мінімумів</a:t>
            </a:r>
            <a:r>
              <a:rPr lang="ru-RU" sz="1400" dirty="0"/>
              <a:t> (</a:t>
            </a:r>
            <a:r>
              <a:rPr lang="en" sz="1400" dirty="0"/>
              <a:t>FPR, </a:t>
            </a:r>
            <a:r>
              <a:rPr lang="ru-RU" sz="1400" dirty="0"/>
              <a:t>час </a:t>
            </a:r>
            <a:r>
              <a:rPr lang="ru-RU" sz="1400" dirty="0" err="1"/>
              <a:t>реакції</a:t>
            </a:r>
            <a:r>
              <a:rPr lang="ru-RU" sz="1400" dirty="0"/>
              <a:t>, </a:t>
            </a:r>
            <a:r>
              <a:rPr lang="en" sz="1400" dirty="0"/>
              <a:t>CPU </a:t>
            </a:r>
            <a:r>
              <a:rPr lang="uk-UA" sz="1400" dirty="0"/>
              <a:t>-</a:t>
            </a:r>
            <a:r>
              <a:rPr lang="en" sz="1400" dirty="0"/>
              <a:t> </a:t>
            </a:r>
            <a:r>
              <a:rPr lang="ru-RU" sz="1400" dirty="0" err="1"/>
              <a:t>менше</a:t>
            </a:r>
            <a:r>
              <a:rPr lang="ru-RU" sz="1400" dirty="0"/>
              <a:t> </a:t>
            </a:r>
            <a:r>
              <a:rPr lang="ru-RU" sz="1400" dirty="0" err="1"/>
              <a:t>це</a:t>
            </a:r>
            <a:r>
              <a:rPr lang="ru-RU" sz="1400" dirty="0"/>
              <a:t> </a:t>
            </a:r>
            <a:r>
              <a:rPr lang="ru-RU" sz="1400" dirty="0" err="1"/>
              <a:t>краще</a:t>
            </a:r>
            <a:r>
              <a:rPr lang="ru-RU" sz="1400" dirty="0"/>
              <a:t>):</a:t>
            </a:r>
            <a:endParaRPr lang="ru-RU" sz="1400" b="1" dirty="0"/>
          </a:p>
          <a:p>
            <a:endParaRPr lang="ru-RU" sz="1400" b="1" dirty="0"/>
          </a:p>
          <a:p>
            <a:endParaRPr lang="ru-RU" sz="1400" dirty="0"/>
          </a:p>
        </p:txBody>
      </p:sp>
      <p:sp>
        <p:nvSpPr>
          <p:cNvPr id="5" name="Номер слайда 4">
            <a:extLst>
              <a:ext uri="{FF2B5EF4-FFF2-40B4-BE49-F238E27FC236}">
                <a16:creationId xmlns:a16="http://schemas.microsoft.com/office/drawing/2014/main" id="{F3EA73B1-28C6-BA4E-A1CA-A53ED5C4535D}"/>
              </a:ext>
            </a:extLst>
          </p:cNvPr>
          <p:cNvSpPr>
            <a:spLocks noGrp="1"/>
          </p:cNvSpPr>
          <p:nvPr>
            <p:ph type="sldNum" sz="quarter" idx="12"/>
          </p:nvPr>
        </p:nvSpPr>
        <p:spPr/>
        <p:txBody>
          <a:bodyPr/>
          <a:lstStyle/>
          <a:p>
            <a:fld id="{C1FF6DA9-008F-8B48-92A6-B652298478BF}" type="slidenum">
              <a:rPr lang="en-US" smtClean="0"/>
              <a:t>10</a:t>
            </a:fld>
            <a:endParaRPr lang="en-US" dirty="0"/>
          </a:p>
        </p:txBody>
      </p:sp>
      <p:pic>
        <p:nvPicPr>
          <p:cNvPr id="6" name="Рисунок 5" descr="Изображение выглядит как текст, Шрифт, снимок экрана, линия&#10;&#10;Автоматически созданное описание">
            <a:extLst>
              <a:ext uri="{FF2B5EF4-FFF2-40B4-BE49-F238E27FC236}">
                <a16:creationId xmlns:a16="http://schemas.microsoft.com/office/drawing/2014/main" id="{8A4DB3FC-2534-2AE5-33B4-D381C786DF2E}"/>
              </a:ext>
            </a:extLst>
          </p:cNvPr>
          <p:cNvPicPr>
            <a:picLocks noChangeAspect="1"/>
          </p:cNvPicPr>
          <p:nvPr/>
        </p:nvPicPr>
        <p:blipFill>
          <a:blip r:embed="rId7"/>
          <a:stretch>
            <a:fillRect/>
          </a:stretch>
        </p:blipFill>
        <p:spPr>
          <a:xfrm>
            <a:off x="1084399" y="2380447"/>
            <a:ext cx="3886200" cy="1276065"/>
          </a:xfrm>
          <a:prstGeom prst="rect">
            <a:avLst/>
          </a:prstGeom>
        </p:spPr>
      </p:pic>
      <p:pic>
        <p:nvPicPr>
          <p:cNvPr id="9" name="Рисунок 8" descr="Изображение выглядит как Шрифт, текст, снимок экрана, линия&#10;&#10;Автоматически созданное описание">
            <a:extLst>
              <a:ext uri="{FF2B5EF4-FFF2-40B4-BE49-F238E27FC236}">
                <a16:creationId xmlns:a16="http://schemas.microsoft.com/office/drawing/2014/main" id="{B12884A1-7540-95ED-3D95-EBA27BE2EB2A}"/>
              </a:ext>
            </a:extLst>
          </p:cNvPr>
          <p:cNvPicPr>
            <a:picLocks noChangeAspect="1"/>
          </p:cNvPicPr>
          <p:nvPr/>
        </p:nvPicPr>
        <p:blipFill>
          <a:blip r:embed="rId8"/>
          <a:stretch>
            <a:fillRect/>
          </a:stretch>
        </p:blipFill>
        <p:spPr>
          <a:xfrm>
            <a:off x="1133458" y="4233348"/>
            <a:ext cx="3618041" cy="1188013"/>
          </a:xfrm>
          <a:prstGeom prst="rect">
            <a:avLst/>
          </a:prstGeom>
        </p:spPr>
      </p:pic>
      <p:sp>
        <p:nvSpPr>
          <p:cNvPr id="11" name="TextBox 10">
            <a:extLst>
              <a:ext uri="{FF2B5EF4-FFF2-40B4-BE49-F238E27FC236}">
                <a16:creationId xmlns:a16="http://schemas.microsoft.com/office/drawing/2014/main" id="{3F7D7795-6E8C-D1B3-1B3A-99F41FCDE8D0}"/>
              </a:ext>
            </a:extLst>
          </p:cNvPr>
          <p:cNvSpPr txBox="1"/>
          <p:nvPr/>
        </p:nvSpPr>
        <p:spPr>
          <a:xfrm>
            <a:off x="8105950" y="2833813"/>
            <a:ext cx="466794" cy="369332"/>
          </a:xfrm>
          <a:prstGeom prst="rect">
            <a:avLst/>
          </a:prstGeom>
          <a:noFill/>
        </p:spPr>
        <p:txBody>
          <a:bodyPr wrap="none" rtlCol="0">
            <a:spAutoFit/>
          </a:bodyPr>
          <a:lstStyle/>
          <a:p>
            <a:r>
              <a:rPr lang="en-US" dirty="0"/>
              <a:t>(</a:t>
            </a:r>
            <a:r>
              <a:rPr lang="uk-UA" dirty="0"/>
              <a:t>7</a:t>
            </a:r>
            <a:r>
              <a:rPr lang="en-US" dirty="0"/>
              <a:t>)</a:t>
            </a:r>
            <a:endParaRPr lang="ru-UA" dirty="0"/>
          </a:p>
        </p:txBody>
      </p:sp>
      <p:sp>
        <p:nvSpPr>
          <p:cNvPr id="13" name="TextBox 12">
            <a:extLst>
              <a:ext uri="{FF2B5EF4-FFF2-40B4-BE49-F238E27FC236}">
                <a16:creationId xmlns:a16="http://schemas.microsoft.com/office/drawing/2014/main" id="{A5763DAA-D098-4AA6-5A95-EEFBF64EF71B}"/>
              </a:ext>
            </a:extLst>
          </p:cNvPr>
          <p:cNvSpPr txBox="1"/>
          <p:nvPr/>
        </p:nvSpPr>
        <p:spPr>
          <a:xfrm>
            <a:off x="8105950" y="4677496"/>
            <a:ext cx="466794" cy="369332"/>
          </a:xfrm>
          <a:prstGeom prst="rect">
            <a:avLst/>
          </a:prstGeom>
          <a:noFill/>
        </p:spPr>
        <p:txBody>
          <a:bodyPr wrap="none" rtlCol="0">
            <a:spAutoFit/>
          </a:bodyPr>
          <a:lstStyle/>
          <a:p>
            <a:r>
              <a:rPr lang="en-US" dirty="0"/>
              <a:t>(</a:t>
            </a:r>
            <a:r>
              <a:rPr lang="uk-UA" dirty="0"/>
              <a:t>8</a:t>
            </a:r>
            <a:r>
              <a:rPr lang="en-US" dirty="0"/>
              <a:t>)</a:t>
            </a:r>
            <a:endParaRPr lang="ru-UA" dirty="0"/>
          </a:p>
        </p:txBody>
      </p:sp>
    </p:spTree>
    <p:extLst>
      <p:ext uri="{BB962C8B-B14F-4D97-AF65-F5344CB8AC3E}">
        <p14:creationId xmlns:p14="http://schemas.microsoft.com/office/powerpoint/2010/main" val="2768680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997968" y="374694"/>
            <a:ext cx="6917290" cy="1153672"/>
          </a:xfrm>
        </p:spPr>
        <p:txBody>
          <a:bodyPr vert="horz" lIns="91440" tIns="45720" rIns="91440" bIns="45720" rtlCol="0" anchor="t">
            <a:normAutofit/>
          </a:bodyPr>
          <a:lstStyle/>
          <a:p>
            <a:pPr algn="l" defTabSz="914400">
              <a:defRPr sz="3400" b="1"/>
            </a:pPr>
            <a:r>
              <a:rPr lang="ru-RU" sz="2900" dirty="0"/>
              <a:t>Методика </a:t>
            </a:r>
            <a:r>
              <a:rPr lang="ru-RU" sz="2900" dirty="0" err="1"/>
              <a:t>оцінки</a:t>
            </a:r>
            <a:r>
              <a:rPr lang="ru-RU" sz="2900" dirty="0"/>
              <a:t> </a:t>
            </a:r>
            <a:r>
              <a:rPr lang="ru-RU" sz="2900" dirty="0" err="1"/>
              <a:t>ефективності</a:t>
            </a:r>
            <a:r>
              <a:rPr lang="ru-RU" sz="2900" dirty="0"/>
              <a:t> </a:t>
            </a:r>
            <a:r>
              <a:rPr lang="ru-RU" sz="2900" dirty="0" err="1"/>
              <a:t>плагінів</a:t>
            </a:r>
            <a:r>
              <a:rPr lang="ru-RU" sz="2900" dirty="0"/>
              <a:t> </a:t>
            </a:r>
            <a:r>
              <a:rPr lang="ru-RU" sz="2900" dirty="0" err="1"/>
              <a:t>безпеки</a:t>
            </a:r>
            <a:r>
              <a:rPr lang="ru-RU" sz="2900" dirty="0"/>
              <a:t> </a:t>
            </a:r>
            <a:r>
              <a:rPr lang="en-US" sz="2900" dirty="0"/>
              <a:t>WordPress</a:t>
            </a:r>
          </a:p>
        </p:txBody>
      </p:sp>
      <p:sp>
        <p:nvSpPr>
          <p:cNvPr id="3" name="TextBox 2"/>
          <p:cNvSpPr txBox="1"/>
          <p:nvPr/>
        </p:nvSpPr>
        <p:spPr>
          <a:xfrm>
            <a:off x="1085998" y="1528366"/>
            <a:ext cx="7342846" cy="4864033"/>
          </a:xfrm>
          <a:prstGeom prst="rect">
            <a:avLst/>
          </a:prstGeom>
        </p:spPr>
        <p:txBody>
          <a:bodyPr vert="horz" lIns="91440" tIns="45720" rIns="91440" bIns="45720" rtlCol="0" anchor="t">
            <a:normAutofit/>
          </a:bodyPr>
          <a:lstStyle/>
          <a:p>
            <a:r>
              <a:rPr lang="ru-RU" sz="1400" b="1" u="sng" dirty="0"/>
              <a:t>КРОК 7. </a:t>
            </a:r>
            <a:r>
              <a:rPr lang="ru-RU" sz="1400" b="1" u="sng" dirty="0" err="1"/>
              <a:t>Розрахунок</a:t>
            </a:r>
            <a:r>
              <a:rPr lang="ru-RU" sz="1400" b="1" u="sng" dirty="0"/>
              <a:t> </a:t>
            </a:r>
            <a:r>
              <a:rPr lang="ru-RU" sz="1400" b="1" u="sng" dirty="0" err="1"/>
              <a:t>інтегральної</a:t>
            </a:r>
            <a:r>
              <a:rPr lang="ru-RU" sz="1400" b="1" u="sng" dirty="0"/>
              <a:t> </a:t>
            </a:r>
            <a:r>
              <a:rPr lang="ru-RU" sz="1400" b="1" u="sng" dirty="0" err="1"/>
              <a:t>оцінки</a:t>
            </a:r>
            <a:endParaRPr lang="ru-RU" sz="1400" b="1" u="sng" dirty="0"/>
          </a:p>
          <a:p>
            <a:endParaRPr lang="ru-RU" sz="1400" b="1" u="sng" dirty="0"/>
          </a:p>
          <a:p>
            <a:r>
              <a:rPr lang="ru-RU" sz="1400" dirty="0" err="1"/>
              <a:t>Лінійна</a:t>
            </a:r>
            <a:r>
              <a:rPr lang="ru-RU" sz="1400" dirty="0"/>
              <a:t> </a:t>
            </a:r>
            <a:r>
              <a:rPr lang="ru-RU" sz="1400" dirty="0" err="1"/>
              <a:t>адитивна</a:t>
            </a:r>
            <a:r>
              <a:rPr lang="ru-RU" sz="1400" dirty="0"/>
              <a:t> </a:t>
            </a:r>
            <a:r>
              <a:rPr lang="ru-RU" sz="1400" dirty="0" err="1"/>
              <a:t>згортка</a:t>
            </a:r>
            <a:r>
              <a:rPr lang="ru-RU" sz="1400" dirty="0"/>
              <a:t> </a:t>
            </a:r>
            <a:r>
              <a:rPr lang="ru-RU" sz="1400" dirty="0" err="1"/>
              <a:t>нормалізованих</a:t>
            </a:r>
            <a:r>
              <a:rPr lang="ru-RU" sz="1400" dirty="0"/>
              <a:t> </a:t>
            </a:r>
            <a:r>
              <a:rPr lang="ru-RU" sz="1400" dirty="0" err="1"/>
              <a:t>критеріїв</a:t>
            </a:r>
            <a:r>
              <a:rPr lang="ru-RU" sz="1400" dirty="0"/>
              <a:t>:</a:t>
            </a:r>
            <a:endParaRPr lang="en-US" sz="1400" b="1" dirty="0"/>
          </a:p>
          <a:p>
            <a:endParaRPr lang="en-US" sz="1400" b="1" dirty="0"/>
          </a:p>
          <a:p>
            <a:endParaRPr lang="en-US" sz="1400" b="1" dirty="0"/>
          </a:p>
          <a:p>
            <a:endParaRPr lang="ru-RU" sz="1400" dirty="0"/>
          </a:p>
          <a:p>
            <a:endParaRPr lang="ru-RU" sz="1400" b="1" dirty="0"/>
          </a:p>
          <a:p>
            <a:endParaRPr lang="en-US" sz="1400" b="1" dirty="0"/>
          </a:p>
          <a:p>
            <a:r>
              <a:rPr lang="ru-RU" sz="1400" b="1" dirty="0" err="1"/>
              <a:t>Ваговий</a:t>
            </a:r>
            <a:r>
              <a:rPr lang="ru-RU" sz="1400" b="1" dirty="0"/>
              <a:t> вектор:</a:t>
            </a:r>
          </a:p>
          <a:p>
            <a:endParaRPr lang="ru-RU" sz="1400" dirty="0"/>
          </a:p>
          <a:p>
            <a:r>
              <a:rPr lang="en" sz="1400" b="1" dirty="0"/>
              <a:t>w = (0,35;  0,15;  0,15;  0,10;  0,25)</a:t>
            </a:r>
          </a:p>
          <a:p>
            <a:r>
              <a:rPr lang="en" sz="1400" b="1" dirty="0"/>
              <a:t>    </a:t>
            </a:r>
            <a:r>
              <a:rPr lang="uk-UA" sz="1400" b="1" dirty="0"/>
              <a:t>       </a:t>
            </a:r>
            <a:r>
              <a:rPr lang="en" sz="1400" b="1" dirty="0"/>
              <a:t> ↓      </a:t>
            </a:r>
            <a:r>
              <a:rPr lang="uk-UA" sz="1400" b="1" dirty="0"/>
              <a:t>  </a:t>
            </a:r>
            <a:r>
              <a:rPr lang="en" sz="1400" b="1" dirty="0"/>
              <a:t>↓      </a:t>
            </a:r>
            <a:r>
              <a:rPr lang="uk-UA" sz="1400" b="1" dirty="0"/>
              <a:t>  </a:t>
            </a:r>
            <a:r>
              <a:rPr lang="en" sz="1400" b="1" dirty="0"/>
              <a:t>↓     </a:t>
            </a:r>
            <a:r>
              <a:rPr lang="uk-UA" sz="1400" b="1" dirty="0"/>
              <a:t>  </a:t>
            </a:r>
            <a:r>
              <a:rPr lang="en" sz="1400" b="1" dirty="0"/>
              <a:t> ↓      </a:t>
            </a:r>
            <a:r>
              <a:rPr lang="uk-UA" sz="1400" b="1" dirty="0"/>
              <a:t>  </a:t>
            </a:r>
            <a:r>
              <a:rPr lang="en" sz="1400" b="1" dirty="0"/>
              <a:t>↓</a:t>
            </a:r>
          </a:p>
          <a:p>
            <a:r>
              <a:rPr lang="en" sz="1400" b="1" dirty="0"/>
              <a:t>  </a:t>
            </a:r>
            <a:r>
              <a:rPr lang="uk-UA" sz="1400" b="1" dirty="0"/>
              <a:t> </a:t>
            </a:r>
            <a:r>
              <a:rPr lang="en" sz="1400" b="1" dirty="0"/>
              <a:t>Recall  FPR  Latency  CPU  Monitoring</a:t>
            </a:r>
            <a:endParaRPr lang="uk-UA" sz="1400" b="1" dirty="0"/>
          </a:p>
          <a:p>
            <a:endParaRPr lang="uk-UA" sz="1400" b="1" dirty="0"/>
          </a:p>
          <a:p>
            <a:r>
              <a:rPr lang="ru-RU" sz="1400" b="1" u="sng" dirty="0"/>
              <a:t>КРОК 8. </a:t>
            </a:r>
            <a:r>
              <a:rPr lang="ru-RU" sz="1400" b="1" u="sng" dirty="0" err="1"/>
              <a:t>Ранжування</a:t>
            </a:r>
            <a:r>
              <a:rPr lang="ru-RU" sz="1400" b="1" u="sng" dirty="0"/>
              <a:t> та Парето-</a:t>
            </a:r>
            <a:r>
              <a:rPr lang="ru-RU" sz="1400" b="1" u="sng" dirty="0" err="1"/>
              <a:t>аналіз</a:t>
            </a:r>
            <a:endParaRPr lang="ru-RU" sz="1400" b="1" u="sng" dirty="0"/>
          </a:p>
          <a:p>
            <a:endParaRPr lang="uk-UA" sz="1400" b="1" dirty="0"/>
          </a:p>
          <a:p>
            <a:r>
              <a:rPr lang="ru-RU" sz="1400" dirty="0" err="1"/>
              <a:t>Сортування</a:t>
            </a:r>
            <a:r>
              <a:rPr lang="ru-RU" sz="1400" dirty="0"/>
              <a:t> альтернатив за </a:t>
            </a:r>
            <a:r>
              <a:rPr lang="en" sz="1400" dirty="0"/>
              <a:t>U(p)</a:t>
            </a:r>
          </a:p>
          <a:p>
            <a:r>
              <a:rPr lang="ru-RU" sz="1400" dirty="0" err="1"/>
              <a:t>Перевірка</a:t>
            </a:r>
            <a:r>
              <a:rPr lang="ru-RU" sz="1400" dirty="0"/>
              <a:t> </a:t>
            </a:r>
            <a:r>
              <a:rPr lang="ru-RU" sz="1400" dirty="0" err="1"/>
              <a:t>домінування</a:t>
            </a:r>
            <a:r>
              <a:rPr lang="ru-RU" sz="1400" dirty="0"/>
              <a:t> за </a:t>
            </a:r>
            <a:r>
              <a:rPr lang="ru-RU" sz="1400" dirty="0" err="1"/>
              <a:t>окремими</a:t>
            </a:r>
            <a:r>
              <a:rPr lang="ru-RU" sz="1400" dirty="0"/>
              <a:t> </a:t>
            </a:r>
            <a:r>
              <a:rPr lang="ru-RU" sz="1400" dirty="0" err="1"/>
              <a:t>критеріями</a:t>
            </a:r>
            <a:endParaRPr lang="ru-RU" sz="1400" dirty="0"/>
          </a:p>
          <a:p>
            <a:r>
              <a:rPr lang="ru-RU" sz="1400" dirty="0" err="1"/>
              <a:t>Виявлення</a:t>
            </a:r>
            <a:r>
              <a:rPr lang="ru-RU" sz="1400" dirty="0"/>
              <a:t> </a:t>
            </a:r>
            <a:r>
              <a:rPr lang="en" sz="1400" dirty="0"/>
              <a:t>Pareto-</a:t>
            </a:r>
            <a:r>
              <a:rPr lang="ru-RU" sz="1400" dirty="0" err="1"/>
              <a:t>оптимальних</a:t>
            </a:r>
            <a:r>
              <a:rPr lang="ru-RU" sz="1400" dirty="0"/>
              <a:t> </a:t>
            </a:r>
            <a:r>
              <a:rPr lang="ru-RU" sz="1400" dirty="0" err="1"/>
              <a:t>рішень</a:t>
            </a:r>
            <a:endParaRPr lang="ru-RU" sz="1400" dirty="0"/>
          </a:p>
          <a:p>
            <a:r>
              <a:rPr lang="ru-RU" sz="1400" dirty="0" err="1"/>
              <a:t>Формування</a:t>
            </a:r>
            <a:r>
              <a:rPr lang="ru-RU" sz="1400" dirty="0"/>
              <a:t> </a:t>
            </a:r>
            <a:r>
              <a:rPr lang="ru-RU" sz="1400" dirty="0" err="1"/>
              <a:t>рекомендацій</a:t>
            </a:r>
            <a:r>
              <a:rPr lang="ru-RU" sz="1400" dirty="0"/>
              <a:t> для </a:t>
            </a:r>
            <a:r>
              <a:rPr lang="en" sz="1400" dirty="0"/>
              <a:t>e-commerce</a:t>
            </a:r>
            <a:endParaRPr lang="ru-RU" sz="1400" dirty="0"/>
          </a:p>
        </p:txBody>
      </p:sp>
      <p:sp>
        <p:nvSpPr>
          <p:cNvPr id="5" name="Номер слайда 4">
            <a:extLst>
              <a:ext uri="{FF2B5EF4-FFF2-40B4-BE49-F238E27FC236}">
                <a16:creationId xmlns:a16="http://schemas.microsoft.com/office/drawing/2014/main" id="{F3EA73B1-28C6-BA4E-A1CA-A53ED5C4535D}"/>
              </a:ext>
            </a:extLst>
          </p:cNvPr>
          <p:cNvSpPr>
            <a:spLocks noGrp="1"/>
          </p:cNvSpPr>
          <p:nvPr>
            <p:ph type="sldNum" sz="quarter" idx="12"/>
          </p:nvPr>
        </p:nvSpPr>
        <p:spPr/>
        <p:txBody>
          <a:bodyPr/>
          <a:lstStyle/>
          <a:p>
            <a:fld id="{C1FF6DA9-008F-8B48-92A6-B652298478BF}" type="slidenum">
              <a:rPr lang="en-US" smtClean="0"/>
              <a:t>11</a:t>
            </a:fld>
            <a:endParaRPr lang="en-US" dirty="0"/>
          </a:p>
        </p:txBody>
      </p:sp>
      <p:pic>
        <p:nvPicPr>
          <p:cNvPr id="6" name="Рисунок 5" descr="Изображение выглядит как Шрифт, Графика, типография, символ&#10;&#10;Автоматически созданное описание">
            <a:extLst>
              <a:ext uri="{FF2B5EF4-FFF2-40B4-BE49-F238E27FC236}">
                <a16:creationId xmlns:a16="http://schemas.microsoft.com/office/drawing/2014/main" id="{833B17AD-CACA-CF6B-2D3A-A8E14639E130}"/>
              </a:ext>
            </a:extLst>
          </p:cNvPr>
          <p:cNvPicPr>
            <a:picLocks noChangeAspect="1"/>
          </p:cNvPicPr>
          <p:nvPr/>
        </p:nvPicPr>
        <p:blipFill>
          <a:blip r:embed="rId7"/>
          <a:stretch>
            <a:fillRect/>
          </a:stretch>
        </p:blipFill>
        <p:spPr>
          <a:xfrm>
            <a:off x="757420" y="2164229"/>
            <a:ext cx="3111420" cy="1153672"/>
          </a:xfrm>
          <a:prstGeom prst="rect">
            <a:avLst/>
          </a:prstGeom>
        </p:spPr>
      </p:pic>
      <p:sp>
        <p:nvSpPr>
          <p:cNvPr id="7" name="TextBox 6">
            <a:extLst>
              <a:ext uri="{FF2B5EF4-FFF2-40B4-BE49-F238E27FC236}">
                <a16:creationId xmlns:a16="http://schemas.microsoft.com/office/drawing/2014/main" id="{A3ECC35F-60DB-5461-3FD4-780342C7E539}"/>
              </a:ext>
            </a:extLst>
          </p:cNvPr>
          <p:cNvSpPr txBox="1"/>
          <p:nvPr/>
        </p:nvSpPr>
        <p:spPr>
          <a:xfrm>
            <a:off x="7915258" y="2556399"/>
            <a:ext cx="466794" cy="369332"/>
          </a:xfrm>
          <a:prstGeom prst="rect">
            <a:avLst/>
          </a:prstGeom>
          <a:noFill/>
        </p:spPr>
        <p:txBody>
          <a:bodyPr wrap="none" rtlCol="0">
            <a:spAutoFit/>
          </a:bodyPr>
          <a:lstStyle/>
          <a:p>
            <a:r>
              <a:rPr lang="en-US" dirty="0"/>
              <a:t>(</a:t>
            </a:r>
            <a:r>
              <a:rPr lang="uk-UA" dirty="0"/>
              <a:t>9</a:t>
            </a:r>
            <a:r>
              <a:rPr lang="en-US" dirty="0"/>
              <a:t>)</a:t>
            </a:r>
            <a:endParaRPr lang="ru-UA" dirty="0"/>
          </a:p>
        </p:txBody>
      </p:sp>
    </p:spTree>
    <p:extLst>
      <p:ext uri="{BB962C8B-B14F-4D97-AF65-F5344CB8AC3E}">
        <p14:creationId xmlns:p14="http://schemas.microsoft.com/office/powerpoint/2010/main" val="3959806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lumMod val="5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28" name="Freeform: Shape 27">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30" name="Picture 29">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2" name="Rectangle 31">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590693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6" name="Rectangle 3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8" name="Oval 37">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421698"/>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0575" y="321581"/>
            <a:ext cx="7068872" cy="995233"/>
          </a:xfrm>
        </p:spPr>
        <p:txBody>
          <a:bodyPr vert="horz" lIns="91440" tIns="45720" rIns="91440" bIns="45720" rtlCol="0" anchor="t">
            <a:normAutofit fontScale="90000"/>
          </a:bodyPr>
          <a:lstStyle/>
          <a:p>
            <a:pPr algn="l" defTabSz="914400">
              <a:defRPr sz="3400" b="1"/>
            </a:pPr>
            <a:r>
              <a:rPr lang="en-US" sz="3300" dirty="0" err="1"/>
              <a:t>Формальна</a:t>
            </a:r>
            <a:r>
              <a:rPr lang="en-US" sz="3300" dirty="0"/>
              <a:t> </a:t>
            </a:r>
            <a:r>
              <a:rPr lang="en-US" sz="3300" dirty="0" err="1"/>
              <a:t>модель</a:t>
            </a:r>
            <a:r>
              <a:rPr lang="en-US" sz="3300" dirty="0"/>
              <a:t> </a:t>
            </a:r>
            <a:r>
              <a:rPr lang="en-US" sz="3300" dirty="0" err="1"/>
              <a:t>оцінювання</a:t>
            </a:r>
            <a:r>
              <a:rPr lang="uk-UA" sz="3300" dirty="0"/>
              <a:t> плагінів безпеки</a:t>
            </a:r>
            <a:endParaRPr lang="en-US" sz="3300" dirty="0"/>
          </a:p>
        </p:txBody>
      </p:sp>
      <p:sp>
        <p:nvSpPr>
          <p:cNvPr id="3" name="TextBox 2"/>
          <p:cNvSpPr txBox="1"/>
          <p:nvPr/>
        </p:nvSpPr>
        <p:spPr>
          <a:xfrm>
            <a:off x="960575" y="1703260"/>
            <a:ext cx="7658720" cy="3559219"/>
          </a:xfrm>
          <a:prstGeom prst="rect">
            <a:avLst/>
          </a:prstGeom>
        </p:spPr>
        <p:txBody>
          <a:bodyPr vert="horz" lIns="91440" tIns="45720" rIns="91440" bIns="45720" rtlCol="0" anchor="t">
            <a:normAutofit/>
          </a:bodyPr>
          <a:lstStyle/>
          <a:p>
            <a:pPr algn="just"/>
            <a:r>
              <a:rPr lang="uk-UA" dirty="0">
                <a:solidFill>
                  <a:srgbClr val="FFFFFF"/>
                </a:solidFill>
              </a:rPr>
              <a:t>Для формального опису процесу оцінювання використано множини компонентів, вразливостей і функцію детектування. Набір компонентів P включає плагіни, встановлені на сайті, а множина V містить відомі вразливості, релевантні цим компонентам.</a:t>
            </a:r>
          </a:p>
          <a:p>
            <a:pPr algn="just"/>
            <a:endParaRPr lang="uk-UA" dirty="0">
              <a:solidFill>
                <a:srgbClr val="FFFFFF"/>
              </a:solidFill>
            </a:endParaRPr>
          </a:p>
          <a:p>
            <a:pPr algn="just">
              <a:spcBef>
                <a:spcPts val="400"/>
              </a:spcBef>
            </a:pPr>
            <a:r>
              <a:rPr lang="uk-UA" dirty="0">
                <a:solidFill>
                  <a:srgbClr val="FFFFFF"/>
                </a:solidFill>
              </a:rPr>
              <a:t>Для кожного плагіна безпеки визначається функція, яка відображає, чи була зафіксована вразливість або ризик. На основі співставлення результатів із «істиною» формується матриця помилок (TP, FP, FN, TN). Такий підхід дозволяє перейти від описових оцінок до кількісних показників та забезпечує порівнюваність результатів між різними інструментами.</a:t>
            </a:r>
          </a:p>
        </p:txBody>
      </p:sp>
      <p:sp>
        <p:nvSpPr>
          <p:cNvPr id="5" name="Номер слайда 4">
            <a:extLst>
              <a:ext uri="{FF2B5EF4-FFF2-40B4-BE49-F238E27FC236}">
                <a16:creationId xmlns:a16="http://schemas.microsoft.com/office/drawing/2014/main" id="{FCC90409-D128-AAAC-0E87-2A98547366B4}"/>
              </a:ext>
            </a:extLst>
          </p:cNvPr>
          <p:cNvSpPr>
            <a:spLocks noGrp="1"/>
          </p:cNvSpPr>
          <p:nvPr>
            <p:ph type="sldNum" sz="quarter" idx="12"/>
          </p:nvPr>
        </p:nvSpPr>
        <p:spPr/>
        <p:txBody>
          <a:bodyPr/>
          <a:lstStyle/>
          <a:p>
            <a:fld id="{C1FF6DA9-008F-8B48-92A6-B652298478BF}" type="slidenum">
              <a:rPr lang="en-US" smtClean="0"/>
              <a:t>12</a:t>
            </a:fld>
            <a:endParaRPr lang="en-US" dirty="0"/>
          </a:p>
        </p:txBody>
      </p:sp>
      <p:pic>
        <p:nvPicPr>
          <p:cNvPr id="9" name="Рисунок 8" descr="Изображение выглядит как Шрифт, рукописный текст, Графика, типография&#10;&#10;Автоматически созданное описание">
            <a:extLst>
              <a:ext uri="{FF2B5EF4-FFF2-40B4-BE49-F238E27FC236}">
                <a16:creationId xmlns:a16="http://schemas.microsoft.com/office/drawing/2014/main" id="{0193F533-0E4D-133B-38BD-24EFD9885A45}"/>
              </a:ext>
            </a:extLst>
          </p:cNvPr>
          <p:cNvPicPr>
            <a:picLocks noChangeAspect="1"/>
          </p:cNvPicPr>
          <p:nvPr/>
        </p:nvPicPr>
        <p:blipFill>
          <a:blip r:embed="rId5"/>
          <a:stretch>
            <a:fillRect/>
          </a:stretch>
        </p:blipFill>
        <p:spPr>
          <a:xfrm>
            <a:off x="539757" y="6624914"/>
            <a:ext cx="2907751" cy="9316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lumMod val="5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28" name="Freeform: Shape 27">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30" name="Picture 29">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2" name="Rectangle 31">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590693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6" name="Rectangle 3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8" name="Oval 37">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421698"/>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228" y="111449"/>
            <a:ext cx="7623782" cy="892214"/>
          </a:xfrm>
        </p:spPr>
        <p:txBody>
          <a:bodyPr vert="horz" lIns="91440" tIns="45720" rIns="91440" bIns="45720" rtlCol="0" anchor="t">
            <a:noAutofit/>
          </a:bodyPr>
          <a:lstStyle/>
          <a:p>
            <a:pPr algn="l" defTabSz="914400">
              <a:defRPr sz="3400" b="1"/>
            </a:pPr>
            <a:r>
              <a:rPr lang="en-US" sz="3000" dirty="0" err="1"/>
              <a:t>Формальна</a:t>
            </a:r>
            <a:r>
              <a:rPr lang="en-US" sz="3000" dirty="0"/>
              <a:t> </a:t>
            </a:r>
            <a:r>
              <a:rPr lang="en-US" sz="3000" dirty="0" err="1"/>
              <a:t>модель</a:t>
            </a:r>
            <a:r>
              <a:rPr lang="en-US" sz="3000" dirty="0"/>
              <a:t> </a:t>
            </a:r>
            <a:r>
              <a:rPr lang="en-US" sz="3000" dirty="0" err="1"/>
              <a:t>оцінювання</a:t>
            </a:r>
            <a:r>
              <a:rPr lang="uk-UA" sz="3000" dirty="0"/>
              <a:t> плагінів безпеки</a:t>
            </a:r>
            <a:endParaRPr lang="en-US" sz="3000" dirty="0"/>
          </a:p>
        </p:txBody>
      </p:sp>
      <p:sp>
        <p:nvSpPr>
          <p:cNvPr id="5" name="Номер слайда 4">
            <a:extLst>
              <a:ext uri="{FF2B5EF4-FFF2-40B4-BE49-F238E27FC236}">
                <a16:creationId xmlns:a16="http://schemas.microsoft.com/office/drawing/2014/main" id="{FCC90409-D128-AAAC-0E87-2A98547366B4}"/>
              </a:ext>
            </a:extLst>
          </p:cNvPr>
          <p:cNvSpPr>
            <a:spLocks noGrp="1"/>
          </p:cNvSpPr>
          <p:nvPr>
            <p:ph type="sldNum" sz="quarter" idx="12"/>
          </p:nvPr>
        </p:nvSpPr>
        <p:spPr/>
        <p:txBody>
          <a:bodyPr/>
          <a:lstStyle/>
          <a:p>
            <a:fld id="{C1FF6DA9-008F-8B48-92A6-B652298478BF}" type="slidenum">
              <a:rPr lang="en-US" smtClean="0"/>
              <a:t>13</a:t>
            </a:fld>
            <a:endParaRPr lang="en-US" dirty="0"/>
          </a:p>
        </p:txBody>
      </p:sp>
      <p:sp>
        <p:nvSpPr>
          <p:cNvPr id="6" name="TextBox 5">
            <a:extLst>
              <a:ext uri="{FF2B5EF4-FFF2-40B4-BE49-F238E27FC236}">
                <a16:creationId xmlns:a16="http://schemas.microsoft.com/office/drawing/2014/main" id="{8AC9A0B6-8426-8198-B888-D3E7AC77B230}"/>
              </a:ext>
            </a:extLst>
          </p:cNvPr>
          <p:cNvSpPr txBox="1"/>
          <p:nvPr/>
        </p:nvSpPr>
        <p:spPr>
          <a:xfrm>
            <a:off x="795861" y="1015642"/>
            <a:ext cx="6673150" cy="687368"/>
          </a:xfrm>
          <a:prstGeom prst="rect">
            <a:avLst/>
          </a:prstGeom>
          <a:noFill/>
        </p:spPr>
        <p:txBody>
          <a:bodyPr wrap="square">
            <a:spAutoFit/>
          </a:bodyPr>
          <a:lstStyle/>
          <a:p>
            <a:pPr algn="just">
              <a:spcBef>
                <a:spcPts val="800"/>
              </a:spcBef>
            </a:pPr>
            <a:r>
              <a:rPr lang="uk-UA" sz="1400" b="1" dirty="0">
                <a:solidFill>
                  <a:srgbClr val="FFFFFF"/>
                </a:solidFill>
              </a:rPr>
              <a:t>Математичний опис моделі:</a:t>
            </a:r>
          </a:p>
          <a:p>
            <a:pPr algn="just">
              <a:spcBef>
                <a:spcPts val="800"/>
              </a:spcBef>
            </a:pPr>
            <a:r>
              <a:rPr lang="uk-UA" sz="1800" b="1" dirty="0"/>
              <a:t>					</a:t>
            </a:r>
            <a:endParaRPr lang="uk-UA" b="1" dirty="0">
              <a:solidFill>
                <a:srgbClr val="FFFFFF"/>
              </a:solidFill>
            </a:endParaRPr>
          </a:p>
        </p:txBody>
      </p:sp>
      <p:sp>
        <p:nvSpPr>
          <p:cNvPr id="7" name="TextBox 6">
            <a:extLst>
              <a:ext uri="{FF2B5EF4-FFF2-40B4-BE49-F238E27FC236}">
                <a16:creationId xmlns:a16="http://schemas.microsoft.com/office/drawing/2014/main" id="{AFE341FE-4893-A1B6-DE9D-EBAD6610569C}"/>
              </a:ext>
            </a:extLst>
          </p:cNvPr>
          <p:cNvSpPr txBox="1"/>
          <p:nvPr/>
        </p:nvSpPr>
        <p:spPr>
          <a:xfrm>
            <a:off x="799061" y="1842807"/>
            <a:ext cx="4586288" cy="307777"/>
          </a:xfrm>
          <a:prstGeom prst="rect">
            <a:avLst/>
          </a:prstGeom>
          <a:noFill/>
        </p:spPr>
        <p:txBody>
          <a:bodyPr wrap="square">
            <a:spAutoFit/>
          </a:bodyPr>
          <a:lstStyle/>
          <a:p>
            <a:pPr algn="just">
              <a:spcBef>
                <a:spcPts val="300"/>
              </a:spcBef>
            </a:pPr>
            <a:r>
              <a:rPr lang="uk-UA" sz="1400" b="1" dirty="0"/>
              <a:t>Аксіома повноти:  </a:t>
            </a:r>
            <a:endParaRPr lang="en-US" sz="1400" b="1" dirty="0"/>
          </a:p>
        </p:txBody>
      </p:sp>
      <p:sp>
        <p:nvSpPr>
          <p:cNvPr id="15" name="TextBox 14">
            <a:extLst>
              <a:ext uri="{FF2B5EF4-FFF2-40B4-BE49-F238E27FC236}">
                <a16:creationId xmlns:a16="http://schemas.microsoft.com/office/drawing/2014/main" id="{8766EAF5-0154-F421-199D-1FBC65D1A296}"/>
              </a:ext>
            </a:extLst>
          </p:cNvPr>
          <p:cNvSpPr txBox="1"/>
          <p:nvPr/>
        </p:nvSpPr>
        <p:spPr>
          <a:xfrm>
            <a:off x="802803" y="2650206"/>
            <a:ext cx="4586288" cy="307777"/>
          </a:xfrm>
          <a:prstGeom prst="rect">
            <a:avLst/>
          </a:prstGeom>
          <a:noFill/>
        </p:spPr>
        <p:txBody>
          <a:bodyPr wrap="square">
            <a:spAutoFit/>
          </a:bodyPr>
          <a:lstStyle/>
          <a:p>
            <a:pPr algn="just">
              <a:spcBef>
                <a:spcPts val="100"/>
              </a:spcBef>
            </a:pPr>
            <a:r>
              <a:rPr lang="uk-UA" sz="1400" b="1" dirty="0"/>
              <a:t>Аксіома точності:  </a:t>
            </a:r>
            <a:endParaRPr lang="en-US" sz="1400" b="1" dirty="0"/>
          </a:p>
        </p:txBody>
      </p:sp>
      <p:sp>
        <p:nvSpPr>
          <p:cNvPr id="19" name="TextBox 18">
            <a:extLst>
              <a:ext uri="{FF2B5EF4-FFF2-40B4-BE49-F238E27FC236}">
                <a16:creationId xmlns:a16="http://schemas.microsoft.com/office/drawing/2014/main" id="{3B3D4C88-6ADA-4FB1-D2E2-773A010C897E}"/>
              </a:ext>
            </a:extLst>
          </p:cNvPr>
          <p:cNvSpPr txBox="1"/>
          <p:nvPr/>
        </p:nvSpPr>
        <p:spPr>
          <a:xfrm>
            <a:off x="763583" y="5637372"/>
            <a:ext cx="4586288" cy="307777"/>
          </a:xfrm>
          <a:prstGeom prst="rect">
            <a:avLst/>
          </a:prstGeom>
          <a:noFill/>
        </p:spPr>
        <p:txBody>
          <a:bodyPr wrap="square">
            <a:spAutoFit/>
          </a:bodyPr>
          <a:lstStyle/>
          <a:p>
            <a:pPr algn="just">
              <a:spcBef>
                <a:spcPts val="400"/>
              </a:spcBef>
            </a:pPr>
            <a:r>
              <a:rPr lang="uk-UA" sz="1400" b="1" dirty="0"/>
              <a:t>Підсумкова оцінка:</a:t>
            </a:r>
          </a:p>
        </p:txBody>
      </p:sp>
      <p:sp>
        <p:nvSpPr>
          <p:cNvPr id="23" name="TextBox 22">
            <a:extLst>
              <a:ext uri="{FF2B5EF4-FFF2-40B4-BE49-F238E27FC236}">
                <a16:creationId xmlns:a16="http://schemas.microsoft.com/office/drawing/2014/main" id="{771255DF-EEEB-D982-77ED-EDC2B2C824A6}"/>
              </a:ext>
            </a:extLst>
          </p:cNvPr>
          <p:cNvSpPr txBox="1"/>
          <p:nvPr/>
        </p:nvSpPr>
        <p:spPr>
          <a:xfrm>
            <a:off x="2991055" y="1439369"/>
            <a:ext cx="4586288" cy="307777"/>
          </a:xfrm>
          <a:prstGeom prst="rect">
            <a:avLst/>
          </a:prstGeom>
          <a:noFill/>
        </p:spPr>
        <p:txBody>
          <a:bodyPr wrap="square">
            <a:spAutoFit/>
          </a:bodyPr>
          <a:lstStyle/>
          <a:p>
            <a:r>
              <a:rPr lang="uk-UA" sz="1400" dirty="0"/>
              <a:t>де 1 – загрозу виявлено, 0 – ні</a:t>
            </a:r>
            <a:endParaRPr lang="ru-UA" sz="1400" dirty="0"/>
          </a:p>
        </p:txBody>
      </p:sp>
      <p:pic>
        <p:nvPicPr>
          <p:cNvPr id="27" name="Рисунок 26" descr="Изображение выглядит как Шрифт, рукописный текст, Графика, типография&#10;&#10;Автоматически созданное описание">
            <a:extLst>
              <a:ext uri="{FF2B5EF4-FFF2-40B4-BE49-F238E27FC236}">
                <a16:creationId xmlns:a16="http://schemas.microsoft.com/office/drawing/2014/main" id="{3783061B-F854-82C9-C70B-0CFC71DDAFF6}"/>
              </a:ext>
            </a:extLst>
          </p:cNvPr>
          <p:cNvPicPr>
            <a:picLocks noChangeAspect="1"/>
          </p:cNvPicPr>
          <p:nvPr/>
        </p:nvPicPr>
        <p:blipFill>
          <a:blip r:embed="rId5"/>
          <a:stretch>
            <a:fillRect/>
          </a:stretch>
        </p:blipFill>
        <p:spPr>
          <a:xfrm>
            <a:off x="462995" y="1135886"/>
            <a:ext cx="2714306" cy="869632"/>
          </a:xfrm>
          <a:prstGeom prst="rect">
            <a:avLst/>
          </a:prstGeom>
        </p:spPr>
      </p:pic>
      <p:pic>
        <p:nvPicPr>
          <p:cNvPr id="31" name="Рисунок 30" descr="Изображение выглядит как Шрифт, текст, Графика, черный&#10;&#10;Автоматически созданное описание">
            <a:extLst>
              <a:ext uri="{FF2B5EF4-FFF2-40B4-BE49-F238E27FC236}">
                <a16:creationId xmlns:a16="http://schemas.microsoft.com/office/drawing/2014/main" id="{4FE11CD8-7E68-CFA9-A009-0AC60527E166}"/>
              </a:ext>
            </a:extLst>
          </p:cNvPr>
          <p:cNvPicPr>
            <a:picLocks noChangeAspect="1"/>
          </p:cNvPicPr>
          <p:nvPr/>
        </p:nvPicPr>
        <p:blipFill>
          <a:blip r:embed="rId6"/>
          <a:stretch>
            <a:fillRect/>
          </a:stretch>
        </p:blipFill>
        <p:spPr>
          <a:xfrm>
            <a:off x="807587" y="1917797"/>
            <a:ext cx="3110762" cy="931113"/>
          </a:xfrm>
          <a:prstGeom prst="rect">
            <a:avLst/>
          </a:prstGeom>
        </p:spPr>
      </p:pic>
      <p:pic>
        <p:nvPicPr>
          <p:cNvPr id="35" name="Рисунок 34" descr="Изображение выглядит как Шрифт, Графика, текст, черный&#10;&#10;Автоматически созданное описание">
            <a:extLst>
              <a:ext uri="{FF2B5EF4-FFF2-40B4-BE49-F238E27FC236}">
                <a16:creationId xmlns:a16="http://schemas.microsoft.com/office/drawing/2014/main" id="{28174D9D-28C9-40BE-7C5F-B2F22F3D34D7}"/>
              </a:ext>
            </a:extLst>
          </p:cNvPr>
          <p:cNvPicPr>
            <a:picLocks noChangeAspect="1"/>
          </p:cNvPicPr>
          <p:nvPr/>
        </p:nvPicPr>
        <p:blipFill>
          <a:blip r:embed="rId7"/>
          <a:stretch>
            <a:fillRect/>
          </a:stretch>
        </p:blipFill>
        <p:spPr>
          <a:xfrm>
            <a:off x="833197" y="2835084"/>
            <a:ext cx="3008806" cy="891498"/>
          </a:xfrm>
          <a:prstGeom prst="rect">
            <a:avLst/>
          </a:prstGeom>
        </p:spPr>
      </p:pic>
      <p:pic>
        <p:nvPicPr>
          <p:cNvPr id="41" name="Рисунок 40" descr="Изображение выглядит как Шрифт, текст, Графика, снимок экрана&#10;&#10;Автоматически созданное описание">
            <a:extLst>
              <a:ext uri="{FF2B5EF4-FFF2-40B4-BE49-F238E27FC236}">
                <a16:creationId xmlns:a16="http://schemas.microsoft.com/office/drawing/2014/main" id="{AA8E1474-48CB-1968-50E4-5753FC6F0DD4}"/>
              </a:ext>
            </a:extLst>
          </p:cNvPr>
          <p:cNvPicPr>
            <a:picLocks noChangeAspect="1"/>
          </p:cNvPicPr>
          <p:nvPr/>
        </p:nvPicPr>
        <p:blipFill>
          <a:blip r:embed="rId8"/>
          <a:stretch>
            <a:fillRect/>
          </a:stretch>
        </p:blipFill>
        <p:spPr>
          <a:xfrm>
            <a:off x="806532" y="4832473"/>
            <a:ext cx="2472285" cy="792090"/>
          </a:xfrm>
          <a:prstGeom prst="rect">
            <a:avLst/>
          </a:prstGeom>
        </p:spPr>
      </p:pic>
      <p:pic>
        <p:nvPicPr>
          <p:cNvPr id="43" name="Рисунок 42" descr="Изображение выглядит как Шрифт, текст, Графика, типография&#10;&#10;Автоматически созданное описание">
            <a:extLst>
              <a:ext uri="{FF2B5EF4-FFF2-40B4-BE49-F238E27FC236}">
                <a16:creationId xmlns:a16="http://schemas.microsoft.com/office/drawing/2014/main" id="{3BF4D2B4-F3E5-1717-5F4B-21FB43914AB3}"/>
              </a:ext>
            </a:extLst>
          </p:cNvPr>
          <p:cNvPicPr>
            <a:picLocks noChangeAspect="1"/>
          </p:cNvPicPr>
          <p:nvPr/>
        </p:nvPicPr>
        <p:blipFill>
          <a:blip r:embed="rId9"/>
          <a:stretch>
            <a:fillRect/>
          </a:stretch>
        </p:blipFill>
        <p:spPr>
          <a:xfrm>
            <a:off x="820227" y="5889075"/>
            <a:ext cx="3593069" cy="1011269"/>
          </a:xfrm>
          <a:prstGeom prst="rect">
            <a:avLst/>
          </a:prstGeom>
        </p:spPr>
      </p:pic>
      <p:sp>
        <p:nvSpPr>
          <p:cNvPr id="47" name="TextBox 46">
            <a:extLst>
              <a:ext uri="{FF2B5EF4-FFF2-40B4-BE49-F238E27FC236}">
                <a16:creationId xmlns:a16="http://schemas.microsoft.com/office/drawing/2014/main" id="{75F255F0-B5D2-BAA0-B204-08F602137544}"/>
              </a:ext>
            </a:extLst>
          </p:cNvPr>
          <p:cNvSpPr txBox="1"/>
          <p:nvPr/>
        </p:nvSpPr>
        <p:spPr>
          <a:xfrm>
            <a:off x="8378765" y="1439369"/>
            <a:ext cx="402674" cy="307777"/>
          </a:xfrm>
          <a:prstGeom prst="rect">
            <a:avLst/>
          </a:prstGeom>
          <a:noFill/>
        </p:spPr>
        <p:txBody>
          <a:bodyPr wrap="none" rtlCol="0">
            <a:spAutoFit/>
          </a:bodyPr>
          <a:lstStyle/>
          <a:p>
            <a:r>
              <a:rPr lang="en-US" sz="1400" dirty="0"/>
              <a:t>(1)</a:t>
            </a:r>
            <a:endParaRPr lang="ru-UA" sz="1400" dirty="0"/>
          </a:p>
        </p:txBody>
      </p:sp>
      <p:sp>
        <p:nvSpPr>
          <p:cNvPr id="48" name="TextBox 47">
            <a:extLst>
              <a:ext uri="{FF2B5EF4-FFF2-40B4-BE49-F238E27FC236}">
                <a16:creationId xmlns:a16="http://schemas.microsoft.com/office/drawing/2014/main" id="{97B3DB36-ADB6-94BA-A0EA-74FEA8FF37B5}"/>
              </a:ext>
            </a:extLst>
          </p:cNvPr>
          <p:cNvSpPr txBox="1"/>
          <p:nvPr/>
        </p:nvSpPr>
        <p:spPr>
          <a:xfrm>
            <a:off x="8378765" y="2174995"/>
            <a:ext cx="402674" cy="307777"/>
          </a:xfrm>
          <a:prstGeom prst="rect">
            <a:avLst/>
          </a:prstGeom>
          <a:noFill/>
        </p:spPr>
        <p:txBody>
          <a:bodyPr wrap="none" rtlCol="0">
            <a:spAutoFit/>
          </a:bodyPr>
          <a:lstStyle/>
          <a:p>
            <a:r>
              <a:rPr lang="en-US" sz="1400" dirty="0"/>
              <a:t>(2)</a:t>
            </a:r>
            <a:endParaRPr lang="ru-UA" sz="1400" dirty="0"/>
          </a:p>
        </p:txBody>
      </p:sp>
      <p:sp>
        <p:nvSpPr>
          <p:cNvPr id="49" name="TextBox 48">
            <a:extLst>
              <a:ext uri="{FF2B5EF4-FFF2-40B4-BE49-F238E27FC236}">
                <a16:creationId xmlns:a16="http://schemas.microsoft.com/office/drawing/2014/main" id="{00FC1A12-9CDF-F3EE-4D04-940DA4967753}"/>
              </a:ext>
            </a:extLst>
          </p:cNvPr>
          <p:cNvSpPr txBox="1"/>
          <p:nvPr/>
        </p:nvSpPr>
        <p:spPr>
          <a:xfrm>
            <a:off x="8378765" y="3063761"/>
            <a:ext cx="402674" cy="307777"/>
          </a:xfrm>
          <a:prstGeom prst="rect">
            <a:avLst/>
          </a:prstGeom>
          <a:noFill/>
        </p:spPr>
        <p:txBody>
          <a:bodyPr wrap="none" rtlCol="0">
            <a:spAutoFit/>
          </a:bodyPr>
          <a:lstStyle/>
          <a:p>
            <a:r>
              <a:rPr lang="en-US" sz="1400" dirty="0"/>
              <a:t>(3)</a:t>
            </a:r>
            <a:endParaRPr lang="ru-UA" sz="1400" dirty="0"/>
          </a:p>
        </p:txBody>
      </p:sp>
      <p:pic>
        <p:nvPicPr>
          <p:cNvPr id="51" name="Рисунок 50" descr="Изображение выглядит как Шрифт, текст, Графика, дизайн&#10;&#10;Автоматически созданное описание">
            <a:extLst>
              <a:ext uri="{FF2B5EF4-FFF2-40B4-BE49-F238E27FC236}">
                <a16:creationId xmlns:a16="http://schemas.microsoft.com/office/drawing/2014/main" id="{FD790AD5-CA04-016F-B7D1-B00DDF25BEE7}"/>
              </a:ext>
            </a:extLst>
          </p:cNvPr>
          <p:cNvPicPr>
            <a:picLocks noChangeAspect="1"/>
          </p:cNvPicPr>
          <p:nvPr/>
        </p:nvPicPr>
        <p:blipFill>
          <a:blip r:embed="rId10"/>
          <a:stretch>
            <a:fillRect/>
          </a:stretch>
        </p:blipFill>
        <p:spPr>
          <a:xfrm>
            <a:off x="805483" y="3494079"/>
            <a:ext cx="2029330" cy="891498"/>
          </a:xfrm>
          <a:prstGeom prst="rect">
            <a:avLst/>
          </a:prstGeom>
        </p:spPr>
      </p:pic>
      <p:pic>
        <p:nvPicPr>
          <p:cNvPr id="53" name="Рисунок 52" descr="Изображение выглядит как Шрифт, текст, Графика, символ&#10;&#10;Автоматически созданное описание">
            <a:extLst>
              <a:ext uri="{FF2B5EF4-FFF2-40B4-BE49-F238E27FC236}">
                <a16:creationId xmlns:a16="http://schemas.microsoft.com/office/drawing/2014/main" id="{D604C588-9FE3-F62C-9A63-28C0C043E12B}"/>
              </a:ext>
            </a:extLst>
          </p:cNvPr>
          <p:cNvPicPr>
            <a:picLocks noChangeAspect="1"/>
          </p:cNvPicPr>
          <p:nvPr/>
        </p:nvPicPr>
        <p:blipFill>
          <a:blip r:embed="rId11"/>
          <a:stretch>
            <a:fillRect/>
          </a:stretch>
        </p:blipFill>
        <p:spPr>
          <a:xfrm>
            <a:off x="795861" y="4108851"/>
            <a:ext cx="2075659" cy="911849"/>
          </a:xfrm>
          <a:prstGeom prst="rect">
            <a:avLst/>
          </a:prstGeom>
        </p:spPr>
      </p:pic>
      <p:sp>
        <p:nvSpPr>
          <p:cNvPr id="54" name="TextBox 53">
            <a:extLst>
              <a:ext uri="{FF2B5EF4-FFF2-40B4-BE49-F238E27FC236}">
                <a16:creationId xmlns:a16="http://schemas.microsoft.com/office/drawing/2014/main" id="{64311258-860F-11D3-EDE9-328E011BD3EA}"/>
              </a:ext>
            </a:extLst>
          </p:cNvPr>
          <p:cNvSpPr txBox="1"/>
          <p:nvPr/>
        </p:nvSpPr>
        <p:spPr>
          <a:xfrm>
            <a:off x="8374647" y="3715506"/>
            <a:ext cx="402674" cy="307777"/>
          </a:xfrm>
          <a:prstGeom prst="rect">
            <a:avLst/>
          </a:prstGeom>
          <a:noFill/>
        </p:spPr>
        <p:txBody>
          <a:bodyPr wrap="none" rtlCol="0">
            <a:spAutoFit/>
          </a:bodyPr>
          <a:lstStyle/>
          <a:p>
            <a:r>
              <a:rPr lang="en-US" sz="1400" dirty="0"/>
              <a:t>(4)</a:t>
            </a:r>
            <a:endParaRPr lang="ru-UA" sz="1400" dirty="0"/>
          </a:p>
        </p:txBody>
      </p:sp>
      <p:sp>
        <p:nvSpPr>
          <p:cNvPr id="55" name="TextBox 54">
            <a:extLst>
              <a:ext uri="{FF2B5EF4-FFF2-40B4-BE49-F238E27FC236}">
                <a16:creationId xmlns:a16="http://schemas.microsoft.com/office/drawing/2014/main" id="{F5E7F793-B5CE-79F5-74C0-065C08845256}"/>
              </a:ext>
            </a:extLst>
          </p:cNvPr>
          <p:cNvSpPr txBox="1"/>
          <p:nvPr/>
        </p:nvSpPr>
        <p:spPr>
          <a:xfrm>
            <a:off x="8358713" y="4375889"/>
            <a:ext cx="466794" cy="307777"/>
          </a:xfrm>
          <a:prstGeom prst="rect">
            <a:avLst/>
          </a:prstGeom>
          <a:noFill/>
        </p:spPr>
        <p:txBody>
          <a:bodyPr wrap="square" rtlCol="0">
            <a:spAutoFit/>
          </a:bodyPr>
          <a:lstStyle/>
          <a:p>
            <a:r>
              <a:rPr lang="en-US" sz="1400" dirty="0"/>
              <a:t>(5)</a:t>
            </a:r>
            <a:endParaRPr lang="ru-UA" sz="1400" dirty="0"/>
          </a:p>
        </p:txBody>
      </p:sp>
      <p:sp>
        <p:nvSpPr>
          <p:cNvPr id="56" name="TextBox 55">
            <a:extLst>
              <a:ext uri="{FF2B5EF4-FFF2-40B4-BE49-F238E27FC236}">
                <a16:creationId xmlns:a16="http://schemas.microsoft.com/office/drawing/2014/main" id="{80F7A493-B418-D32A-4284-19CFEB5D9342}"/>
              </a:ext>
            </a:extLst>
          </p:cNvPr>
          <p:cNvSpPr txBox="1"/>
          <p:nvPr/>
        </p:nvSpPr>
        <p:spPr>
          <a:xfrm>
            <a:off x="8344621" y="4977191"/>
            <a:ext cx="402674" cy="307777"/>
          </a:xfrm>
          <a:prstGeom prst="rect">
            <a:avLst/>
          </a:prstGeom>
          <a:noFill/>
        </p:spPr>
        <p:txBody>
          <a:bodyPr wrap="none" rtlCol="0">
            <a:spAutoFit/>
          </a:bodyPr>
          <a:lstStyle/>
          <a:p>
            <a:r>
              <a:rPr lang="en-US" sz="1400" dirty="0"/>
              <a:t>(6)</a:t>
            </a:r>
            <a:endParaRPr lang="ru-UA" sz="1400" dirty="0"/>
          </a:p>
        </p:txBody>
      </p:sp>
      <p:sp>
        <p:nvSpPr>
          <p:cNvPr id="57" name="TextBox 56">
            <a:extLst>
              <a:ext uri="{FF2B5EF4-FFF2-40B4-BE49-F238E27FC236}">
                <a16:creationId xmlns:a16="http://schemas.microsoft.com/office/drawing/2014/main" id="{512B5354-8A34-C763-C1F9-79752A1BEBAF}"/>
              </a:ext>
            </a:extLst>
          </p:cNvPr>
          <p:cNvSpPr txBox="1"/>
          <p:nvPr/>
        </p:nvSpPr>
        <p:spPr>
          <a:xfrm>
            <a:off x="8374647" y="5986193"/>
            <a:ext cx="402674" cy="307777"/>
          </a:xfrm>
          <a:prstGeom prst="rect">
            <a:avLst/>
          </a:prstGeom>
          <a:noFill/>
        </p:spPr>
        <p:txBody>
          <a:bodyPr wrap="none" rtlCol="0">
            <a:spAutoFit/>
          </a:bodyPr>
          <a:lstStyle/>
          <a:p>
            <a:r>
              <a:rPr lang="en-US" sz="1400" dirty="0"/>
              <a:t>(</a:t>
            </a:r>
            <a:r>
              <a:rPr lang="uk-UA" sz="1400" dirty="0"/>
              <a:t>7</a:t>
            </a:r>
            <a:r>
              <a:rPr lang="en-US" sz="1400" dirty="0"/>
              <a:t>)</a:t>
            </a:r>
            <a:endParaRPr lang="ru-UA" sz="1400" dirty="0"/>
          </a:p>
        </p:txBody>
      </p:sp>
    </p:spTree>
    <p:extLst>
      <p:ext uri="{BB962C8B-B14F-4D97-AF65-F5344CB8AC3E}">
        <p14:creationId xmlns:p14="http://schemas.microsoft.com/office/powerpoint/2010/main" val="3024787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6" name="Rectangle 25">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8" name="Rectangle 27">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130" y="0"/>
            <a:ext cx="71925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 name="Title 1"/>
          <p:cNvSpPr>
            <a:spLocks noGrp="1"/>
          </p:cNvSpPr>
          <p:nvPr>
            <p:ph type="title"/>
          </p:nvPr>
        </p:nvSpPr>
        <p:spPr>
          <a:xfrm>
            <a:off x="737814" y="83274"/>
            <a:ext cx="6660771" cy="723077"/>
          </a:xfrm>
        </p:spPr>
        <p:txBody>
          <a:bodyPr vert="horz" lIns="91440" tIns="45720" rIns="91440" bIns="45720" rtlCol="0" anchor="b">
            <a:normAutofit/>
          </a:bodyPr>
          <a:lstStyle/>
          <a:p>
            <a:pPr algn="l" defTabSz="914400">
              <a:defRPr sz="3400" b="1"/>
            </a:pPr>
            <a:r>
              <a:rPr lang="en-US" sz="3500" dirty="0" err="1"/>
              <a:t>Класи</a:t>
            </a:r>
            <a:r>
              <a:rPr lang="en-US" sz="3500" dirty="0"/>
              <a:t> </a:t>
            </a:r>
            <a:r>
              <a:rPr lang="en-US" sz="3500" dirty="0" err="1"/>
              <a:t>загроз</a:t>
            </a:r>
            <a:r>
              <a:rPr lang="en-US" sz="3500" dirty="0"/>
              <a:t> </a:t>
            </a:r>
            <a:r>
              <a:rPr lang="en-US" sz="3500" dirty="0" err="1"/>
              <a:t>для</a:t>
            </a:r>
            <a:r>
              <a:rPr lang="en-US" sz="3500" dirty="0"/>
              <a:t> </a:t>
            </a:r>
            <a:r>
              <a:rPr lang="en-US" sz="3500" dirty="0" err="1"/>
              <a:t>веб‑рішень</a:t>
            </a:r>
            <a:endParaRPr lang="en-US" sz="3500" dirty="0"/>
          </a:p>
        </p:txBody>
      </p:sp>
      <p:sp>
        <p:nvSpPr>
          <p:cNvPr id="3" name="TextBox 2"/>
          <p:cNvSpPr txBox="1"/>
          <p:nvPr/>
        </p:nvSpPr>
        <p:spPr>
          <a:xfrm>
            <a:off x="751666" y="675723"/>
            <a:ext cx="7192500" cy="3305665"/>
          </a:xfrm>
          <a:prstGeom prst="rect">
            <a:avLst/>
          </a:prstGeom>
        </p:spPr>
        <p:txBody>
          <a:bodyPr vert="horz" lIns="91440" tIns="45720" rIns="91440" bIns="45720" rtlCol="0" anchor="ctr">
            <a:noAutofit/>
          </a:bodyPr>
          <a:lstStyle/>
          <a:p>
            <a:pPr algn="just" defTabSz="914400">
              <a:lnSpc>
                <a:spcPct val="120000"/>
              </a:lnSpc>
              <a:spcBef>
                <a:spcPts val="500"/>
              </a:spcBef>
              <a:spcAft>
                <a:spcPts val="600"/>
              </a:spcAft>
              <a:buClr>
                <a:schemeClr val="accent6"/>
              </a:buClr>
              <a:buSzPct val="90000"/>
              <a:defRPr sz="1800"/>
            </a:pPr>
            <a:r>
              <a:rPr lang="ru-RU" sz="1400" dirty="0" err="1"/>
              <a:t>Уразливості</a:t>
            </a:r>
            <a:r>
              <a:rPr lang="ru-RU" sz="1400" dirty="0"/>
              <a:t> та атаки на </a:t>
            </a:r>
            <a:r>
              <a:rPr lang="en" sz="1400" dirty="0"/>
              <a:t>WordPress-</a:t>
            </a:r>
            <a:r>
              <a:rPr lang="ru-RU" sz="1400" dirty="0" err="1"/>
              <a:t>сайти</a:t>
            </a:r>
            <a:r>
              <a:rPr lang="ru-RU" sz="1400" dirty="0"/>
              <a:t> </a:t>
            </a:r>
            <a:r>
              <a:rPr lang="ru-RU" sz="1400" dirty="0" err="1"/>
              <a:t>охоплюють</a:t>
            </a:r>
            <a:r>
              <a:rPr lang="ru-RU" sz="1400" dirty="0"/>
              <a:t> широкий спектр </a:t>
            </a:r>
            <a:r>
              <a:rPr lang="ru-RU" sz="1400" dirty="0" err="1"/>
              <a:t>загроз</a:t>
            </a:r>
            <a:r>
              <a:rPr lang="ru-RU" sz="1400" dirty="0"/>
              <a:t>: </a:t>
            </a:r>
            <a:r>
              <a:rPr lang="en" sz="1400" dirty="0"/>
              <a:t>SQL-</a:t>
            </a:r>
            <a:r>
              <a:rPr lang="ru-RU" sz="1400" dirty="0" err="1"/>
              <a:t>ін'єкції</a:t>
            </a:r>
            <a:r>
              <a:rPr lang="ru-RU" sz="1400" dirty="0"/>
              <a:t>, </a:t>
            </a:r>
            <a:r>
              <a:rPr lang="ru-RU" sz="1400" dirty="0" err="1"/>
              <a:t>міжсайтові</a:t>
            </a:r>
            <a:r>
              <a:rPr lang="ru-RU" sz="1400" dirty="0"/>
              <a:t> </a:t>
            </a:r>
            <a:r>
              <a:rPr lang="ru-RU" sz="1400" dirty="0" err="1"/>
              <a:t>сценарії</a:t>
            </a:r>
            <a:r>
              <a:rPr lang="ru-RU" sz="1400" dirty="0"/>
              <a:t> (</a:t>
            </a:r>
            <a:r>
              <a:rPr lang="en" sz="1400" dirty="0"/>
              <a:t>XSS), </a:t>
            </a:r>
            <a:r>
              <a:rPr lang="ru-RU" sz="1400" dirty="0" err="1"/>
              <a:t>підробку</a:t>
            </a:r>
            <a:r>
              <a:rPr lang="ru-RU" sz="1400" dirty="0"/>
              <a:t> </a:t>
            </a:r>
            <a:r>
              <a:rPr lang="ru-RU" sz="1400" dirty="0" err="1"/>
              <a:t>міжсайтових</a:t>
            </a:r>
            <a:r>
              <a:rPr lang="ru-RU" sz="1400" dirty="0"/>
              <a:t> </a:t>
            </a:r>
            <a:r>
              <a:rPr lang="ru-RU" sz="1400" dirty="0" err="1"/>
              <a:t>запитів</a:t>
            </a:r>
            <a:r>
              <a:rPr lang="ru-RU" sz="1400" dirty="0"/>
              <a:t> (</a:t>
            </a:r>
            <a:r>
              <a:rPr lang="en" sz="1400" dirty="0"/>
              <a:t>CSRF), </a:t>
            </a:r>
            <a:r>
              <a:rPr lang="ru-RU" sz="1400" dirty="0" err="1"/>
              <a:t>виконання</a:t>
            </a:r>
            <a:r>
              <a:rPr lang="ru-RU" sz="1400" dirty="0"/>
              <a:t> </a:t>
            </a:r>
            <a:r>
              <a:rPr lang="ru-RU" sz="1400" dirty="0" err="1"/>
              <a:t>довільного</a:t>
            </a:r>
            <a:r>
              <a:rPr lang="ru-RU" sz="1400" dirty="0"/>
              <a:t> коду (</a:t>
            </a:r>
            <a:r>
              <a:rPr lang="en" sz="1400" dirty="0"/>
              <a:t>RCE), </a:t>
            </a:r>
            <a:r>
              <a:rPr lang="ru-RU" sz="1400" dirty="0" err="1"/>
              <a:t>завантаження</a:t>
            </a:r>
            <a:r>
              <a:rPr lang="ru-RU" sz="1400" dirty="0"/>
              <a:t> </a:t>
            </a:r>
            <a:r>
              <a:rPr lang="ru-RU" sz="1400" dirty="0" err="1"/>
              <a:t>шкідливих</a:t>
            </a:r>
            <a:r>
              <a:rPr lang="ru-RU" sz="1400" dirty="0"/>
              <a:t> </a:t>
            </a:r>
            <a:r>
              <a:rPr lang="ru-RU" sz="1400" dirty="0" err="1"/>
              <a:t>файлів</a:t>
            </a:r>
            <a:r>
              <a:rPr lang="ru-RU" sz="1400" dirty="0"/>
              <a:t>, </a:t>
            </a:r>
            <a:r>
              <a:rPr lang="ru-RU" sz="1400" dirty="0" err="1"/>
              <a:t>компрометацію</a:t>
            </a:r>
            <a:r>
              <a:rPr lang="ru-RU" sz="1400" dirty="0"/>
              <a:t> </a:t>
            </a:r>
            <a:r>
              <a:rPr lang="ru-RU" sz="1400" dirty="0" err="1"/>
              <a:t>облікових</a:t>
            </a:r>
            <a:r>
              <a:rPr lang="ru-RU" sz="1400" dirty="0"/>
              <a:t> </a:t>
            </a:r>
            <a:r>
              <a:rPr lang="ru-RU" sz="1400" dirty="0" err="1"/>
              <a:t>записів</a:t>
            </a:r>
            <a:r>
              <a:rPr lang="ru-RU" sz="1400" dirty="0"/>
              <a:t> через </a:t>
            </a:r>
            <a:r>
              <a:rPr lang="en" sz="1400" dirty="0"/>
              <a:t>brute force, </a:t>
            </a:r>
            <a:r>
              <a:rPr lang="ru-RU" sz="1400" dirty="0" err="1"/>
              <a:t>обхід</a:t>
            </a:r>
            <a:r>
              <a:rPr lang="ru-RU" sz="1400" dirty="0"/>
              <a:t> </a:t>
            </a:r>
            <a:r>
              <a:rPr lang="ru-RU" sz="1400" dirty="0" err="1"/>
              <a:t>автентифікації</a:t>
            </a:r>
            <a:r>
              <a:rPr lang="ru-RU" sz="1400" dirty="0"/>
              <a:t>, </a:t>
            </a:r>
            <a:r>
              <a:rPr lang="ru-RU" sz="1400" dirty="0" err="1"/>
              <a:t>ескалацію</a:t>
            </a:r>
            <a:r>
              <a:rPr lang="ru-RU" sz="1400" dirty="0"/>
              <a:t> </a:t>
            </a:r>
            <a:r>
              <a:rPr lang="ru-RU" sz="1400" dirty="0" err="1"/>
              <a:t>привілеїв</a:t>
            </a:r>
            <a:r>
              <a:rPr lang="ru-RU" sz="1400" dirty="0"/>
              <a:t> та </a:t>
            </a:r>
            <a:r>
              <a:rPr lang="ru-RU" sz="1400" dirty="0" err="1"/>
              <a:t>витік</a:t>
            </a:r>
            <a:r>
              <a:rPr lang="ru-RU" sz="1400" dirty="0"/>
              <a:t> </a:t>
            </a:r>
            <a:r>
              <a:rPr lang="ru-RU" sz="1400" dirty="0" err="1"/>
              <a:t>інформації</a:t>
            </a:r>
            <a:r>
              <a:rPr lang="ru-RU" sz="1400" dirty="0"/>
              <a:t>. </a:t>
            </a:r>
            <a:r>
              <a:rPr lang="ru-RU" sz="1400" dirty="0" err="1"/>
              <a:t>Окрему</a:t>
            </a:r>
            <a:r>
              <a:rPr lang="ru-RU" sz="1400" dirty="0"/>
              <a:t> проблему </a:t>
            </a:r>
            <a:r>
              <a:rPr lang="ru-RU" sz="1400" dirty="0" err="1"/>
              <a:t>створюють</a:t>
            </a:r>
            <a:r>
              <a:rPr lang="ru-RU" sz="1400" dirty="0"/>
              <a:t> </a:t>
            </a:r>
            <a:r>
              <a:rPr lang="ru-RU" sz="1400" dirty="0" err="1"/>
              <a:t>вразливі</a:t>
            </a:r>
            <a:r>
              <a:rPr lang="ru-RU" sz="1400" dirty="0"/>
              <a:t> </a:t>
            </a:r>
            <a:r>
              <a:rPr lang="ru-RU" sz="1400" dirty="0" err="1"/>
              <a:t>або</a:t>
            </a:r>
            <a:r>
              <a:rPr lang="ru-RU" sz="1400" dirty="0"/>
              <a:t> </a:t>
            </a:r>
            <a:r>
              <a:rPr lang="ru-RU" sz="1400" dirty="0" err="1"/>
              <a:t>застарілі</a:t>
            </a:r>
            <a:r>
              <a:rPr lang="ru-RU" sz="1400" dirty="0"/>
              <a:t> </a:t>
            </a:r>
            <a:r>
              <a:rPr lang="ru-RU" sz="1400" dirty="0" err="1"/>
              <a:t>плагіни</a:t>
            </a:r>
            <a:r>
              <a:rPr lang="ru-RU" sz="1400" dirty="0"/>
              <a:t>, </a:t>
            </a:r>
            <a:r>
              <a:rPr lang="ru-RU" sz="1400" dirty="0" err="1"/>
              <a:t>які</a:t>
            </a:r>
            <a:r>
              <a:rPr lang="ru-RU" sz="1400" dirty="0"/>
              <a:t> </a:t>
            </a:r>
            <a:r>
              <a:rPr lang="ru-RU" sz="1400" dirty="0" err="1"/>
              <a:t>збільшують</a:t>
            </a:r>
            <a:r>
              <a:rPr lang="ru-RU" sz="1400" dirty="0"/>
              <a:t> </a:t>
            </a:r>
            <a:r>
              <a:rPr lang="ru-RU" sz="1400" dirty="0" err="1"/>
              <a:t>площину</a:t>
            </a:r>
            <a:r>
              <a:rPr lang="ru-RU" sz="1400" dirty="0"/>
              <a:t> атаки. Для </a:t>
            </a:r>
            <a:r>
              <a:rPr lang="en" sz="1400" dirty="0"/>
              <a:t>e-commerce </a:t>
            </a:r>
            <a:r>
              <a:rPr lang="ru-RU" sz="1400" dirty="0"/>
              <a:t>критичною </a:t>
            </a:r>
            <a:r>
              <a:rPr lang="ru-RU" sz="1400" dirty="0" err="1"/>
              <a:t>є</a:t>
            </a:r>
            <a:r>
              <a:rPr lang="ru-RU" sz="1400" dirty="0"/>
              <a:t> також </a:t>
            </a:r>
            <a:r>
              <a:rPr lang="ru-RU" sz="1400" dirty="0" err="1"/>
              <a:t>загроза</a:t>
            </a:r>
            <a:r>
              <a:rPr lang="ru-RU" sz="1400" dirty="0"/>
              <a:t> </a:t>
            </a:r>
            <a:r>
              <a:rPr lang="ru-RU" sz="1400" dirty="0" err="1"/>
              <a:t>витоку</a:t>
            </a:r>
            <a:r>
              <a:rPr lang="ru-RU" sz="1400" dirty="0"/>
              <a:t> </a:t>
            </a:r>
            <a:r>
              <a:rPr lang="ru-RU" sz="1400" dirty="0" err="1"/>
              <a:t>персональних</a:t>
            </a:r>
            <a:r>
              <a:rPr lang="ru-RU" sz="1400" dirty="0"/>
              <a:t> та </a:t>
            </a:r>
            <a:r>
              <a:rPr lang="ru-RU" sz="1400" dirty="0" err="1"/>
              <a:t>платіжних</a:t>
            </a:r>
            <a:r>
              <a:rPr lang="ru-RU" sz="1400" dirty="0"/>
              <a:t> </a:t>
            </a:r>
            <a:r>
              <a:rPr lang="ru-RU" sz="1400" dirty="0" err="1"/>
              <a:t>даних</a:t>
            </a:r>
            <a:r>
              <a:rPr lang="ru-RU" sz="1400" dirty="0"/>
              <a:t>, </a:t>
            </a:r>
            <a:r>
              <a:rPr lang="ru-RU" sz="1400" dirty="0" err="1"/>
              <a:t>що</a:t>
            </a:r>
            <a:r>
              <a:rPr lang="ru-RU" sz="1400" dirty="0"/>
              <a:t> </a:t>
            </a:r>
            <a:r>
              <a:rPr lang="ru-RU" sz="1400" dirty="0" err="1"/>
              <a:t>підпадає</a:t>
            </a:r>
            <a:r>
              <a:rPr lang="ru-RU" sz="1400" dirty="0"/>
              <a:t> </a:t>
            </a:r>
            <a:r>
              <a:rPr lang="ru-RU" sz="1400" dirty="0" err="1"/>
              <a:t>під</a:t>
            </a:r>
            <a:r>
              <a:rPr lang="ru-RU" sz="1400" dirty="0"/>
              <a:t> </a:t>
            </a:r>
            <a:r>
              <a:rPr lang="ru-RU" sz="1400" dirty="0" err="1"/>
              <a:t>регуляторні</a:t>
            </a:r>
            <a:r>
              <a:rPr lang="ru-RU" sz="1400" dirty="0"/>
              <a:t> </a:t>
            </a:r>
            <a:r>
              <a:rPr lang="ru-RU" sz="1400" dirty="0" err="1"/>
              <a:t>вимоги</a:t>
            </a:r>
            <a:r>
              <a:rPr lang="ru-RU" sz="1400" dirty="0"/>
              <a:t> </a:t>
            </a:r>
            <a:r>
              <a:rPr lang="en" sz="1400" dirty="0"/>
              <a:t>GDPR. </a:t>
            </a:r>
            <a:r>
              <a:rPr lang="ru-RU" sz="1400" dirty="0"/>
              <a:t>Для </a:t>
            </a:r>
            <a:r>
              <a:rPr lang="ru-RU" sz="1400" dirty="0" err="1"/>
              <a:t>проведення</a:t>
            </a:r>
            <a:r>
              <a:rPr lang="ru-RU" sz="1400" dirty="0"/>
              <a:t> </a:t>
            </a:r>
            <a:r>
              <a:rPr lang="ru-RU" sz="1400" dirty="0" err="1"/>
              <a:t>експериментального</a:t>
            </a:r>
            <a:r>
              <a:rPr lang="ru-RU" sz="1400" dirty="0"/>
              <a:t> </a:t>
            </a:r>
            <a:r>
              <a:rPr lang="ru-RU" sz="1400" dirty="0" err="1"/>
              <a:t>дослідження</a:t>
            </a:r>
            <a:r>
              <a:rPr lang="ru-RU" sz="1400" dirty="0"/>
              <a:t> з </a:t>
            </a:r>
            <a:r>
              <a:rPr lang="ru-RU" sz="1400" dirty="0" err="1"/>
              <a:t>цього</a:t>
            </a:r>
            <a:r>
              <a:rPr lang="ru-RU" sz="1400" dirty="0"/>
              <a:t> широкого спектру </a:t>
            </a:r>
            <a:r>
              <a:rPr lang="ru-RU" sz="1400" dirty="0" err="1"/>
              <a:t>було</a:t>
            </a:r>
            <a:r>
              <a:rPr lang="ru-RU" sz="1400" dirty="0"/>
              <a:t> </a:t>
            </a:r>
            <a:r>
              <a:rPr lang="ru-RU" sz="1400" dirty="0" err="1"/>
              <a:t>обрано</a:t>
            </a:r>
            <a:r>
              <a:rPr lang="ru-RU" sz="1400" dirty="0"/>
              <a:t> 6 </a:t>
            </a:r>
            <a:r>
              <a:rPr lang="ru-RU" sz="1400" dirty="0" err="1"/>
              <a:t>класів</a:t>
            </a:r>
            <a:r>
              <a:rPr lang="ru-RU" sz="1400" dirty="0"/>
              <a:t> </a:t>
            </a:r>
            <a:r>
              <a:rPr lang="ru-RU" sz="1400" dirty="0" err="1"/>
              <a:t>загроз</a:t>
            </a:r>
            <a:r>
              <a:rPr lang="ru-RU" sz="1400" dirty="0"/>
              <a:t>, </a:t>
            </a:r>
            <a:r>
              <a:rPr lang="ru-RU" sz="1400" dirty="0" err="1"/>
              <a:t>які</a:t>
            </a:r>
            <a:r>
              <a:rPr lang="ru-RU" sz="1400" dirty="0"/>
              <a:t> </a:t>
            </a:r>
            <a:r>
              <a:rPr lang="ru-RU" sz="1400" dirty="0" err="1"/>
              <a:t>є</a:t>
            </a:r>
            <a:r>
              <a:rPr lang="ru-RU" sz="1400" dirty="0"/>
              <a:t> </a:t>
            </a:r>
            <a:r>
              <a:rPr lang="ru-RU" sz="1400" dirty="0" err="1"/>
              <a:t>найпоширенішими</a:t>
            </a:r>
            <a:r>
              <a:rPr lang="ru-RU" sz="1400" dirty="0"/>
              <a:t> у </a:t>
            </a:r>
            <a:r>
              <a:rPr lang="ru-RU" sz="1400" dirty="0" err="1"/>
              <a:t>статистиці</a:t>
            </a:r>
            <a:r>
              <a:rPr lang="ru-RU" sz="1400" dirty="0"/>
              <a:t> </a:t>
            </a:r>
            <a:r>
              <a:rPr lang="en" sz="1400" dirty="0"/>
              <a:t>CVE </a:t>
            </a:r>
            <a:r>
              <a:rPr lang="ru-RU" sz="1400" dirty="0"/>
              <a:t>для </a:t>
            </a:r>
            <a:r>
              <a:rPr lang="en" sz="1400" dirty="0"/>
              <a:t>WordPress-</a:t>
            </a:r>
            <a:r>
              <a:rPr lang="ru-RU" sz="1400" dirty="0" err="1"/>
              <a:t>плагінів</a:t>
            </a:r>
            <a:r>
              <a:rPr lang="ru-RU" sz="1400" dirty="0"/>
              <a:t> за </a:t>
            </a:r>
            <a:r>
              <a:rPr lang="ru-RU" sz="1400" dirty="0" err="1"/>
              <a:t>даними</a:t>
            </a:r>
            <a:r>
              <a:rPr lang="ru-RU" sz="1400" dirty="0"/>
              <a:t> </a:t>
            </a:r>
            <a:r>
              <a:rPr lang="en" sz="1400" dirty="0" err="1"/>
              <a:t>Patchstack</a:t>
            </a:r>
            <a:r>
              <a:rPr lang="en" sz="1400" dirty="0"/>
              <a:t> </a:t>
            </a:r>
            <a:r>
              <a:rPr lang="ru-RU" sz="1400" dirty="0"/>
              <a:t>та </a:t>
            </a:r>
            <a:r>
              <a:rPr lang="en" sz="1400" dirty="0" err="1"/>
              <a:t>WPScan</a:t>
            </a:r>
            <a:r>
              <a:rPr lang="en" sz="1400" dirty="0"/>
              <a:t>, 2024, </a:t>
            </a:r>
            <a:r>
              <a:rPr lang="ru-RU" sz="1400" dirty="0"/>
              <a:t>і </a:t>
            </a:r>
            <a:r>
              <a:rPr lang="ru-RU" sz="1400" dirty="0" err="1"/>
              <a:t>одночасно</a:t>
            </a:r>
            <a:r>
              <a:rPr lang="ru-RU" sz="1400" dirty="0"/>
              <a:t> </a:t>
            </a:r>
            <a:r>
              <a:rPr lang="ru-RU" sz="1400" dirty="0" err="1"/>
              <a:t>найбільш</a:t>
            </a:r>
            <a:r>
              <a:rPr lang="ru-RU" sz="1400" dirty="0"/>
              <a:t> </a:t>
            </a:r>
            <a:r>
              <a:rPr lang="ru-RU" sz="1400" dirty="0" err="1"/>
              <a:t>репрезентативними</a:t>
            </a:r>
            <a:r>
              <a:rPr lang="ru-RU" sz="1400" dirty="0"/>
              <a:t> для </a:t>
            </a:r>
            <a:r>
              <a:rPr lang="ru-RU" sz="1400" dirty="0" err="1"/>
              <a:t>тестування</a:t>
            </a:r>
            <a:r>
              <a:rPr lang="ru-RU" sz="1400" dirty="0"/>
              <a:t> </a:t>
            </a:r>
            <a:r>
              <a:rPr lang="ru-RU" sz="1400" dirty="0" err="1"/>
              <a:t>ефективності</a:t>
            </a:r>
            <a:r>
              <a:rPr lang="ru-RU" sz="1400" dirty="0"/>
              <a:t> </a:t>
            </a:r>
            <a:r>
              <a:rPr lang="ru-RU" sz="1400" dirty="0" err="1"/>
              <a:t>плагінів</a:t>
            </a:r>
            <a:r>
              <a:rPr lang="ru-RU" sz="1400" dirty="0"/>
              <a:t> </a:t>
            </a:r>
            <a:r>
              <a:rPr lang="ru-RU" sz="1400" dirty="0" err="1"/>
              <a:t>безпеки</a:t>
            </a:r>
            <a:r>
              <a:rPr lang="ru-RU" sz="1400" dirty="0"/>
              <a:t> в </a:t>
            </a:r>
            <a:r>
              <a:rPr lang="ru-RU" sz="1400" dirty="0" err="1"/>
              <a:t>умовах</a:t>
            </a:r>
            <a:r>
              <a:rPr lang="ru-RU" sz="1400" dirty="0"/>
              <a:t> реального </a:t>
            </a:r>
            <a:r>
              <a:rPr lang="en" sz="1400" dirty="0"/>
              <a:t>e-commerce </a:t>
            </a:r>
            <a:r>
              <a:rPr lang="ru-RU" sz="1400" dirty="0" err="1"/>
              <a:t>навантаження</a:t>
            </a:r>
            <a:r>
              <a:rPr lang="ru-RU" sz="1400" dirty="0"/>
              <a:t>.</a:t>
            </a:r>
            <a:endParaRPr lang="en-US" sz="1400" dirty="0"/>
          </a:p>
        </p:txBody>
      </p:sp>
      <p:pic>
        <p:nvPicPr>
          <p:cNvPr id="4" name="Рисунок 3" descr="Изображение выглядит как текст, снимок экрана, Шрифт, дизайн&#10;&#10;Автоматически созданное описание">
            <a:extLst>
              <a:ext uri="{FF2B5EF4-FFF2-40B4-BE49-F238E27FC236}">
                <a16:creationId xmlns:a16="http://schemas.microsoft.com/office/drawing/2014/main" id="{76994E5D-16E4-B87A-6181-DC321F997E3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60802" y="3892429"/>
            <a:ext cx="4511827" cy="2391176"/>
          </a:xfrm>
          <a:prstGeom prst="rect">
            <a:avLst/>
          </a:prstGeom>
        </p:spPr>
      </p:pic>
      <p:sp>
        <p:nvSpPr>
          <p:cNvPr id="6" name="Номер слайда 5">
            <a:extLst>
              <a:ext uri="{FF2B5EF4-FFF2-40B4-BE49-F238E27FC236}">
                <a16:creationId xmlns:a16="http://schemas.microsoft.com/office/drawing/2014/main" id="{E1919472-1B11-21DE-11C5-0549DBF25C44}"/>
              </a:ext>
            </a:extLst>
          </p:cNvPr>
          <p:cNvSpPr>
            <a:spLocks noGrp="1"/>
          </p:cNvSpPr>
          <p:nvPr>
            <p:ph type="sldNum" sz="quarter" idx="12"/>
          </p:nvPr>
        </p:nvSpPr>
        <p:spPr/>
        <p:txBody>
          <a:bodyPr/>
          <a:lstStyle/>
          <a:p>
            <a:fld id="{C1FF6DA9-008F-8B48-92A6-B652298478BF}" type="slidenum">
              <a:rPr lang="en-US" smtClean="0"/>
              <a:t>14</a:t>
            </a:fld>
            <a:endParaRPr lang="en-US" dirty="0"/>
          </a:p>
        </p:txBody>
      </p:sp>
      <p:sp>
        <p:nvSpPr>
          <p:cNvPr id="7" name="TextBox 6">
            <a:extLst>
              <a:ext uri="{FF2B5EF4-FFF2-40B4-BE49-F238E27FC236}">
                <a16:creationId xmlns:a16="http://schemas.microsoft.com/office/drawing/2014/main" id="{78D85E4E-3533-8015-7797-B35A370C6687}"/>
              </a:ext>
            </a:extLst>
          </p:cNvPr>
          <p:cNvSpPr txBox="1"/>
          <p:nvPr/>
        </p:nvSpPr>
        <p:spPr>
          <a:xfrm>
            <a:off x="737814" y="3981389"/>
            <a:ext cx="3852805" cy="2862322"/>
          </a:xfrm>
          <a:prstGeom prst="rect">
            <a:avLst/>
          </a:prstGeom>
          <a:noFill/>
        </p:spPr>
        <p:txBody>
          <a:bodyPr wrap="square">
            <a:spAutoFit/>
          </a:bodyPr>
          <a:lstStyle/>
          <a:p>
            <a:r>
              <a:rPr lang="ru-RU" dirty="0" err="1"/>
              <a:t>Обрані</a:t>
            </a:r>
            <a:r>
              <a:rPr lang="ru-RU" dirty="0"/>
              <a:t> для </a:t>
            </a:r>
            <a:r>
              <a:rPr lang="ru-RU" dirty="0" err="1"/>
              <a:t>експерименту</a:t>
            </a:r>
            <a:r>
              <a:rPr lang="ru-RU" dirty="0"/>
              <a:t>: </a:t>
            </a:r>
          </a:p>
          <a:p>
            <a:endParaRPr lang="ru-RU" dirty="0"/>
          </a:p>
          <a:p>
            <a:pPr marL="285750" indent="-285750">
              <a:buFont typeface="Arial" panose="020B0604020202020204" pitchFamily="34" charset="0"/>
              <a:buChar char="•"/>
            </a:pPr>
            <a:r>
              <a:rPr lang="en" dirty="0"/>
              <a:t>XSS </a:t>
            </a:r>
            <a:r>
              <a:rPr lang="uk-UA" dirty="0"/>
              <a:t>-</a:t>
            </a:r>
            <a:r>
              <a:rPr lang="en" dirty="0"/>
              <a:t> </a:t>
            </a:r>
            <a:r>
              <a:rPr lang="ru-RU" dirty="0" err="1"/>
              <a:t>міжсайтові</a:t>
            </a:r>
            <a:r>
              <a:rPr lang="ru-RU" dirty="0"/>
              <a:t> </a:t>
            </a:r>
            <a:r>
              <a:rPr lang="ru-RU" dirty="0" err="1"/>
              <a:t>сценарії</a:t>
            </a:r>
            <a:r>
              <a:rPr lang="ru-RU" dirty="0"/>
              <a:t> </a:t>
            </a:r>
          </a:p>
          <a:p>
            <a:pPr marL="285750" indent="-285750">
              <a:buFont typeface="Arial" panose="020B0604020202020204" pitchFamily="34" charset="0"/>
              <a:buChar char="•"/>
            </a:pPr>
            <a:r>
              <a:rPr lang="en" dirty="0"/>
              <a:t>SQLi </a:t>
            </a:r>
            <a:r>
              <a:rPr lang="uk-UA" dirty="0"/>
              <a:t>-</a:t>
            </a:r>
            <a:r>
              <a:rPr lang="en" dirty="0"/>
              <a:t> SQL-</a:t>
            </a:r>
            <a:r>
              <a:rPr lang="ru-RU" dirty="0" err="1"/>
              <a:t>ін'єкції</a:t>
            </a:r>
            <a:r>
              <a:rPr lang="ru-RU" dirty="0"/>
              <a:t> </a:t>
            </a:r>
          </a:p>
          <a:p>
            <a:pPr marL="285750" indent="-285750">
              <a:buFont typeface="Arial" panose="020B0604020202020204" pitchFamily="34" charset="0"/>
              <a:buChar char="•"/>
            </a:pPr>
            <a:r>
              <a:rPr lang="en" dirty="0"/>
              <a:t>RCE </a:t>
            </a:r>
            <a:r>
              <a:rPr lang="uk-UA" dirty="0"/>
              <a:t>-</a:t>
            </a:r>
            <a:r>
              <a:rPr lang="en" dirty="0"/>
              <a:t> </a:t>
            </a:r>
            <a:r>
              <a:rPr lang="ru-RU" dirty="0" err="1"/>
              <a:t>віддалене</a:t>
            </a:r>
            <a:r>
              <a:rPr lang="ru-RU" dirty="0"/>
              <a:t> </a:t>
            </a:r>
            <a:r>
              <a:rPr lang="ru-RU" dirty="0" err="1"/>
              <a:t>виконання</a:t>
            </a:r>
            <a:r>
              <a:rPr lang="ru-RU" dirty="0"/>
              <a:t> коду </a:t>
            </a:r>
          </a:p>
          <a:p>
            <a:pPr marL="285750" indent="-285750">
              <a:buFont typeface="Arial" panose="020B0604020202020204" pitchFamily="34" charset="0"/>
              <a:buChar char="•"/>
            </a:pPr>
            <a:r>
              <a:rPr lang="en" dirty="0"/>
              <a:t>CSRF </a:t>
            </a:r>
            <a:r>
              <a:rPr lang="uk-UA" dirty="0"/>
              <a:t>-</a:t>
            </a:r>
            <a:r>
              <a:rPr lang="en" dirty="0"/>
              <a:t> </a:t>
            </a:r>
            <a:r>
              <a:rPr lang="ru-RU" dirty="0" err="1"/>
              <a:t>підробка</a:t>
            </a:r>
            <a:r>
              <a:rPr lang="ru-RU" dirty="0"/>
              <a:t> </a:t>
            </a:r>
            <a:r>
              <a:rPr lang="ru-RU" dirty="0" err="1"/>
              <a:t>міжсайтових</a:t>
            </a:r>
            <a:r>
              <a:rPr lang="ru-RU" dirty="0"/>
              <a:t> </a:t>
            </a:r>
            <a:r>
              <a:rPr lang="ru-RU" dirty="0" err="1"/>
              <a:t>запитів</a:t>
            </a:r>
            <a:endParaRPr lang="ru-RU" dirty="0"/>
          </a:p>
          <a:p>
            <a:pPr marL="285750" indent="-285750">
              <a:buFont typeface="Arial" panose="020B0604020202020204" pitchFamily="34" charset="0"/>
              <a:buChar char="•"/>
            </a:pPr>
            <a:r>
              <a:rPr lang="en" dirty="0"/>
              <a:t>Brute Force </a:t>
            </a:r>
            <a:r>
              <a:rPr lang="uk-UA" dirty="0"/>
              <a:t>-</a:t>
            </a:r>
            <a:r>
              <a:rPr lang="en" dirty="0"/>
              <a:t> </a:t>
            </a:r>
            <a:r>
              <a:rPr lang="ru-RU" dirty="0" err="1"/>
              <a:t>перебір</a:t>
            </a:r>
            <a:r>
              <a:rPr lang="ru-RU" dirty="0"/>
              <a:t> </a:t>
            </a:r>
            <a:r>
              <a:rPr lang="ru-RU" dirty="0" err="1"/>
              <a:t>паролів</a:t>
            </a:r>
            <a:r>
              <a:rPr lang="ru-RU" dirty="0"/>
              <a:t> </a:t>
            </a:r>
          </a:p>
          <a:p>
            <a:pPr marL="285750" indent="-285750">
              <a:buFont typeface="Arial" panose="020B0604020202020204" pitchFamily="34" charset="0"/>
              <a:buChar char="•"/>
            </a:pPr>
            <a:r>
              <a:rPr lang="en" dirty="0"/>
              <a:t>EICAR </a:t>
            </a:r>
            <a:r>
              <a:rPr lang="uk-UA" dirty="0"/>
              <a:t>-</a:t>
            </a:r>
            <a:r>
              <a:rPr lang="en" dirty="0"/>
              <a:t> </a:t>
            </a:r>
            <a:r>
              <a:rPr lang="ru-RU" dirty="0" err="1"/>
              <a:t>тестове</a:t>
            </a:r>
            <a:r>
              <a:rPr lang="ru-RU" dirty="0"/>
              <a:t> </a:t>
            </a:r>
            <a:r>
              <a:rPr lang="en" dirty="0"/>
              <a:t>malware</a:t>
            </a:r>
            <a:endParaRPr lang="ru-UA"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Номер слайда 5">
            <a:extLst>
              <a:ext uri="{FF2B5EF4-FFF2-40B4-BE49-F238E27FC236}">
                <a16:creationId xmlns:a16="http://schemas.microsoft.com/office/drawing/2014/main" id="{465DF5F3-9EDD-5AB1-91A2-428827ED9F72}"/>
              </a:ext>
            </a:extLst>
          </p:cNvPr>
          <p:cNvSpPr>
            <a:spLocks noGrp="1"/>
          </p:cNvSpPr>
          <p:nvPr>
            <p:ph type="sldNum" sz="quarter" idx="12"/>
          </p:nvPr>
        </p:nvSpPr>
        <p:spPr/>
        <p:txBody>
          <a:bodyPr/>
          <a:lstStyle/>
          <a:p>
            <a:fld id="{C1FF6DA9-008F-8B48-92A6-B652298478BF}" type="slidenum">
              <a:rPr lang="en-US" smtClean="0"/>
              <a:t>15</a:t>
            </a:fld>
            <a:endParaRPr lang="en-US" dirty="0"/>
          </a:p>
        </p:txBody>
      </p:sp>
      <p:sp>
        <p:nvSpPr>
          <p:cNvPr id="2" name="Title 1"/>
          <p:cNvSpPr>
            <a:spLocks noGrp="1"/>
          </p:cNvSpPr>
          <p:nvPr>
            <p:ph type="title" idx="4294967295"/>
          </p:nvPr>
        </p:nvSpPr>
        <p:spPr>
          <a:xfrm>
            <a:off x="1017423" y="469313"/>
            <a:ext cx="6823404" cy="902288"/>
          </a:xfrm>
        </p:spPr>
        <p:txBody>
          <a:bodyPr/>
          <a:lstStyle/>
          <a:p>
            <a:pPr algn="l"/>
            <a:r>
              <a:rPr b="1" dirty="0" err="1"/>
              <a:t>Критерії</a:t>
            </a:r>
            <a:r>
              <a:rPr b="1" dirty="0"/>
              <a:t> </a:t>
            </a:r>
            <a:r>
              <a:rPr b="1" dirty="0" err="1"/>
              <a:t>та</a:t>
            </a:r>
            <a:r>
              <a:rPr b="1" dirty="0"/>
              <a:t> </a:t>
            </a:r>
            <a:r>
              <a:rPr b="1" dirty="0" err="1"/>
              <a:t>вагові</a:t>
            </a:r>
            <a:r>
              <a:rPr b="1" dirty="0"/>
              <a:t> </a:t>
            </a:r>
            <a:r>
              <a:rPr b="1" dirty="0" err="1"/>
              <a:t>коефіцієнти</a:t>
            </a:r>
            <a:r>
              <a:rPr b="1" dirty="0"/>
              <a:t> (</a:t>
            </a:r>
            <a:r>
              <a:rPr b="1" dirty="0" err="1"/>
              <a:t>експертне</a:t>
            </a:r>
            <a:r>
              <a:rPr b="1" dirty="0"/>
              <a:t> </a:t>
            </a:r>
            <a:r>
              <a:rPr b="1" dirty="0" err="1"/>
              <a:t>оцінювання</a:t>
            </a:r>
            <a:r>
              <a:rPr b="1" dirty="0"/>
              <a:t>)</a:t>
            </a:r>
          </a:p>
        </p:txBody>
      </p:sp>
      <p:graphicFrame>
        <p:nvGraphicFramePr>
          <p:cNvPr id="3" name="Table 2"/>
          <p:cNvGraphicFramePr>
            <a:graphicFrameLocks noGrp="1"/>
          </p:cNvGraphicFramePr>
          <p:nvPr>
            <p:extLst>
              <p:ext uri="{D42A27DB-BD31-4B8C-83A1-F6EECF244321}">
                <p14:modId xmlns:p14="http://schemas.microsoft.com/office/powerpoint/2010/main" val="1646285881"/>
              </p:ext>
            </p:extLst>
          </p:nvPr>
        </p:nvGraphicFramePr>
        <p:xfrm>
          <a:off x="1107345" y="1749349"/>
          <a:ext cx="7006640" cy="2450283"/>
        </p:xfrm>
        <a:graphic>
          <a:graphicData uri="http://schemas.openxmlformats.org/drawingml/2006/table">
            <a:tbl>
              <a:tblPr firstRow="1" bandRow="1">
                <a:tableStyleId>{5C22544A-7EE6-4342-B048-85BDC9FD1C3A}</a:tableStyleId>
              </a:tblPr>
              <a:tblGrid>
                <a:gridCol w="3629946">
                  <a:extLst>
                    <a:ext uri="{9D8B030D-6E8A-4147-A177-3AD203B41FA5}">
                      <a16:colId xmlns:a16="http://schemas.microsoft.com/office/drawing/2014/main" val="20000"/>
                    </a:ext>
                  </a:extLst>
                </a:gridCol>
                <a:gridCol w="1688347">
                  <a:extLst>
                    <a:ext uri="{9D8B030D-6E8A-4147-A177-3AD203B41FA5}">
                      <a16:colId xmlns:a16="http://schemas.microsoft.com/office/drawing/2014/main" val="20001"/>
                    </a:ext>
                  </a:extLst>
                </a:gridCol>
                <a:gridCol w="1688347">
                  <a:extLst>
                    <a:ext uri="{9D8B030D-6E8A-4147-A177-3AD203B41FA5}">
                      <a16:colId xmlns:a16="http://schemas.microsoft.com/office/drawing/2014/main" val="20002"/>
                    </a:ext>
                  </a:extLst>
                </a:gridCol>
              </a:tblGrid>
              <a:tr h="398171">
                <a:tc>
                  <a:txBody>
                    <a:bodyPr/>
                    <a:lstStyle/>
                    <a:p>
                      <a:pPr>
                        <a:defRPr sz="1400" b="1"/>
                      </a:pPr>
                      <a:r>
                        <a:rPr dirty="0" err="1"/>
                        <a:t>Критерій</a:t>
                      </a:r>
                      <a:endParaRPr dirty="0"/>
                    </a:p>
                  </a:txBody>
                  <a:tcPr/>
                </a:tc>
                <a:tc>
                  <a:txBody>
                    <a:bodyPr/>
                    <a:lstStyle/>
                    <a:p>
                      <a:pPr>
                        <a:defRPr sz="1400" b="1"/>
                      </a:pPr>
                      <a:r>
                        <a:t>Позначення</a:t>
                      </a:r>
                    </a:p>
                  </a:txBody>
                  <a:tcPr/>
                </a:tc>
                <a:tc>
                  <a:txBody>
                    <a:bodyPr/>
                    <a:lstStyle/>
                    <a:p>
                      <a:pPr>
                        <a:defRPr sz="1400" b="1"/>
                      </a:pPr>
                      <a:r>
                        <a:rPr dirty="0" err="1"/>
                        <a:t>Вага</a:t>
                      </a:r>
                      <a:r>
                        <a:rPr dirty="0"/>
                        <a:t> </a:t>
                      </a:r>
                      <a:r>
                        <a:rPr dirty="0" err="1"/>
                        <a:t>wj</a:t>
                      </a:r>
                      <a:endParaRPr dirty="0"/>
                    </a:p>
                  </a:txBody>
                  <a:tcPr/>
                </a:tc>
                <a:extLst>
                  <a:ext uri="{0D108BD9-81ED-4DB2-BD59-A6C34878D82A}">
                    <a16:rowId xmlns:a16="http://schemas.microsoft.com/office/drawing/2014/main" val="10000"/>
                  </a:ext>
                </a:extLst>
              </a:tr>
              <a:tr h="398171">
                <a:tc>
                  <a:txBody>
                    <a:bodyPr/>
                    <a:lstStyle/>
                    <a:p>
                      <a:pPr>
                        <a:defRPr sz="1200"/>
                      </a:pPr>
                      <a:r>
                        <a:rPr dirty="0" err="1"/>
                        <a:t>Повнота</a:t>
                      </a:r>
                      <a:r>
                        <a:rPr dirty="0"/>
                        <a:t> </a:t>
                      </a:r>
                      <a:r>
                        <a:rPr dirty="0" err="1"/>
                        <a:t>виявлення</a:t>
                      </a:r>
                      <a:r>
                        <a:rPr dirty="0"/>
                        <a:t> </a:t>
                      </a:r>
                      <a:r>
                        <a:rPr dirty="0" err="1"/>
                        <a:t>загроз</a:t>
                      </a:r>
                      <a:r>
                        <a:rPr dirty="0"/>
                        <a:t> (Recall), %</a:t>
                      </a:r>
                    </a:p>
                  </a:txBody>
                  <a:tcPr/>
                </a:tc>
                <a:tc>
                  <a:txBody>
                    <a:bodyPr/>
                    <a:lstStyle/>
                    <a:p>
                      <a:pPr>
                        <a:defRPr sz="1200"/>
                      </a:pPr>
                      <a:r>
                        <a:rPr dirty="0"/>
                        <a:t>K1</a:t>
                      </a:r>
                    </a:p>
                  </a:txBody>
                  <a:tcPr/>
                </a:tc>
                <a:tc>
                  <a:txBody>
                    <a:bodyPr/>
                    <a:lstStyle/>
                    <a:p>
                      <a:pPr>
                        <a:defRPr sz="1200"/>
                      </a:pPr>
                      <a:r>
                        <a:t>0.35</a:t>
                      </a:r>
                    </a:p>
                  </a:txBody>
                  <a:tcPr/>
                </a:tc>
                <a:extLst>
                  <a:ext uri="{0D108BD9-81ED-4DB2-BD59-A6C34878D82A}">
                    <a16:rowId xmlns:a16="http://schemas.microsoft.com/office/drawing/2014/main" val="10001"/>
                  </a:ext>
                </a:extLst>
              </a:tr>
              <a:tr h="398171">
                <a:tc>
                  <a:txBody>
                    <a:bodyPr/>
                    <a:lstStyle/>
                    <a:p>
                      <a:pPr>
                        <a:defRPr sz="1200"/>
                      </a:pPr>
                      <a:r>
                        <a:rPr dirty="0" err="1"/>
                        <a:t>Частка</a:t>
                      </a:r>
                      <a:r>
                        <a:rPr dirty="0"/>
                        <a:t> </a:t>
                      </a:r>
                      <a:r>
                        <a:rPr dirty="0" err="1"/>
                        <a:t>хибних</a:t>
                      </a:r>
                      <a:r>
                        <a:rPr dirty="0"/>
                        <a:t> </a:t>
                      </a:r>
                      <a:r>
                        <a:rPr dirty="0" err="1"/>
                        <a:t>спрацювань</a:t>
                      </a:r>
                      <a:r>
                        <a:rPr dirty="0"/>
                        <a:t> (</a:t>
                      </a:r>
                      <a:r>
                        <a:rPr dirty="0" err="1"/>
                        <a:t>FalsePos</a:t>
                      </a:r>
                      <a:r>
                        <a:rPr dirty="0"/>
                        <a:t>), %</a:t>
                      </a:r>
                    </a:p>
                  </a:txBody>
                  <a:tcPr/>
                </a:tc>
                <a:tc>
                  <a:txBody>
                    <a:bodyPr/>
                    <a:lstStyle/>
                    <a:p>
                      <a:pPr>
                        <a:defRPr sz="1200"/>
                      </a:pPr>
                      <a:r>
                        <a:t>K2</a:t>
                      </a:r>
                    </a:p>
                  </a:txBody>
                  <a:tcPr/>
                </a:tc>
                <a:tc>
                  <a:txBody>
                    <a:bodyPr/>
                    <a:lstStyle/>
                    <a:p>
                      <a:pPr>
                        <a:defRPr sz="1200"/>
                      </a:pPr>
                      <a:r>
                        <a:t>0.15</a:t>
                      </a:r>
                    </a:p>
                  </a:txBody>
                  <a:tcPr/>
                </a:tc>
                <a:extLst>
                  <a:ext uri="{0D108BD9-81ED-4DB2-BD59-A6C34878D82A}">
                    <a16:rowId xmlns:a16="http://schemas.microsoft.com/office/drawing/2014/main" val="10002"/>
                  </a:ext>
                </a:extLst>
              </a:tr>
              <a:tr h="398171">
                <a:tc>
                  <a:txBody>
                    <a:bodyPr/>
                    <a:lstStyle/>
                    <a:p>
                      <a:pPr>
                        <a:defRPr sz="1200"/>
                      </a:pPr>
                      <a:r>
                        <a:rPr dirty="0" err="1"/>
                        <a:t>Час</a:t>
                      </a:r>
                      <a:r>
                        <a:rPr dirty="0"/>
                        <a:t> </a:t>
                      </a:r>
                      <a:r>
                        <a:rPr dirty="0" err="1"/>
                        <a:t>реагування</a:t>
                      </a:r>
                      <a:r>
                        <a:rPr dirty="0"/>
                        <a:t> / </a:t>
                      </a:r>
                      <a:r>
                        <a:rPr dirty="0" err="1"/>
                        <a:t>блокування</a:t>
                      </a:r>
                      <a:r>
                        <a:rPr dirty="0"/>
                        <a:t> (Response Time), </a:t>
                      </a:r>
                      <a:r>
                        <a:rPr dirty="0" err="1"/>
                        <a:t>с</a:t>
                      </a:r>
                      <a:endParaRPr dirty="0"/>
                    </a:p>
                  </a:txBody>
                  <a:tcPr/>
                </a:tc>
                <a:tc>
                  <a:txBody>
                    <a:bodyPr/>
                    <a:lstStyle/>
                    <a:p>
                      <a:pPr>
                        <a:defRPr sz="1200"/>
                      </a:pPr>
                      <a:r>
                        <a:t>K3</a:t>
                      </a:r>
                    </a:p>
                  </a:txBody>
                  <a:tcPr/>
                </a:tc>
                <a:tc>
                  <a:txBody>
                    <a:bodyPr/>
                    <a:lstStyle/>
                    <a:p>
                      <a:pPr>
                        <a:defRPr sz="1200"/>
                      </a:pPr>
                      <a:r>
                        <a:t>0.15</a:t>
                      </a:r>
                    </a:p>
                  </a:txBody>
                  <a:tcPr/>
                </a:tc>
                <a:extLst>
                  <a:ext uri="{0D108BD9-81ED-4DB2-BD59-A6C34878D82A}">
                    <a16:rowId xmlns:a16="http://schemas.microsoft.com/office/drawing/2014/main" val="10003"/>
                  </a:ext>
                </a:extLst>
              </a:tr>
              <a:tr h="459428">
                <a:tc>
                  <a:txBody>
                    <a:bodyPr/>
                    <a:lstStyle/>
                    <a:p>
                      <a:pPr>
                        <a:defRPr sz="1200"/>
                      </a:pPr>
                      <a:r>
                        <a:t>Навантаження на систему (Performance Impact / Overhead)</a:t>
                      </a:r>
                    </a:p>
                  </a:txBody>
                  <a:tcPr/>
                </a:tc>
                <a:tc>
                  <a:txBody>
                    <a:bodyPr/>
                    <a:lstStyle/>
                    <a:p>
                      <a:pPr>
                        <a:defRPr sz="1200"/>
                      </a:pPr>
                      <a:r>
                        <a:t>K4</a:t>
                      </a:r>
                    </a:p>
                  </a:txBody>
                  <a:tcPr/>
                </a:tc>
                <a:tc>
                  <a:txBody>
                    <a:bodyPr/>
                    <a:lstStyle/>
                    <a:p>
                      <a:pPr>
                        <a:defRPr sz="1200"/>
                      </a:pPr>
                      <a:r>
                        <a:t>0.10</a:t>
                      </a:r>
                    </a:p>
                  </a:txBody>
                  <a:tcPr/>
                </a:tc>
                <a:extLst>
                  <a:ext uri="{0D108BD9-81ED-4DB2-BD59-A6C34878D82A}">
                    <a16:rowId xmlns:a16="http://schemas.microsoft.com/office/drawing/2014/main" val="10004"/>
                  </a:ext>
                </a:extLst>
              </a:tr>
              <a:tr h="398171">
                <a:tc>
                  <a:txBody>
                    <a:bodyPr/>
                    <a:lstStyle/>
                    <a:p>
                      <a:pPr>
                        <a:defRPr sz="1200"/>
                      </a:pPr>
                      <a:r>
                        <a:rPr dirty="0" err="1"/>
                        <a:t>Моніторинг</a:t>
                      </a:r>
                      <a:r>
                        <a:rPr dirty="0"/>
                        <a:t> </a:t>
                      </a:r>
                      <a:r>
                        <a:rPr dirty="0" err="1"/>
                        <a:t>та</a:t>
                      </a:r>
                      <a:r>
                        <a:rPr dirty="0"/>
                        <a:t> </a:t>
                      </a:r>
                      <a:r>
                        <a:rPr dirty="0" err="1"/>
                        <a:t>логування</a:t>
                      </a:r>
                      <a:r>
                        <a:rPr dirty="0"/>
                        <a:t> </a:t>
                      </a:r>
                      <a:r>
                        <a:rPr dirty="0" err="1"/>
                        <a:t>подій</a:t>
                      </a:r>
                      <a:r>
                        <a:rPr dirty="0"/>
                        <a:t> (Monitoring), %</a:t>
                      </a:r>
                    </a:p>
                  </a:txBody>
                  <a:tcPr/>
                </a:tc>
                <a:tc>
                  <a:txBody>
                    <a:bodyPr/>
                    <a:lstStyle/>
                    <a:p>
                      <a:pPr>
                        <a:defRPr sz="1200"/>
                      </a:pPr>
                      <a:r>
                        <a:t>K5</a:t>
                      </a:r>
                    </a:p>
                  </a:txBody>
                  <a:tcPr/>
                </a:tc>
                <a:tc>
                  <a:txBody>
                    <a:bodyPr/>
                    <a:lstStyle/>
                    <a:p>
                      <a:pPr>
                        <a:defRPr sz="1200"/>
                      </a:pPr>
                      <a:r>
                        <a:rPr dirty="0"/>
                        <a:t>0.25</a:t>
                      </a:r>
                    </a:p>
                  </a:txBody>
                  <a:tcPr/>
                </a:tc>
                <a:extLst>
                  <a:ext uri="{0D108BD9-81ED-4DB2-BD59-A6C34878D82A}">
                    <a16:rowId xmlns:a16="http://schemas.microsoft.com/office/drawing/2014/main" val="10005"/>
                  </a:ext>
                </a:extLst>
              </a:tr>
            </a:tbl>
          </a:graphicData>
        </a:graphic>
      </p:graphicFrame>
      <p:sp>
        <p:nvSpPr>
          <p:cNvPr id="4" name="TextBox 3"/>
          <p:cNvSpPr txBox="1"/>
          <p:nvPr/>
        </p:nvSpPr>
        <p:spPr>
          <a:xfrm>
            <a:off x="1021436" y="5066072"/>
            <a:ext cx="7178459" cy="307777"/>
          </a:xfrm>
          <a:prstGeom prst="rect">
            <a:avLst/>
          </a:prstGeom>
          <a:noFill/>
        </p:spPr>
        <p:txBody>
          <a:bodyPr wrap="square">
            <a:spAutoFit/>
          </a:bodyPr>
          <a:lstStyle/>
          <a:p>
            <a:pPr>
              <a:defRPr sz="1400"/>
            </a:pPr>
            <a:r>
              <a:rPr dirty="0" err="1"/>
              <a:t>Інтегральна</a:t>
            </a:r>
            <a:r>
              <a:rPr dirty="0"/>
              <a:t> </a:t>
            </a:r>
            <a:r>
              <a:rPr dirty="0" err="1"/>
              <a:t>оцінка</a:t>
            </a:r>
            <a:r>
              <a:rPr dirty="0"/>
              <a:t>:</a:t>
            </a:r>
            <a:endParaRPr lang="uk-UA" dirty="0"/>
          </a:p>
        </p:txBody>
      </p:sp>
      <p:pic>
        <p:nvPicPr>
          <p:cNvPr id="7" name="Рисунок 6" descr="Изображение выглядит как Шрифт, Графика, рукописный текст, типография&#10;&#10;Автоматически созданное описание">
            <a:extLst>
              <a:ext uri="{FF2B5EF4-FFF2-40B4-BE49-F238E27FC236}">
                <a16:creationId xmlns:a16="http://schemas.microsoft.com/office/drawing/2014/main" id="{934D37D5-BDC1-8421-CED2-DB2C26D66324}"/>
              </a:ext>
            </a:extLst>
          </p:cNvPr>
          <p:cNvPicPr>
            <a:picLocks noChangeAspect="1"/>
          </p:cNvPicPr>
          <p:nvPr/>
        </p:nvPicPr>
        <p:blipFill>
          <a:blip r:embed="rId3"/>
          <a:stretch>
            <a:fillRect/>
          </a:stretch>
        </p:blipFill>
        <p:spPr>
          <a:xfrm>
            <a:off x="1017423" y="5502356"/>
            <a:ext cx="3114675" cy="1123325"/>
          </a:xfrm>
          <a:prstGeom prst="rect">
            <a:avLst/>
          </a:prstGeom>
        </p:spPr>
      </p:pic>
      <p:sp>
        <p:nvSpPr>
          <p:cNvPr id="9" name="TextBox 8">
            <a:extLst>
              <a:ext uri="{FF2B5EF4-FFF2-40B4-BE49-F238E27FC236}">
                <a16:creationId xmlns:a16="http://schemas.microsoft.com/office/drawing/2014/main" id="{0435016A-4DC3-38E4-1FC5-A0B1286A6471}"/>
              </a:ext>
            </a:extLst>
          </p:cNvPr>
          <p:cNvSpPr txBox="1"/>
          <p:nvPr/>
        </p:nvSpPr>
        <p:spPr>
          <a:xfrm>
            <a:off x="4572000" y="5751597"/>
            <a:ext cx="3268827" cy="523220"/>
          </a:xfrm>
          <a:prstGeom prst="rect">
            <a:avLst/>
          </a:prstGeom>
          <a:noFill/>
        </p:spPr>
        <p:txBody>
          <a:bodyPr wrap="square">
            <a:spAutoFit/>
          </a:bodyPr>
          <a:lstStyle/>
          <a:p>
            <a:pPr>
              <a:defRPr sz="1400"/>
            </a:pPr>
            <a:r>
              <a:rPr lang="ru-RU" dirty="0"/>
              <a:t>де </a:t>
            </a:r>
            <a:r>
              <a:rPr lang="en" dirty="0"/>
              <a:t>N(·) — </a:t>
            </a:r>
            <a:r>
              <a:rPr lang="ru-RU" dirty="0" err="1"/>
              <a:t>нормалізовані</a:t>
            </a:r>
            <a:r>
              <a:rPr lang="ru-RU" dirty="0"/>
              <a:t> </a:t>
            </a:r>
            <a:r>
              <a:rPr lang="ru-RU" dirty="0" err="1"/>
              <a:t>значення</a:t>
            </a:r>
            <a:r>
              <a:rPr lang="ru-RU" dirty="0"/>
              <a:t> </a:t>
            </a:r>
            <a:r>
              <a:rPr lang="ru-RU" dirty="0" err="1"/>
              <a:t>критеріїв</a:t>
            </a:r>
            <a:r>
              <a:rPr lang="ru-RU" dirty="0"/>
              <a:t> у [0;1].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6" name="Rectangle 25">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8" name="Rectangle 27">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130" y="0"/>
            <a:ext cx="71925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 name="Title 1"/>
          <p:cNvSpPr>
            <a:spLocks noGrp="1"/>
          </p:cNvSpPr>
          <p:nvPr>
            <p:ph type="title"/>
          </p:nvPr>
        </p:nvSpPr>
        <p:spPr>
          <a:xfrm>
            <a:off x="897378" y="583085"/>
            <a:ext cx="6477485" cy="1077229"/>
          </a:xfrm>
        </p:spPr>
        <p:txBody>
          <a:bodyPr vert="horz" lIns="91440" tIns="45720" rIns="91440" bIns="45720" rtlCol="0" anchor="b">
            <a:normAutofit/>
          </a:bodyPr>
          <a:lstStyle/>
          <a:p>
            <a:pPr algn="l" defTabSz="914400">
              <a:defRPr sz="3400" b="1"/>
            </a:pPr>
            <a:r>
              <a:rPr lang="en-US" sz="3500" dirty="0" err="1"/>
              <a:t>Метрики</a:t>
            </a:r>
            <a:r>
              <a:rPr lang="en-US" sz="3500" dirty="0"/>
              <a:t> </a:t>
            </a:r>
            <a:r>
              <a:rPr lang="en-US" sz="3500" dirty="0" err="1"/>
              <a:t>якості</a:t>
            </a:r>
            <a:r>
              <a:rPr lang="en-US" sz="3500" dirty="0"/>
              <a:t>: Precision, Recall, F1</a:t>
            </a:r>
          </a:p>
        </p:txBody>
      </p:sp>
      <p:sp>
        <p:nvSpPr>
          <p:cNvPr id="3" name="TextBox 2"/>
          <p:cNvSpPr txBox="1"/>
          <p:nvPr/>
        </p:nvSpPr>
        <p:spPr>
          <a:xfrm>
            <a:off x="897378" y="1944656"/>
            <a:ext cx="6723833" cy="400000"/>
          </a:xfrm>
          <a:prstGeom prst="rect">
            <a:avLst/>
          </a:prstGeom>
        </p:spPr>
        <p:txBody>
          <a:bodyPr vert="horz" lIns="91440" tIns="45720" rIns="91440" bIns="45720" rtlCol="0" anchor="ctr">
            <a:normAutofit/>
          </a:bodyPr>
          <a:lstStyle/>
          <a:p>
            <a:r>
              <a:rPr lang="uk-UA" dirty="0">
                <a:solidFill>
                  <a:srgbClr val="FFFFFF"/>
                </a:solidFill>
              </a:rPr>
              <a:t>Якість детектування вимірюється стандартними метриками:</a:t>
            </a:r>
          </a:p>
        </p:txBody>
      </p:sp>
      <p:graphicFrame>
        <p:nvGraphicFramePr>
          <p:cNvPr id="29" name="Table 28"/>
          <p:cNvGraphicFramePr>
            <a:graphicFrameLocks noGrp="1"/>
          </p:cNvGraphicFramePr>
          <p:nvPr>
            <p:extLst>
              <p:ext uri="{D42A27DB-BD31-4B8C-83A1-F6EECF244321}">
                <p14:modId xmlns:p14="http://schemas.microsoft.com/office/powerpoint/2010/main" val="3967354357"/>
              </p:ext>
            </p:extLst>
          </p:nvPr>
        </p:nvGraphicFramePr>
        <p:xfrm>
          <a:off x="941118" y="2505202"/>
          <a:ext cx="6723833" cy="2286000"/>
        </p:xfrm>
        <a:graphic>
          <a:graphicData uri="http://schemas.openxmlformats.org/drawingml/2006/table">
            <a:tbl>
              <a:tblPr firstRow="1" bandRow="1">
                <a:tableStyleId>{5C22544A-7EE6-4342-B048-85BDC9FD1C3A}</a:tableStyleId>
              </a:tblPr>
              <a:tblGrid>
                <a:gridCol w="1700000">
                  <a:extLst>
                    <a:ext uri="{9D8B030D-6E8A-4147-A177-3AD203B41FA5}">
                      <a16:colId xmlns:a16="http://schemas.microsoft.com/office/drawing/2014/main" val="20000"/>
                    </a:ext>
                  </a:extLst>
                </a:gridCol>
                <a:gridCol w="2300000">
                  <a:extLst>
                    <a:ext uri="{9D8B030D-6E8A-4147-A177-3AD203B41FA5}">
                      <a16:colId xmlns:a16="http://schemas.microsoft.com/office/drawing/2014/main" val="20001"/>
                    </a:ext>
                  </a:extLst>
                </a:gridCol>
                <a:gridCol w="2723833">
                  <a:extLst>
                    <a:ext uri="{9D8B030D-6E8A-4147-A177-3AD203B41FA5}">
                      <a16:colId xmlns:a16="http://schemas.microsoft.com/office/drawing/2014/main" val="20002"/>
                    </a:ext>
                  </a:extLst>
                </a:gridCol>
              </a:tblGrid>
              <a:tr h="350000">
                <a:tc>
                  <a:txBody>
                    <a:bodyPr/>
                    <a:lstStyle/>
                    <a:p>
                      <a:r>
                        <a:rPr sz="1800" b="1" dirty="0" err="1">
                          <a:solidFill>
                            <a:schemeClr val="tx1"/>
                          </a:solidFill>
                        </a:rPr>
                        <a:t>Метрика</a:t>
                      </a:r>
                      <a:endParaRPr sz="1800" b="1" dirty="0">
                        <a:solidFill>
                          <a:schemeClr val="tx1"/>
                        </a:solidFill>
                      </a:endParaRPr>
                    </a:p>
                  </a:txBody>
                  <a:tcPr>
                    <a:solidFill>
                      <a:schemeClr val="accent1"/>
                    </a:solidFill>
                  </a:tcPr>
                </a:tc>
                <a:tc>
                  <a:txBody>
                    <a:bodyPr/>
                    <a:lstStyle/>
                    <a:p>
                      <a:r>
                        <a:rPr sz="1800" b="1" dirty="0" err="1">
                          <a:solidFill>
                            <a:schemeClr val="tx1"/>
                          </a:solidFill>
                        </a:rPr>
                        <a:t>Формула</a:t>
                      </a:r>
                      <a:endParaRPr sz="1800" b="1" dirty="0">
                        <a:solidFill>
                          <a:schemeClr val="tx1"/>
                        </a:solidFill>
                      </a:endParaRPr>
                    </a:p>
                  </a:txBody>
                  <a:tcPr>
                    <a:solidFill>
                      <a:schemeClr val="accent1"/>
                    </a:solidFill>
                  </a:tcPr>
                </a:tc>
                <a:tc>
                  <a:txBody>
                    <a:bodyPr/>
                    <a:lstStyle/>
                    <a:p>
                      <a:r>
                        <a:rPr sz="1800" b="1" dirty="0" err="1">
                          <a:solidFill>
                            <a:schemeClr val="tx1"/>
                          </a:solidFill>
                        </a:rPr>
                        <a:t>Що</a:t>
                      </a:r>
                      <a:r>
                        <a:rPr sz="1800" b="1" dirty="0">
                          <a:solidFill>
                            <a:schemeClr val="tx1"/>
                          </a:solidFill>
                        </a:rPr>
                        <a:t> </a:t>
                      </a:r>
                      <a:r>
                        <a:rPr sz="1800" b="1" dirty="0" err="1">
                          <a:solidFill>
                            <a:schemeClr val="tx1"/>
                          </a:solidFill>
                        </a:rPr>
                        <a:t>показує</a:t>
                      </a:r>
                      <a:endParaRPr sz="1800" b="1" dirty="0">
                        <a:solidFill>
                          <a:schemeClr val="tx1"/>
                        </a:solidFill>
                      </a:endParaRPr>
                    </a:p>
                  </a:txBody>
                  <a:tcPr>
                    <a:solidFill>
                      <a:schemeClr val="accent1"/>
                    </a:solidFill>
                  </a:tcPr>
                </a:tc>
                <a:extLst>
                  <a:ext uri="{0D108BD9-81ED-4DB2-BD59-A6C34878D82A}">
                    <a16:rowId xmlns:a16="http://schemas.microsoft.com/office/drawing/2014/main" val="10000"/>
                  </a:ext>
                </a:extLst>
              </a:tr>
              <a:tr h="350000">
                <a:tc>
                  <a:txBody>
                    <a:bodyPr/>
                    <a:lstStyle/>
                    <a:p>
                      <a:r>
                        <a:rPr sz="1800" dirty="0">
                          <a:solidFill>
                            <a:schemeClr val="tx1"/>
                          </a:solidFill>
                        </a:rPr>
                        <a:t>Precision</a:t>
                      </a:r>
                    </a:p>
                  </a:txBody>
                  <a:tcPr>
                    <a:solidFill>
                      <a:schemeClr val="accent1"/>
                    </a:solidFill>
                  </a:tcPr>
                </a:tc>
                <a:tc>
                  <a:txBody>
                    <a:bodyPr/>
                    <a:lstStyle/>
                    <a:p>
                      <a:r>
                        <a:rPr sz="1800" b="1" dirty="0">
                          <a:solidFill>
                            <a:schemeClr val="tx1"/>
                          </a:solidFill>
                        </a:rPr>
                        <a:t>TP / (TP + FP)</a:t>
                      </a:r>
                    </a:p>
                  </a:txBody>
                  <a:tcPr>
                    <a:solidFill>
                      <a:schemeClr val="accent1"/>
                    </a:solidFill>
                  </a:tcPr>
                </a:tc>
                <a:tc>
                  <a:txBody>
                    <a:bodyPr/>
                    <a:lstStyle/>
                    <a:p>
                      <a:r>
                        <a:rPr sz="1800" dirty="0" err="1">
                          <a:solidFill>
                            <a:schemeClr val="tx1"/>
                          </a:solidFill>
                        </a:rPr>
                        <a:t>Частка</a:t>
                      </a:r>
                      <a:r>
                        <a:rPr sz="1800" dirty="0">
                          <a:solidFill>
                            <a:schemeClr val="tx1"/>
                          </a:solidFill>
                        </a:rPr>
                        <a:t> </a:t>
                      </a:r>
                      <a:r>
                        <a:rPr sz="1800" dirty="0" err="1">
                          <a:solidFill>
                            <a:schemeClr val="tx1"/>
                          </a:solidFill>
                        </a:rPr>
                        <a:t>коректних</a:t>
                      </a:r>
                      <a:r>
                        <a:rPr sz="1800" dirty="0">
                          <a:solidFill>
                            <a:schemeClr val="tx1"/>
                          </a:solidFill>
                        </a:rPr>
                        <a:t> </a:t>
                      </a:r>
                      <a:r>
                        <a:rPr sz="1800" dirty="0" err="1">
                          <a:solidFill>
                            <a:schemeClr val="tx1"/>
                          </a:solidFill>
                        </a:rPr>
                        <a:t>спрацювань</a:t>
                      </a:r>
                      <a:endParaRPr sz="1800" dirty="0">
                        <a:solidFill>
                          <a:schemeClr val="tx1"/>
                        </a:solidFill>
                      </a:endParaRPr>
                    </a:p>
                  </a:txBody>
                  <a:tcPr>
                    <a:solidFill>
                      <a:schemeClr val="accent1"/>
                    </a:solidFill>
                  </a:tcPr>
                </a:tc>
                <a:extLst>
                  <a:ext uri="{0D108BD9-81ED-4DB2-BD59-A6C34878D82A}">
                    <a16:rowId xmlns:a16="http://schemas.microsoft.com/office/drawing/2014/main" val="10001"/>
                  </a:ext>
                </a:extLst>
              </a:tr>
              <a:tr h="350000">
                <a:tc>
                  <a:txBody>
                    <a:bodyPr/>
                    <a:lstStyle/>
                    <a:p>
                      <a:r>
                        <a:rPr sz="1800" dirty="0">
                          <a:solidFill>
                            <a:schemeClr val="tx1"/>
                          </a:solidFill>
                        </a:rPr>
                        <a:t>Recall</a:t>
                      </a:r>
                    </a:p>
                  </a:txBody>
                  <a:tcPr>
                    <a:solidFill>
                      <a:schemeClr val="accent1"/>
                    </a:solidFill>
                  </a:tcPr>
                </a:tc>
                <a:tc>
                  <a:txBody>
                    <a:bodyPr/>
                    <a:lstStyle/>
                    <a:p>
                      <a:r>
                        <a:rPr sz="1800" b="1" dirty="0">
                          <a:solidFill>
                            <a:schemeClr val="tx1"/>
                          </a:solidFill>
                        </a:rPr>
                        <a:t>TP / (TP + FN)</a:t>
                      </a:r>
                    </a:p>
                  </a:txBody>
                  <a:tcPr>
                    <a:solidFill>
                      <a:schemeClr val="accent1"/>
                    </a:solidFill>
                  </a:tcPr>
                </a:tc>
                <a:tc>
                  <a:txBody>
                    <a:bodyPr/>
                    <a:lstStyle/>
                    <a:p>
                      <a:r>
                        <a:rPr sz="1800" dirty="0" err="1">
                          <a:solidFill>
                            <a:schemeClr val="tx1"/>
                          </a:solidFill>
                        </a:rPr>
                        <a:t>Частка</a:t>
                      </a:r>
                      <a:r>
                        <a:rPr sz="1800" dirty="0">
                          <a:solidFill>
                            <a:schemeClr val="tx1"/>
                          </a:solidFill>
                        </a:rPr>
                        <a:t> </a:t>
                      </a:r>
                      <a:r>
                        <a:rPr sz="1800" dirty="0" err="1">
                          <a:solidFill>
                            <a:schemeClr val="tx1"/>
                          </a:solidFill>
                        </a:rPr>
                        <a:t>виявлених</a:t>
                      </a:r>
                      <a:r>
                        <a:rPr sz="1800" dirty="0">
                          <a:solidFill>
                            <a:schemeClr val="tx1"/>
                          </a:solidFill>
                        </a:rPr>
                        <a:t> </a:t>
                      </a:r>
                      <a:r>
                        <a:rPr sz="1800" dirty="0" err="1">
                          <a:solidFill>
                            <a:schemeClr val="tx1"/>
                          </a:solidFill>
                        </a:rPr>
                        <a:t>реальних</a:t>
                      </a:r>
                      <a:r>
                        <a:rPr sz="1800" dirty="0">
                          <a:solidFill>
                            <a:schemeClr val="tx1"/>
                          </a:solidFill>
                        </a:rPr>
                        <a:t> </a:t>
                      </a:r>
                      <a:r>
                        <a:rPr sz="1800" dirty="0" err="1">
                          <a:solidFill>
                            <a:schemeClr val="tx1"/>
                          </a:solidFill>
                        </a:rPr>
                        <a:t>загроз</a:t>
                      </a:r>
                      <a:endParaRPr sz="1800" dirty="0">
                        <a:solidFill>
                          <a:schemeClr val="tx1"/>
                        </a:solidFill>
                      </a:endParaRPr>
                    </a:p>
                  </a:txBody>
                  <a:tcPr>
                    <a:solidFill>
                      <a:schemeClr val="accent1"/>
                    </a:solidFill>
                  </a:tcPr>
                </a:tc>
                <a:extLst>
                  <a:ext uri="{0D108BD9-81ED-4DB2-BD59-A6C34878D82A}">
                    <a16:rowId xmlns:a16="http://schemas.microsoft.com/office/drawing/2014/main" val="10002"/>
                  </a:ext>
                </a:extLst>
              </a:tr>
              <a:tr h="350000">
                <a:tc>
                  <a:txBody>
                    <a:bodyPr/>
                    <a:lstStyle/>
                    <a:p>
                      <a:r>
                        <a:rPr sz="1800" dirty="0">
                          <a:solidFill>
                            <a:schemeClr val="tx1"/>
                          </a:solidFill>
                        </a:rPr>
                        <a:t>F1-score</a:t>
                      </a:r>
                    </a:p>
                  </a:txBody>
                  <a:tcPr>
                    <a:solidFill>
                      <a:schemeClr val="accent1"/>
                    </a:solidFill>
                  </a:tcPr>
                </a:tc>
                <a:tc>
                  <a:txBody>
                    <a:bodyPr/>
                    <a:lstStyle/>
                    <a:p>
                      <a:r>
                        <a:rPr sz="1800" b="1" dirty="0">
                          <a:solidFill>
                            <a:schemeClr val="tx1"/>
                          </a:solidFill>
                        </a:rPr>
                        <a:t>2·P·R / (P+R)</a:t>
                      </a:r>
                    </a:p>
                  </a:txBody>
                  <a:tcPr>
                    <a:solidFill>
                      <a:schemeClr val="accent1"/>
                    </a:solidFill>
                  </a:tcPr>
                </a:tc>
                <a:tc>
                  <a:txBody>
                    <a:bodyPr/>
                    <a:lstStyle/>
                    <a:p>
                      <a:r>
                        <a:rPr sz="1800" dirty="0" err="1">
                          <a:solidFill>
                            <a:schemeClr val="tx1"/>
                          </a:solidFill>
                        </a:rPr>
                        <a:t>Збалансована</a:t>
                      </a:r>
                      <a:r>
                        <a:rPr sz="1800" dirty="0">
                          <a:solidFill>
                            <a:schemeClr val="tx1"/>
                          </a:solidFill>
                        </a:rPr>
                        <a:t> </a:t>
                      </a:r>
                      <a:r>
                        <a:rPr sz="1800" dirty="0" err="1">
                          <a:solidFill>
                            <a:schemeClr val="tx1"/>
                          </a:solidFill>
                        </a:rPr>
                        <a:t>оцінка</a:t>
                      </a:r>
                      <a:r>
                        <a:rPr sz="1800" dirty="0">
                          <a:solidFill>
                            <a:schemeClr val="tx1"/>
                          </a:solidFill>
                        </a:rPr>
                        <a:t> P </a:t>
                      </a:r>
                      <a:r>
                        <a:rPr sz="1800" dirty="0" err="1">
                          <a:solidFill>
                            <a:schemeClr val="tx1"/>
                          </a:solidFill>
                        </a:rPr>
                        <a:t>та</a:t>
                      </a:r>
                      <a:r>
                        <a:rPr sz="1800" dirty="0">
                          <a:solidFill>
                            <a:schemeClr val="tx1"/>
                          </a:solidFill>
                        </a:rPr>
                        <a:t> R</a:t>
                      </a:r>
                    </a:p>
                  </a:txBody>
                  <a:tcPr>
                    <a:solidFill>
                      <a:schemeClr val="accent1"/>
                    </a:solidFill>
                  </a:tcPr>
                </a:tc>
                <a:extLst>
                  <a:ext uri="{0D108BD9-81ED-4DB2-BD59-A6C34878D82A}">
                    <a16:rowId xmlns:a16="http://schemas.microsoft.com/office/drawing/2014/main" val="10003"/>
                  </a:ext>
                </a:extLst>
              </a:tr>
            </a:tbl>
          </a:graphicData>
        </a:graphic>
      </p:graphicFrame>
      <p:sp>
        <p:nvSpPr>
          <p:cNvPr id="5" name="Номер слайда 4">
            <a:extLst>
              <a:ext uri="{FF2B5EF4-FFF2-40B4-BE49-F238E27FC236}">
                <a16:creationId xmlns:a16="http://schemas.microsoft.com/office/drawing/2014/main" id="{4E60F5AA-4DA6-BC0E-A7B9-284248280D31}"/>
              </a:ext>
            </a:extLst>
          </p:cNvPr>
          <p:cNvSpPr>
            <a:spLocks noGrp="1"/>
          </p:cNvSpPr>
          <p:nvPr>
            <p:ph type="sldNum" sz="quarter" idx="12"/>
          </p:nvPr>
        </p:nvSpPr>
        <p:spPr/>
        <p:txBody>
          <a:bodyPr/>
          <a:lstStyle/>
          <a:p>
            <a:fld id="{C1FF6DA9-008F-8B48-92A6-B652298478BF}" type="slidenum">
              <a:rPr lang="en-US" smtClean="0"/>
              <a:t>16</a:t>
            </a:fld>
            <a:endParaRPr lang="en-US" dirty="0"/>
          </a:p>
        </p:txBody>
      </p:sp>
      <p:pic>
        <p:nvPicPr>
          <p:cNvPr id="6" name="Рисунок 5" descr="Изображение выглядит как Графика, символ, графическая вставка, круг&#10;&#10;Автоматически созданное описание">
            <a:extLst>
              <a:ext uri="{FF2B5EF4-FFF2-40B4-BE49-F238E27FC236}">
                <a16:creationId xmlns:a16="http://schemas.microsoft.com/office/drawing/2014/main" id="{12A76CD3-A961-C404-E833-AB613F59A81A}"/>
              </a:ext>
            </a:extLst>
          </p:cNvPr>
          <p:cNvPicPr>
            <a:picLocks noChangeAspect="1"/>
          </p:cNvPicPr>
          <p:nvPr/>
        </p:nvPicPr>
        <p:blipFill>
          <a:blip r:embed="rId6"/>
          <a:stretch>
            <a:fillRect/>
          </a:stretch>
        </p:blipFill>
        <p:spPr>
          <a:xfrm>
            <a:off x="941118" y="5200500"/>
            <a:ext cx="1257851" cy="1257851"/>
          </a:xfrm>
          <a:prstGeom prst="rect">
            <a:avLst/>
          </a:prstGeom>
        </p:spPr>
      </p:pic>
      <p:pic>
        <p:nvPicPr>
          <p:cNvPr id="9" name="Рисунок 8" descr="Изображение выглядит как круг, часы, иллюстрация&#10;&#10;Автоматически созданное описание">
            <a:extLst>
              <a:ext uri="{FF2B5EF4-FFF2-40B4-BE49-F238E27FC236}">
                <a16:creationId xmlns:a16="http://schemas.microsoft.com/office/drawing/2014/main" id="{CA401F2C-43B7-430C-92B9-1F5DEB11501B}"/>
              </a:ext>
            </a:extLst>
          </p:cNvPr>
          <p:cNvPicPr>
            <a:picLocks noChangeAspect="1"/>
          </p:cNvPicPr>
          <p:nvPr/>
        </p:nvPicPr>
        <p:blipFill>
          <a:blip r:embed="rId7"/>
          <a:stretch>
            <a:fillRect/>
          </a:stretch>
        </p:blipFill>
        <p:spPr>
          <a:xfrm>
            <a:off x="3652239" y="5200500"/>
            <a:ext cx="1257851" cy="1257851"/>
          </a:xfrm>
          <a:prstGeom prst="rect">
            <a:avLst/>
          </a:prstGeom>
        </p:spPr>
      </p:pic>
      <p:pic>
        <p:nvPicPr>
          <p:cNvPr id="13" name="Рисунок 12" descr="Изображение выглядит как круг, часы, снимок экрана, дизайн&#10;&#10;Автоматически созданное описание">
            <a:extLst>
              <a:ext uri="{FF2B5EF4-FFF2-40B4-BE49-F238E27FC236}">
                <a16:creationId xmlns:a16="http://schemas.microsoft.com/office/drawing/2014/main" id="{81CF1C5C-826C-DE97-7F9C-D7A4C865CF04}"/>
              </a:ext>
            </a:extLst>
          </p:cNvPr>
          <p:cNvPicPr>
            <a:picLocks noChangeAspect="1"/>
          </p:cNvPicPr>
          <p:nvPr/>
        </p:nvPicPr>
        <p:blipFill>
          <a:blip r:embed="rId8"/>
          <a:stretch>
            <a:fillRect/>
          </a:stretch>
        </p:blipFill>
        <p:spPr>
          <a:xfrm>
            <a:off x="6363360" y="5200500"/>
            <a:ext cx="1257851" cy="125785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719931" y="413967"/>
            <a:ext cx="7276710" cy="1627864"/>
          </a:xfrm>
        </p:spPr>
        <p:txBody>
          <a:bodyPr vert="horz" lIns="91440" tIns="45720" rIns="91440" bIns="45720" rtlCol="0" anchor="t">
            <a:normAutofit/>
          </a:bodyPr>
          <a:lstStyle/>
          <a:p>
            <a:pPr algn="l" defTabSz="914400">
              <a:defRPr sz="3400" b="1"/>
            </a:pPr>
            <a:r>
              <a:rPr lang="en-US" sz="2600" dirty="0" err="1"/>
              <a:t>Коротка</a:t>
            </a:r>
            <a:r>
              <a:rPr lang="en-US" sz="2600" dirty="0"/>
              <a:t> </a:t>
            </a:r>
            <a:r>
              <a:rPr lang="en-US" sz="2600" dirty="0" err="1"/>
              <a:t>характеристика</a:t>
            </a:r>
            <a:r>
              <a:rPr lang="en-US" sz="2600" dirty="0"/>
              <a:t> </a:t>
            </a:r>
            <a:r>
              <a:rPr lang="en-US" sz="2600" dirty="0" err="1"/>
              <a:t>плагінів</a:t>
            </a:r>
            <a:r>
              <a:rPr lang="en-US" sz="2600" dirty="0"/>
              <a:t> </a:t>
            </a:r>
            <a:r>
              <a:rPr lang="en-US" sz="2600" dirty="0" err="1"/>
              <a:t>безпеки</a:t>
            </a:r>
            <a:endParaRPr lang="en-US" sz="2600" dirty="0"/>
          </a:p>
        </p:txBody>
      </p:sp>
      <p:sp>
        <p:nvSpPr>
          <p:cNvPr id="3" name="TextBox 2"/>
          <p:cNvSpPr txBox="1"/>
          <p:nvPr/>
        </p:nvSpPr>
        <p:spPr>
          <a:xfrm>
            <a:off x="845251" y="3080702"/>
            <a:ext cx="4281141" cy="4561568"/>
          </a:xfrm>
          <a:prstGeom prst="rect">
            <a:avLst/>
          </a:prstGeom>
        </p:spPr>
        <p:txBody>
          <a:bodyPr vert="horz" lIns="91440" tIns="45720" rIns="91440" bIns="45720" rtlCol="0" anchor="t">
            <a:normAutofit/>
          </a:bodyPr>
          <a:lstStyle/>
          <a:p>
            <a:pPr algn="just" defTabSz="914400">
              <a:lnSpc>
                <a:spcPct val="120000"/>
              </a:lnSpc>
              <a:spcBef>
                <a:spcPts val="500"/>
              </a:spcBef>
              <a:spcAft>
                <a:spcPts val="600"/>
              </a:spcAft>
              <a:buClr>
                <a:schemeClr val="accent6"/>
              </a:buClr>
              <a:buSzPct val="90000"/>
              <a:defRPr sz="1800"/>
            </a:pPr>
            <a:r>
              <a:rPr lang="en-US" sz="1400" dirty="0" err="1"/>
              <a:t>У</a:t>
            </a:r>
            <a:r>
              <a:rPr lang="en-US" sz="1400" dirty="0"/>
              <a:t> </a:t>
            </a:r>
            <a:r>
              <a:rPr lang="en-US" sz="1400" dirty="0" err="1"/>
              <a:t>роботі</a:t>
            </a:r>
            <a:r>
              <a:rPr lang="en-US" sz="1400" dirty="0"/>
              <a:t> </a:t>
            </a:r>
            <a:r>
              <a:rPr lang="en-US" sz="1400" dirty="0" err="1"/>
              <a:t>розглянуто</a:t>
            </a:r>
            <a:r>
              <a:rPr lang="en-US" sz="1400" dirty="0"/>
              <a:t> </a:t>
            </a:r>
            <a:r>
              <a:rPr lang="en-US" sz="1400" dirty="0" err="1"/>
              <a:t>поширені</a:t>
            </a:r>
            <a:r>
              <a:rPr lang="en-US" sz="1400" dirty="0"/>
              <a:t> </a:t>
            </a:r>
            <a:r>
              <a:rPr lang="en-US" sz="1400" dirty="0" err="1"/>
              <a:t>плагіни</a:t>
            </a:r>
            <a:r>
              <a:rPr lang="en-US" sz="1400" dirty="0"/>
              <a:t> </a:t>
            </a:r>
            <a:r>
              <a:rPr lang="en-US" sz="1400" dirty="0" err="1"/>
              <a:t>безпеки</a:t>
            </a:r>
            <a:r>
              <a:rPr lang="en-US" sz="1400" dirty="0"/>
              <a:t> WordPress, </a:t>
            </a:r>
            <a:r>
              <a:rPr lang="en-US" sz="1400" dirty="0" err="1"/>
              <a:t>зокрема</a:t>
            </a:r>
            <a:r>
              <a:rPr lang="en-US" sz="1400" dirty="0"/>
              <a:t> </a:t>
            </a:r>
            <a:r>
              <a:rPr lang="en-US" sz="1400" dirty="0" err="1"/>
              <a:t>Wordfence</a:t>
            </a:r>
            <a:r>
              <a:rPr lang="en-US" sz="1400" dirty="0"/>
              <a:t>, </a:t>
            </a:r>
            <a:r>
              <a:rPr lang="en-US" sz="1400" dirty="0" err="1"/>
              <a:t>SecuPress</a:t>
            </a:r>
            <a:r>
              <a:rPr lang="en-US" sz="1400" dirty="0"/>
              <a:t>, All In One WP Security &amp; Firewall, </a:t>
            </a:r>
            <a:r>
              <a:rPr lang="en-US" sz="1400" dirty="0" err="1"/>
              <a:t>Sucuri</a:t>
            </a:r>
            <a:r>
              <a:rPr lang="en-US" sz="1400" dirty="0"/>
              <a:t> Security </a:t>
            </a:r>
            <a:r>
              <a:rPr lang="en-US" sz="1400" dirty="0" err="1"/>
              <a:t>та</a:t>
            </a:r>
            <a:r>
              <a:rPr lang="en-US" sz="1400" dirty="0"/>
              <a:t> </a:t>
            </a:r>
            <a:r>
              <a:rPr lang="en-US" sz="1400" dirty="0" err="1"/>
              <a:t>інші</a:t>
            </a:r>
            <a:r>
              <a:rPr lang="en-US" sz="1400" dirty="0"/>
              <a:t>. </a:t>
            </a:r>
            <a:r>
              <a:rPr lang="en-US" sz="1400" dirty="0" err="1"/>
              <a:t>Їхні</a:t>
            </a:r>
            <a:r>
              <a:rPr lang="en-US" sz="1400" dirty="0"/>
              <a:t> </a:t>
            </a:r>
            <a:r>
              <a:rPr lang="en-US" sz="1400" dirty="0" err="1"/>
              <a:t>функції</a:t>
            </a:r>
            <a:r>
              <a:rPr lang="en-US" sz="1400" dirty="0"/>
              <a:t> </a:t>
            </a:r>
            <a:r>
              <a:rPr lang="en-US" sz="1400" dirty="0" err="1"/>
              <a:t>можуть</a:t>
            </a:r>
            <a:r>
              <a:rPr lang="en-US" sz="1400" dirty="0"/>
              <a:t> </a:t>
            </a:r>
            <a:r>
              <a:rPr lang="en-US" sz="1400" dirty="0" err="1"/>
              <a:t>включати</a:t>
            </a:r>
            <a:r>
              <a:rPr lang="en-US" sz="1400" dirty="0"/>
              <a:t> </a:t>
            </a:r>
            <a:r>
              <a:rPr lang="en-US" sz="1400" dirty="0" err="1"/>
              <a:t>сканування</a:t>
            </a:r>
            <a:r>
              <a:rPr lang="en-US" sz="1400" dirty="0"/>
              <a:t> </a:t>
            </a:r>
            <a:r>
              <a:rPr lang="en-US" sz="1400" dirty="0" err="1"/>
              <a:t>на</a:t>
            </a:r>
            <a:r>
              <a:rPr lang="en-US" sz="1400" dirty="0"/>
              <a:t> </a:t>
            </a:r>
            <a:r>
              <a:rPr lang="en-US" sz="1400" dirty="0" err="1"/>
              <a:t>відомі</a:t>
            </a:r>
            <a:r>
              <a:rPr lang="en-US" sz="1400" dirty="0"/>
              <a:t> </a:t>
            </a:r>
            <a:r>
              <a:rPr lang="en-US" sz="1400" dirty="0" err="1"/>
              <a:t>вразливості</a:t>
            </a:r>
            <a:r>
              <a:rPr lang="en-US" sz="1400" dirty="0"/>
              <a:t>, </a:t>
            </a:r>
            <a:r>
              <a:rPr lang="en-US" sz="1400" dirty="0" err="1"/>
              <a:t>моніторинг</a:t>
            </a:r>
            <a:r>
              <a:rPr lang="en-US" sz="1400" dirty="0"/>
              <a:t> </a:t>
            </a:r>
            <a:r>
              <a:rPr lang="en-US" sz="1400" dirty="0" err="1"/>
              <a:t>змін</a:t>
            </a:r>
            <a:r>
              <a:rPr lang="en-US" sz="1400" dirty="0"/>
              <a:t> </a:t>
            </a:r>
            <a:r>
              <a:rPr lang="en-US" sz="1400" dirty="0" err="1"/>
              <a:t>у</a:t>
            </a:r>
            <a:r>
              <a:rPr lang="en-US" sz="1400" dirty="0"/>
              <a:t> </a:t>
            </a:r>
            <a:r>
              <a:rPr lang="en-US" sz="1400" dirty="0" err="1"/>
              <a:t>файлах</a:t>
            </a:r>
            <a:r>
              <a:rPr lang="en-US" sz="1400" dirty="0"/>
              <a:t>, </a:t>
            </a:r>
            <a:r>
              <a:rPr lang="en-US" sz="1400" dirty="0" err="1"/>
              <a:t>перевірку</a:t>
            </a:r>
            <a:r>
              <a:rPr lang="en-US" sz="1400" dirty="0"/>
              <a:t> </a:t>
            </a:r>
            <a:r>
              <a:rPr lang="en-US" sz="1400" dirty="0" err="1"/>
              <a:t>репутації</a:t>
            </a:r>
            <a:r>
              <a:rPr lang="en-US" sz="1400" dirty="0"/>
              <a:t> </a:t>
            </a:r>
            <a:r>
              <a:rPr lang="en-US" sz="1400" dirty="0" err="1"/>
              <a:t>доменів</a:t>
            </a:r>
            <a:r>
              <a:rPr lang="en-US" sz="1400" dirty="0"/>
              <a:t>, </a:t>
            </a:r>
            <a:r>
              <a:rPr lang="en-US" sz="1400" dirty="0" err="1"/>
              <a:t>блокування</a:t>
            </a:r>
            <a:r>
              <a:rPr lang="en-US" sz="1400" dirty="0"/>
              <a:t> </a:t>
            </a:r>
            <a:r>
              <a:rPr lang="en-US" sz="1400" dirty="0" err="1"/>
              <a:t>підозрілих</a:t>
            </a:r>
            <a:r>
              <a:rPr lang="en-US" sz="1400" dirty="0"/>
              <a:t> </a:t>
            </a:r>
            <a:r>
              <a:rPr lang="en-US" sz="1400" dirty="0" err="1"/>
              <a:t>запитів</a:t>
            </a:r>
            <a:r>
              <a:rPr lang="en-US" sz="1400" dirty="0"/>
              <a:t>, rate limiting, </a:t>
            </a:r>
            <a:r>
              <a:rPr lang="en-US" sz="1400" dirty="0" err="1"/>
              <a:t>логування</a:t>
            </a:r>
            <a:r>
              <a:rPr lang="en-US" sz="1400" dirty="0"/>
              <a:t> </a:t>
            </a:r>
            <a:r>
              <a:rPr lang="en-US" sz="1400" dirty="0" err="1"/>
              <a:t>подій</a:t>
            </a:r>
            <a:r>
              <a:rPr lang="en-US" sz="1400" dirty="0"/>
              <a:t>, </a:t>
            </a:r>
            <a:r>
              <a:rPr lang="en-US" sz="1400" dirty="0" err="1"/>
              <a:t>двофакторну</a:t>
            </a:r>
            <a:r>
              <a:rPr lang="en-US" sz="1400" dirty="0"/>
              <a:t> </a:t>
            </a:r>
            <a:r>
              <a:rPr lang="en-US" sz="1400" dirty="0" err="1"/>
              <a:t>автентифікацію</a:t>
            </a:r>
            <a:r>
              <a:rPr lang="en-US" sz="1400" dirty="0"/>
              <a:t> </a:t>
            </a:r>
            <a:r>
              <a:rPr lang="en-US" sz="1400" dirty="0" err="1"/>
              <a:t>та</a:t>
            </a:r>
            <a:r>
              <a:rPr lang="en-US" sz="1400" dirty="0"/>
              <a:t> </a:t>
            </a:r>
            <a:r>
              <a:rPr lang="en-US" sz="1400" dirty="0" err="1"/>
              <a:t>інструменти</a:t>
            </a:r>
            <a:r>
              <a:rPr lang="en-US" sz="1400" dirty="0"/>
              <a:t> </a:t>
            </a:r>
            <a:r>
              <a:rPr lang="en-US" sz="1400" dirty="0" err="1"/>
              <a:t>відновлення</a:t>
            </a:r>
            <a:r>
              <a:rPr lang="en-US" sz="1400" dirty="0"/>
              <a:t> </a:t>
            </a:r>
            <a:r>
              <a:rPr lang="en-US" sz="1400" dirty="0" err="1"/>
              <a:t>після</a:t>
            </a:r>
            <a:r>
              <a:rPr lang="en-US" sz="1400" dirty="0"/>
              <a:t> </a:t>
            </a:r>
            <a:r>
              <a:rPr lang="en-US" sz="1400" dirty="0" err="1"/>
              <a:t>інцидентів</a:t>
            </a:r>
            <a:r>
              <a:rPr lang="en-US" sz="1400" dirty="0"/>
              <a:t>. </a:t>
            </a:r>
            <a:r>
              <a:rPr lang="en-US" sz="1400" dirty="0" err="1"/>
              <a:t>Однак</a:t>
            </a:r>
            <a:r>
              <a:rPr lang="en-US" sz="1400" dirty="0"/>
              <a:t> </a:t>
            </a:r>
            <a:r>
              <a:rPr lang="en-US" sz="1400" dirty="0" err="1"/>
              <a:t>якість</a:t>
            </a:r>
            <a:r>
              <a:rPr lang="en-US" sz="1400" dirty="0"/>
              <a:t> </a:t>
            </a:r>
            <a:r>
              <a:rPr lang="en-US" sz="1400" dirty="0" err="1"/>
              <a:t>реалізації</a:t>
            </a:r>
            <a:r>
              <a:rPr lang="en-US" sz="1400" dirty="0"/>
              <a:t>, </a:t>
            </a:r>
            <a:r>
              <a:rPr lang="en-US" sz="1400" dirty="0" err="1"/>
              <a:t>актуальність</a:t>
            </a:r>
            <a:r>
              <a:rPr lang="en-US" sz="1400" dirty="0"/>
              <a:t> </a:t>
            </a:r>
            <a:r>
              <a:rPr lang="en-US" sz="1400" dirty="0" err="1"/>
              <a:t>баз</a:t>
            </a:r>
            <a:r>
              <a:rPr lang="en-US" sz="1400" dirty="0"/>
              <a:t> </a:t>
            </a:r>
            <a:r>
              <a:rPr lang="en-US" sz="1400" dirty="0" err="1"/>
              <a:t>сигнатур</a:t>
            </a:r>
            <a:r>
              <a:rPr lang="en-US" sz="1400" dirty="0"/>
              <a:t> </a:t>
            </a:r>
            <a:r>
              <a:rPr lang="en-US" sz="1400" dirty="0" err="1"/>
              <a:t>і</a:t>
            </a:r>
            <a:r>
              <a:rPr lang="en-US" sz="1400" dirty="0"/>
              <a:t> </a:t>
            </a:r>
            <a:r>
              <a:rPr lang="en-US" sz="1400" dirty="0" err="1"/>
              <a:t>зручність</a:t>
            </a:r>
            <a:r>
              <a:rPr lang="en-US" sz="1400" dirty="0"/>
              <a:t> </a:t>
            </a:r>
            <a:r>
              <a:rPr lang="en-US" sz="1400" dirty="0" err="1"/>
              <a:t>налаштування</a:t>
            </a:r>
            <a:r>
              <a:rPr lang="en-US" sz="1400" dirty="0"/>
              <a:t> </a:t>
            </a:r>
            <a:r>
              <a:rPr lang="en-US" sz="1400" dirty="0" err="1"/>
              <a:t>можуть</a:t>
            </a:r>
            <a:r>
              <a:rPr lang="en-US" sz="1400" dirty="0"/>
              <a:t> </a:t>
            </a:r>
            <a:r>
              <a:rPr lang="en-US" sz="1400" dirty="0" err="1"/>
              <a:t>відрізнятися</a:t>
            </a:r>
            <a:r>
              <a:rPr lang="en-US" sz="1400" dirty="0"/>
              <a:t>, </a:t>
            </a:r>
            <a:r>
              <a:rPr lang="en-US" sz="1400" dirty="0" err="1"/>
              <a:t>що</a:t>
            </a:r>
            <a:r>
              <a:rPr lang="en-US" sz="1400" dirty="0"/>
              <a:t> </a:t>
            </a:r>
            <a:r>
              <a:rPr lang="en-US" sz="1400" dirty="0" err="1"/>
              <a:t>й</a:t>
            </a:r>
            <a:r>
              <a:rPr lang="en-US" sz="1400" dirty="0"/>
              <a:t> </a:t>
            </a:r>
            <a:r>
              <a:rPr lang="en-US" sz="1400" dirty="0" err="1"/>
              <a:t>вимагає</a:t>
            </a:r>
            <a:r>
              <a:rPr lang="en-US" sz="1400" dirty="0"/>
              <a:t> </a:t>
            </a:r>
            <a:r>
              <a:rPr lang="en-US" sz="1400" dirty="0" err="1"/>
              <a:t>системного</a:t>
            </a:r>
            <a:r>
              <a:rPr lang="en-US" sz="1400" dirty="0"/>
              <a:t> </a:t>
            </a:r>
            <a:r>
              <a:rPr lang="en-US" sz="1400" dirty="0" err="1"/>
              <a:t>порівняння</a:t>
            </a:r>
            <a:r>
              <a:rPr lang="en-US" sz="1400" dirty="0"/>
              <a:t> </a:t>
            </a:r>
            <a:r>
              <a:rPr lang="en-US" sz="1400" dirty="0" err="1"/>
              <a:t>на</a:t>
            </a:r>
            <a:r>
              <a:rPr lang="en-US" sz="1400" dirty="0"/>
              <a:t> </a:t>
            </a:r>
            <a:r>
              <a:rPr lang="en-US" sz="1400" dirty="0" err="1"/>
              <a:t>підставі</a:t>
            </a:r>
            <a:r>
              <a:rPr lang="en-US" sz="1400" dirty="0"/>
              <a:t> </a:t>
            </a:r>
            <a:r>
              <a:rPr lang="en-US" sz="1400" dirty="0" err="1"/>
              <a:t>формалізованих</a:t>
            </a:r>
            <a:r>
              <a:rPr lang="en-US" sz="1400" dirty="0"/>
              <a:t> </a:t>
            </a:r>
            <a:r>
              <a:rPr lang="en-US" sz="1400" dirty="0" err="1"/>
              <a:t>метрик</a:t>
            </a:r>
            <a:r>
              <a:rPr lang="en-US" sz="1400" dirty="0"/>
              <a:t>.</a:t>
            </a:r>
          </a:p>
        </p:txBody>
      </p:sp>
      <p:graphicFrame>
        <p:nvGraphicFramePr>
          <p:cNvPr id="19" name="Таблица 18">
            <a:extLst>
              <a:ext uri="{FF2B5EF4-FFF2-40B4-BE49-F238E27FC236}">
                <a16:creationId xmlns:a16="http://schemas.microsoft.com/office/drawing/2014/main" id="{0E81CB38-C554-2EA8-8634-BD0FE51C87AC}"/>
              </a:ext>
            </a:extLst>
          </p:cNvPr>
          <p:cNvGraphicFramePr>
            <a:graphicFrameLocks noGrp="1"/>
          </p:cNvGraphicFramePr>
          <p:nvPr>
            <p:extLst>
              <p:ext uri="{D42A27DB-BD31-4B8C-83A1-F6EECF244321}">
                <p14:modId xmlns:p14="http://schemas.microsoft.com/office/powerpoint/2010/main" val="3356888205"/>
              </p:ext>
            </p:extLst>
          </p:nvPr>
        </p:nvGraphicFramePr>
        <p:xfrm>
          <a:off x="5182265" y="1010557"/>
          <a:ext cx="3847134" cy="5571194"/>
        </p:xfrm>
        <a:graphic>
          <a:graphicData uri="http://schemas.openxmlformats.org/drawingml/2006/table">
            <a:tbl>
              <a:tblPr firstRow="1" firstCol="1" lastRow="1" lastCol="1" bandRow="1" bandCol="1">
                <a:tableStyleId>{5C22544A-7EE6-4342-B048-85BDC9FD1C3A}</a:tableStyleId>
              </a:tblPr>
              <a:tblGrid>
                <a:gridCol w="1712786">
                  <a:extLst>
                    <a:ext uri="{9D8B030D-6E8A-4147-A177-3AD203B41FA5}">
                      <a16:colId xmlns:a16="http://schemas.microsoft.com/office/drawing/2014/main" val="828262483"/>
                    </a:ext>
                  </a:extLst>
                </a:gridCol>
                <a:gridCol w="857250">
                  <a:extLst>
                    <a:ext uri="{9D8B030D-6E8A-4147-A177-3AD203B41FA5}">
                      <a16:colId xmlns:a16="http://schemas.microsoft.com/office/drawing/2014/main" val="107970127"/>
                    </a:ext>
                  </a:extLst>
                </a:gridCol>
                <a:gridCol w="1277098">
                  <a:extLst>
                    <a:ext uri="{9D8B030D-6E8A-4147-A177-3AD203B41FA5}">
                      <a16:colId xmlns:a16="http://schemas.microsoft.com/office/drawing/2014/main" val="123336407"/>
                    </a:ext>
                  </a:extLst>
                </a:gridCol>
              </a:tblGrid>
              <a:tr h="520087">
                <a:tc>
                  <a:txBody>
                    <a:bodyPr/>
                    <a:lstStyle/>
                    <a:p>
                      <a:pPr indent="0" algn="ctr">
                        <a:lnSpc>
                          <a:spcPct val="150000"/>
                        </a:lnSpc>
                        <a:spcAft>
                          <a:spcPts val="800"/>
                        </a:spcAft>
                      </a:pPr>
                      <a:r>
                        <a:rPr lang="uk-UA" sz="1200" dirty="0">
                          <a:effectLst/>
                        </a:rPr>
                        <a:t>Плагін сканера безпеки</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Версія</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Активних </a:t>
                      </a:r>
                      <a:r>
                        <a:rPr lang="uk-UA" sz="1200" dirty="0" err="1">
                          <a:effectLst/>
                        </a:rPr>
                        <a:t>вставновлень</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608591949"/>
                  </a:ext>
                </a:extLst>
              </a:tr>
              <a:tr h="521297">
                <a:tc>
                  <a:txBody>
                    <a:bodyPr/>
                    <a:lstStyle/>
                    <a:p>
                      <a:pPr indent="0" algn="l">
                        <a:lnSpc>
                          <a:spcPct val="150000"/>
                        </a:lnSpc>
                        <a:spcAft>
                          <a:spcPts val="800"/>
                        </a:spcAft>
                      </a:pPr>
                      <a:r>
                        <a:rPr lang="uk-UA" sz="1200" dirty="0" err="1">
                          <a:effectLst/>
                        </a:rPr>
                        <a:t>Jetpack</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2971800" algn="ctr"/>
                          <a:tab pos="5943600" algn="r"/>
                        </a:tabLst>
                      </a:pPr>
                      <a:r>
                        <a:rPr lang="uk-UA" sz="1200" dirty="0">
                          <a:effectLst/>
                        </a:rPr>
                        <a:t>6.8</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2971800" algn="ctr"/>
                          <a:tab pos="5943600" algn="r"/>
                        </a:tabLst>
                      </a:pPr>
                      <a:r>
                        <a:rPr lang="uk-UA" sz="1200">
                          <a:effectLst/>
                        </a:rPr>
                        <a:t>5,000,000+</a:t>
                      </a:r>
                      <a:endParaRPr lang="ru-UA"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122271170"/>
                  </a:ext>
                </a:extLst>
              </a:tr>
              <a:tr h="521297">
                <a:tc>
                  <a:txBody>
                    <a:bodyPr/>
                    <a:lstStyle/>
                    <a:p>
                      <a:pPr indent="0" algn="l">
                        <a:lnSpc>
                          <a:spcPct val="150000"/>
                        </a:lnSpc>
                        <a:spcAft>
                          <a:spcPts val="800"/>
                        </a:spcAft>
                      </a:pPr>
                      <a:r>
                        <a:rPr lang="uk-UA" sz="1200" dirty="0" err="1">
                          <a:effectLst/>
                        </a:rPr>
                        <a:t>WordFence</a:t>
                      </a:r>
                      <a:r>
                        <a:rPr lang="uk-UA" sz="1200" dirty="0">
                          <a:effectLst/>
                        </a:rPr>
                        <a:t> </a:t>
                      </a:r>
                      <a:r>
                        <a:rPr lang="uk-UA" sz="1200" dirty="0" err="1">
                          <a:effectLst/>
                        </a:rPr>
                        <a:t>Security</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1381125" algn="l"/>
                          <a:tab pos="1941195" algn="l"/>
                          <a:tab pos="2157095" algn="l"/>
                          <a:tab pos="3997325" algn="l"/>
                          <a:tab pos="4401185" algn="l"/>
                        </a:tabLst>
                      </a:pPr>
                      <a:r>
                        <a:rPr lang="uk-UA" sz="1200" dirty="0">
                          <a:effectLst/>
                        </a:rPr>
                        <a:t>7.4.12</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1381125" algn="l"/>
                          <a:tab pos="1941195" algn="l"/>
                          <a:tab pos="2157095" algn="l"/>
                          <a:tab pos="3997325" algn="l"/>
                          <a:tab pos="4401185" algn="l"/>
                        </a:tabLst>
                      </a:pPr>
                      <a:r>
                        <a:rPr lang="uk-UA" sz="1200">
                          <a:effectLst/>
                        </a:rPr>
                        <a:t>3,000,000+</a:t>
                      </a:r>
                      <a:endParaRPr lang="ru-UA"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746014274"/>
                  </a:ext>
                </a:extLst>
              </a:tr>
              <a:tr h="521297">
                <a:tc>
                  <a:txBody>
                    <a:bodyPr/>
                    <a:lstStyle/>
                    <a:p>
                      <a:pPr indent="0" algn="l">
                        <a:lnSpc>
                          <a:spcPct val="150000"/>
                        </a:lnSpc>
                        <a:spcAft>
                          <a:spcPts val="800"/>
                        </a:spcAft>
                      </a:pPr>
                      <a:r>
                        <a:rPr lang="uk-UA" sz="1200" dirty="0" err="1">
                          <a:effectLst/>
                        </a:rPr>
                        <a:t>iThemes</a:t>
                      </a:r>
                      <a:r>
                        <a:rPr lang="uk-UA" sz="1200" dirty="0">
                          <a:effectLst/>
                        </a:rPr>
                        <a:t> </a:t>
                      </a:r>
                      <a:r>
                        <a:rPr lang="uk-UA" sz="1200" dirty="0" err="1">
                          <a:effectLst/>
                        </a:rPr>
                        <a:t>Security</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866140" algn="l"/>
                          <a:tab pos="1628775" algn="l"/>
                          <a:tab pos="2673985" algn="l"/>
                          <a:tab pos="3378200" algn="l"/>
                          <a:tab pos="4116070" algn="l"/>
                        </a:tabLst>
                      </a:pPr>
                      <a:r>
                        <a:rPr lang="uk-UA" sz="1200" dirty="0">
                          <a:effectLst/>
                        </a:rPr>
                        <a:t>7.9.0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866140" algn="l"/>
                          <a:tab pos="1628775" algn="l"/>
                          <a:tab pos="2673985" algn="l"/>
                          <a:tab pos="3378200" algn="l"/>
                          <a:tab pos="4116070" algn="l"/>
                        </a:tabLst>
                      </a:pPr>
                      <a:r>
                        <a:rPr lang="uk-UA" sz="1200" dirty="0">
                          <a:effectLst/>
                        </a:rPr>
                        <a:t>1,000,000+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653881688"/>
                  </a:ext>
                </a:extLst>
              </a:tr>
              <a:tr h="521297">
                <a:tc>
                  <a:txBody>
                    <a:bodyPr/>
                    <a:lstStyle/>
                    <a:p>
                      <a:pPr indent="0" algn="l">
                        <a:lnSpc>
                          <a:spcPct val="150000"/>
                        </a:lnSpc>
                        <a:spcAft>
                          <a:spcPts val="800"/>
                        </a:spcAft>
                      </a:pPr>
                      <a:r>
                        <a:rPr lang="uk-UA" sz="1200" dirty="0" err="1">
                          <a:effectLst/>
                        </a:rPr>
                        <a:t>All</a:t>
                      </a:r>
                      <a:r>
                        <a:rPr lang="uk-UA" sz="1200" dirty="0">
                          <a:effectLst/>
                        </a:rPr>
                        <a:t> </a:t>
                      </a:r>
                      <a:r>
                        <a:rPr lang="uk-UA" sz="1200" dirty="0" err="1">
                          <a:effectLst/>
                        </a:rPr>
                        <a:t>In</a:t>
                      </a:r>
                      <a:r>
                        <a:rPr lang="uk-UA" sz="1200" dirty="0">
                          <a:effectLst/>
                        </a:rPr>
                        <a:t> </a:t>
                      </a:r>
                      <a:r>
                        <a:rPr lang="uk-UA" sz="1200" dirty="0" err="1">
                          <a:effectLst/>
                        </a:rPr>
                        <a:t>One</a:t>
                      </a:r>
                      <a:r>
                        <a:rPr lang="uk-UA" sz="1200" dirty="0">
                          <a:effectLst/>
                        </a:rPr>
                        <a:t> WP </a:t>
                      </a:r>
                      <a:r>
                        <a:rPr lang="uk-UA" sz="1200" dirty="0" err="1">
                          <a:effectLst/>
                        </a:rPr>
                        <a:t>Security</a:t>
                      </a:r>
                      <a:r>
                        <a:rPr lang="uk-UA" sz="1200" dirty="0">
                          <a:effectLst/>
                        </a:rPr>
                        <a:t> &amp; </a:t>
                      </a:r>
                      <a:r>
                        <a:rPr lang="uk-UA" sz="1200" dirty="0" err="1">
                          <a:effectLst/>
                        </a:rPr>
                        <a:t>Firewall</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4.4.4</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a:effectLst/>
                        </a:rPr>
                        <a:t>900,000+</a:t>
                      </a:r>
                      <a:endParaRPr lang="ru-UA"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532695472"/>
                  </a:ext>
                </a:extLst>
              </a:tr>
              <a:tr h="520087">
                <a:tc>
                  <a:txBody>
                    <a:bodyPr/>
                    <a:lstStyle/>
                    <a:p>
                      <a:pPr indent="0" algn="l">
                        <a:lnSpc>
                          <a:spcPct val="150000"/>
                        </a:lnSpc>
                        <a:spcAft>
                          <a:spcPts val="800"/>
                        </a:spcAft>
                      </a:pPr>
                      <a:r>
                        <a:rPr lang="uk-UA" sz="1200" dirty="0" err="1">
                          <a:effectLst/>
                        </a:rPr>
                        <a:t>Bullet</a:t>
                      </a:r>
                      <a:r>
                        <a:rPr lang="uk-UA" sz="1200" dirty="0">
                          <a:effectLst/>
                        </a:rPr>
                        <a:t> </a:t>
                      </a:r>
                      <a:r>
                        <a:rPr lang="uk-UA" sz="1200" dirty="0" err="1">
                          <a:effectLst/>
                        </a:rPr>
                        <a:t>Proof</a:t>
                      </a:r>
                      <a:r>
                        <a:rPr lang="uk-UA" sz="1200" dirty="0">
                          <a:effectLst/>
                        </a:rPr>
                        <a:t> </a:t>
                      </a:r>
                      <a:r>
                        <a:rPr lang="uk-UA" sz="1200" dirty="0" err="1">
                          <a:effectLst/>
                        </a:rPr>
                        <a:t>Security</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866140" algn="l"/>
                          <a:tab pos="1628775" algn="l"/>
                          <a:tab pos="2673985" algn="l"/>
                          <a:tab pos="3378200" algn="l"/>
                          <a:tab pos="4116070" algn="l"/>
                        </a:tabLst>
                      </a:pPr>
                      <a:r>
                        <a:rPr lang="uk-UA" sz="1200" dirty="0">
                          <a:effectLst/>
                        </a:rPr>
                        <a:t>4.3</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tabLst>
                          <a:tab pos="866140" algn="l"/>
                          <a:tab pos="1628775" algn="l"/>
                          <a:tab pos="2673985" algn="l"/>
                          <a:tab pos="3378200" algn="l"/>
                          <a:tab pos="4116070" algn="l"/>
                        </a:tabLst>
                      </a:pPr>
                      <a:r>
                        <a:rPr lang="uk-UA" sz="1200" dirty="0">
                          <a:effectLst/>
                        </a:rPr>
                        <a:t>60,000+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094048207"/>
                  </a:ext>
                </a:extLst>
              </a:tr>
              <a:tr h="303923">
                <a:tc>
                  <a:txBody>
                    <a:bodyPr/>
                    <a:lstStyle/>
                    <a:p>
                      <a:pPr indent="0" algn="l">
                        <a:lnSpc>
                          <a:spcPct val="150000"/>
                        </a:lnSpc>
                        <a:spcAft>
                          <a:spcPts val="800"/>
                        </a:spcAft>
                      </a:pPr>
                      <a:r>
                        <a:rPr lang="uk-UA" sz="1200" spc="-5" dirty="0" err="1">
                          <a:effectLst/>
                        </a:rPr>
                        <a:t>Security</a:t>
                      </a:r>
                      <a:r>
                        <a:rPr lang="uk-UA" sz="1200" spc="-5" dirty="0">
                          <a:effectLst/>
                        </a:rPr>
                        <a:t> </a:t>
                      </a:r>
                      <a:r>
                        <a:rPr lang="uk-UA" sz="1200" spc="-5" dirty="0" err="1">
                          <a:effectLst/>
                        </a:rPr>
                        <a:t>Ninja</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5.111</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a:effectLst/>
                        </a:rPr>
                        <a:t>10,000+</a:t>
                      </a:r>
                      <a:endParaRPr lang="ru-UA"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419871086"/>
                  </a:ext>
                </a:extLst>
              </a:tr>
              <a:tr h="521297">
                <a:tc>
                  <a:txBody>
                    <a:bodyPr/>
                    <a:lstStyle/>
                    <a:p>
                      <a:pPr indent="0" algn="l">
                        <a:lnSpc>
                          <a:spcPct val="150000"/>
                        </a:lnSpc>
                        <a:spcAft>
                          <a:spcPts val="800"/>
                        </a:spcAft>
                      </a:pPr>
                      <a:r>
                        <a:rPr lang="uk-UA" sz="1200" spc="-5" dirty="0" err="1">
                          <a:effectLst/>
                        </a:rPr>
                        <a:t>Titan</a:t>
                      </a:r>
                      <a:r>
                        <a:rPr lang="uk-UA" sz="1200" spc="-5" dirty="0">
                          <a:effectLst/>
                        </a:rPr>
                        <a:t> </a:t>
                      </a:r>
                      <a:r>
                        <a:rPr lang="uk-UA" sz="1200" spc="-5" dirty="0" err="1">
                          <a:effectLst/>
                        </a:rPr>
                        <a:t>Anti-spam</a:t>
                      </a:r>
                      <a:r>
                        <a:rPr lang="uk-UA" sz="1200" spc="-5" dirty="0">
                          <a:effectLst/>
                        </a:rPr>
                        <a:t> &amp; </a:t>
                      </a:r>
                      <a:r>
                        <a:rPr lang="uk-UA" sz="1200" spc="-5" dirty="0" err="1">
                          <a:effectLst/>
                        </a:rPr>
                        <a:t>Security</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7.2.1</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100,000+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539564537"/>
                  </a:ext>
                </a:extLst>
              </a:tr>
              <a:tr h="521297">
                <a:tc>
                  <a:txBody>
                    <a:bodyPr/>
                    <a:lstStyle/>
                    <a:p>
                      <a:pPr indent="0" algn="l">
                        <a:lnSpc>
                          <a:spcPct val="150000"/>
                        </a:lnSpc>
                        <a:spcAft>
                          <a:spcPts val="800"/>
                        </a:spcAft>
                      </a:pPr>
                      <a:r>
                        <a:rPr lang="uk-UA" sz="1200" spc="-5" dirty="0" err="1">
                          <a:effectLst/>
                        </a:rPr>
                        <a:t>Sucuri</a:t>
                      </a:r>
                      <a:r>
                        <a:rPr lang="uk-UA" sz="1200" spc="-5" dirty="0">
                          <a:effectLst/>
                        </a:rPr>
                        <a:t> </a:t>
                      </a:r>
                      <a:r>
                        <a:rPr lang="uk-UA" sz="1200" spc="-5" dirty="0" err="1">
                          <a:effectLst/>
                        </a:rPr>
                        <a:t>Security</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1.8.24</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700,000+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766752247"/>
                  </a:ext>
                </a:extLst>
              </a:tr>
              <a:tr h="332195">
                <a:tc>
                  <a:txBody>
                    <a:bodyPr/>
                    <a:lstStyle/>
                    <a:p>
                      <a:pPr indent="0" algn="l">
                        <a:lnSpc>
                          <a:spcPct val="150000"/>
                        </a:lnSpc>
                        <a:spcAft>
                          <a:spcPts val="800"/>
                        </a:spcAft>
                      </a:pPr>
                      <a:r>
                        <a:rPr lang="uk-UA" sz="1200" spc="-5" dirty="0" err="1">
                          <a:effectLst/>
                        </a:rPr>
                        <a:t>Defender</a:t>
                      </a:r>
                      <a:r>
                        <a:rPr lang="uk-UA" sz="1200" spc="-5" dirty="0">
                          <a:effectLst/>
                        </a:rPr>
                        <a:t> </a:t>
                      </a:r>
                      <a:r>
                        <a:rPr lang="uk-UA" sz="1200" spc="-5" dirty="0" err="1">
                          <a:effectLst/>
                        </a:rPr>
                        <a:t>Security</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2.4.5</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40,000+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458308370"/>
                  </a:ext>
                </a:extLst>
              </a:tr>
              <a:tr h="521297">
                <a:tc>
                  <a:txBody>
                    <a:bodyPr/>
                    <a:lstStyle/>
                    <a:p>
                      <a:pPr indent="0" algn="l">
                        <a:lnSpc>
                          <a:spcPct val="150000"/>
                        </a:lnSpc>
                        <a:spcAft>
                          <a:spcPts val="800"/>
                        </a:spcAft>
                      </a:pPr>
                      <a:r>
                        <a:rPr lang="uk-UA" sz="1200" spc="-5" dirty="0" err="1">
                          <a:effectLst/>
                        </a:rPr>
                        <a:t>Cerber</a:t>
                      </a:r>
                      <a:r>
                        <a:rPr lang="uk-UA" sz="1200" spc="-5" dirty="0">
                          <a:effectLst/>
                        </a:rPr>
                        <a:t> </a:t>
                      </a:r>
                      <a:r>
                        <a:rPr lang="uk-UA" sz="1200" spc="-5" dirty="0" err="1">
                          <a:effectLst/>
                        </a:rPr>
                        <a:t>Security</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8.7</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200,000+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379473091"/>
                  </a:ext>
                </a:extLst>
              </a:tr>
              <a:tr h="245823">
                <a:tc>
                  <a:txBody>
                    <a:bodyPr/>
                    <a:lstStyle/>
                    <a:p>
                      <a:pPr indent="0" algn="l">
                        <a:lnSpc>
                          <a:spcPct val="150000"/>
                        </a:lnSpc>
                        <a:spcAft>
                          <a:spcPts val="800"/>
                        </a:spcAft>
                      </a:pPr>
                      <a:r>
                        <a:rPr lang="uk-UA" sz="1200" spc="-5" dirty="0" err="1">
                          <a:effectLst/>
                        </a:rPr>
                        <a:t>SecuPress</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a:effectLst/>
                        </a:rPr>
                        <a:t>1.4.12</a:t>
                      </a:r>
                      <a:endParaRPr lang="ru-UA" sz="9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indent="0" algn="ctr">
                        <a:lnSpc>
                          <a:spcPct val="150000"/>
                        </a:lnSpc>
                        <a:spcAft>
                          <a:spcPts val="800"/>
                        </a:spcAft>
                      </a:pPr>
                      <a:r>
                        <a:rPr lang="uk-UA" sz="1200" dirty="0">
                          <a:effectLst/>
                        </a:rPr>
                        <a:t>30,000+</a:t>
                      </a:r>
                      <a:endParaRPr lang="ru-UA" sz="9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10407736"/>
                  </a:ext>
                </a:extLst>
              </a:tr>
            </a:tbl>
          </a:graphicData>
        </a:graphic>
      </p:graphicFrame>
      <p:sp>
        <p:nvSpPr>
          <p:cNvPr id="5" name="Номер слайда 4">
            <a:extLst>
              <a:ext uri="{FF2B5EF4-FFF2-40B4-BE49-F238E27FC236}">
                <a16:creationId xmlns:a16="http://schemas.microsoft.com/office/drawing/2014/main" id="{47A8D5E1-68FE-3439-BC55-A1C35029BF8A}"/>
              </a:ext>
            </a:extLst>
          </p:cNvPr>
          <p:cNvSpPr>
            <a:spLocks noGrp="1"/>
          </p:cNvSpPr>
          <p:nvPr>
            <p:ph type="sldNum" sz="quarter" idx="12"/>
          </p:nvPr>
        </p:nvSpPr>
        <p:spPr/>
        <p:txBody>
          <a:bodyPr/>
          <a:lstStyle/>
          <a:p>
            <a:fld id="{C1FF6DA9-008F-8B48-92A6-B652298478BF}" type="slidenum">
              <a:rPr lang="en-US" smtClean="0"/>
              <a:t>17</a:t>
            </a:fld>
            <a:endParaRPr lang="en-US" dirty="0"/>
          </a:p>
        </p:txBody>
      </p:sp>
      <p:pic>
        <p:nvPicPr>
          <p:cNvPr id="9" name="Рисунок 8" descr="Изображение выглядит как текст, снимок экрана, Шрифт, дизайн&#10;&#10;Автоматически созданное описание">
            <a:extLst>
              <a:ext uri="{FF2B5EF4-FFF2-40B4-BE49-F238E27FC236}">
                <a16:creationId xmlns:a16="http://schemas.microsoft.com/office/drawing/2014/main" id="{23B6556F-DC47-3E30-D209-1807C57D6E7F}"/>
              </a:ext>
            </a:extLst>
          </p:cNvPr>
          <p:cNvPicPr>
            <a:picLocks noChangeAspect="1"/>
          </p:cNvPicPr>
          <p:nvPr/>
        </p:nvPicPr>
        <p:blipFill>
          <a:blip r:embed="rId7"/>
          <a:stretch>
            <a:fillRect/>
          </a:stretch>
        </p:blipFill>
        <p:spPr>
          <a:xfrm>
            <a:off x="360511" y="827237"/>
            <a:ext cx="4993138" cy="22885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BEBA8EAE-BF5A-486C-A8C5-ECC9F3942E4B}">
                <a14:imgProps xmlns:a14="http://schemas.microsoft.com/office/drawing/2010/main">
                  <a14:imgLayer r:embed="rId7">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858881" y="301506"/>
            <a:ext cx="7524037" cy="584775"/>
          </a:xfrm>
        </p:spPr>
        <p:txBody>
          <a:bodyPr vert="horz" lIns="91440" tIns="45720" rIns="91440" bIns="45720" rtlCol="0" anchor="t">
            <a:normAutofit/>
          </a:bodyPr>
          <a:lstStyle/>
          <a:p>
            <a:pPr algn="l" defTabSz="914400">
              <a:defRPr sz="3400" b="1"/>
            </a:pPr>
            <a:r>
              <a:rPr lang="en-US" sz="2900" dirty="0" err="1"/>
              <a:t>Обмеження</a:t>
            </a:r>
            <a:r>
              <a:rPr lang="en-US" sz="2900" dirty="0"/>
              <a:t> </a:t>
            </a:r>
            <a:r>
              <a:rPr lang="en-US" sz="2900" dirty="0" err="1"/>
              <a:t>дослідження</a:t>
            </a:r>
            <a:r>
              <a:rPr lang="en-US" sz="2900" dirty="0"/>
              <a:t> </a:t>
            </a:r>
            <a:r>
              <a:rPr lang="en-US" sz="2900" dirty="0" err="1"/>
              <a:t>та</a:t>
            </a:r>
            <a:r>
              <a:rPr lang="en-US" sz="2900" dirty="0"/>
              <a:t> </a:t>
            </a:r>
            <a:r>
              <a:rPr lang="en-US" sz="2900" dirty="0" err="1"/>
              <a:t>валідність</a:t>
            </a:r>
            <a:endParaRPr lang="en-US" sz="2900" dirty="0"/>
          </a:p>
        </p:txBody>
      </p:sp>
      <p:sp>
        <p:nvSpPr>
          <p:cNvPr id="3" name="TextBox 2"/>
          <p:cNvSpPr txBox="1"/>
          <p:nvPr/>
        </p:nvSpPr>
        <p:spPr>
          <a:xfrm>
            <a:off x="853412" y="861596"/>
            <a:ext cx="7748686" cy="584775"/>
          </a:xfrm>
          <a:prstGeom prst="rect">
            <a:avLst/>
          </a:prstGeom>
        </p:spPr>
        <p:txBody>
          <a:bodyPr vert="horz" lIns="91440" tIns="45720" rIns="91440" bIns="45720" rtlCol="0" anchor="t">
            <a:noAutofit/>
          </a:bodyPr>
          <a:lstStyle/>
          <a:p>
            <a:pPr algn="just"/>
            <a:r>
              <a:rPr lang="ru-RU" dirty="0" err="1"/>
              <a:t>Результати</a:t>
            </a:r>
            <a:r>
              <a:rPr lang="ru-RU" dirty="0"/>
              <a:t> </a:t>
            </a:r>
            <a:r>
              <a:rPr lang="ru-RU" dirty="0" err="1"/>
              <a:t>дослідження</a:t>
            </a:r>
            <a:r>
              <a:rPr lang="ru-RU" dirty="0"/>
              <a:t> </a:t>
            </a:r>
            <a:r>
              <a:rPr lang="ru-RU" dirty="0" err="1"/>
              <a:t>мають</a:t>
            </a:r>
            <a:r>
              <a:rPr lang="ru-RU" dirty="0"/>
              <a:t> низку </a:t>
            </a:r>
            <a:r>
              <a:rPr lang="ru-RU" dirty="0" err="1"/>
              <a:t>обмежень</a:t>
            </a:r>
            <a:r>
              <a:rPr lang="ru-RU" dirty="0"/>
              <a:t>, </a:t>
            </a:r>
            <a:r>
              <a:rPr lang="ru-RU" dirty="0" err="1"/>
              <a:t>які</a:t>
            </a:r>
            <a:r>
              <a:rPr lang="ru-RU" dirty="0"/>
              <a:t> </a:t>
            </a:r>
            <a:r>
              <a:rPr lang="ru-RU" dirty="0" err="1"/>
              <a:t>слід</a:t>
            </a:r>
            <a:r>
              <a:rPr lang="ru-RU" dirty="0"/>
              <a:t> </a:t>
            </a:r>
            <a:r>
              <a:rPr lang="ru-RU" dirty="0" err="1"/>
              <a:t>враховувати</a:t>
            </a:r>
            <a:r>
              <a:rPr lang="ru-RU" dirty="0"/>
              <a:t> при </a:t>
            </a:r>
            <a:r>
              <a:rPr lang="ru-RU" dirty="0" err="1"/>
              <a:t>інтерпретації</a:t>
            </a:r>
            <a:r>
              <a:rPr lang="ru-RU" dirty="0"/>
              <a:t> та практичному </a:t>
            </a:r>
            <a:r>
              <a:rPr lang="ru-RU" dirty="0" err="1"/>
              <a:t>застосуванні</a:t>
            </a:r>
            <a:r>
              <a:rPr lang="ru-RU" dirty="0"/>
              <a:t>:</a:t>
            </a:r>
          </a:p>
        </p:txBody>
      </p:sp>
      <p:sp>
        <p:nvSpPr>
          <p:cNvPr id="5" name="Номер слайда 4">
            <a:extLst>
              <a:ext uri="{FF2B5EF4-FFF2-40B4-BE49-F238E27FC236}">
                <a16:creationId xmlns:a16="http://schemas.microsoft.com/office/drawing/2014/main" id="{3959DD4B-E988-FA1B-667B-3A203EAF28F6}"/>
              </a:ext>
            </a:extLst>
          </p:cNvPr>
          <p:cNvSpPr>
            <a:spLocks noGrp="1"/>
          </p:cNvSpPr>
          <p:nvPr>
            <p:ph type="sldNum" sz="quarter" idx="12"/>
          </p:nvPr>
        </p:nvSpPr>
        <p:spPr/>
        <p:txBody>
          <a:bodyPr/>
          <a:lstStyle/>
          <a:p>
            <a:fld id="{C1FF6DA9-008F-8B48-92A6-B652298478BF}" type="slidenum">
              <a:rPr lang="en-US" smtClean="0"/>
              <a:t>18</a:t>
            </a:fld>
            <a:endParaRPr lang="en-US" dirty="0"/>
          </a:p>
        </p:txBody>
      </p:sp>
      <p:sp>
        <p:nvSpPr>
          <p:cNvPr id="6" name="TextBox 5">
            <a:extLst>
              <a:ext uri="{FF2B5EF4-FFF2-40B4-BE49-F238E27FC236}">
                <a16:creationId xmlns:a16="http://schemas.microsoft.com/office/drawing/2014/main" id="{2963EFF3-6A90-4440-CAE6-85768972DCFE}"/>
              </a:ext>
            </a:extLst>
          </p:cNvPr>
          <p:cNvSpPr txBox="1"/>
          <p:nvPr/>
        </p:nvSpPr>
        <p:spPr>
          <a:xfrm>
            <a:off x="853412" y="1739185"/>
            <a:ext cx="7827713" cy="4801314"/>
          </a:xfrm>
          <a:prstGeom prst="rect">
            <a:avLst/>
          </a:prstGeom>
          <a:noFill/>
        </p:spPr>
        <p:txBody>
          <a:bodyPr wrap="square">
            <a:spAutoFit/>
          </a:bodyPr>
          <a:lstStyle/>
          <a:p>
            <a:pPr marL="342900" indent="-342900" algn="just">
              <a:buAutoNum type="arabicPeriod"/>
            </a:pPr>
            <a:r>
              <a:rPr lang="ru-RU" dirty="0" err="1"/>
              <a:t>Залежність</a:t>
            </a:r>
            <a:r>
              <a:rPr lang="ru-RU" dirty="0"/>
              <a:t> </a:t>
            </a:r>
            <a:r>
              <a:rPr lang="ru-RU" dirty="0" err="1"/>
              <a:t>від</a:t>
            </a:r>
            <a:r>
              <a:rPr lang="ru-RU" dirty="0"/>
              <a:t> тестового набору. </a:t>
            </a:r>
            <a:r>
              <a:rPr lang="ru-RU" dirty="0" err="1"/>
              <a:t>Результати</a:t>
            </a:r>
            <a:r>
              <a:rPr lang="ru-RU" dirty="0"/>
              <a:t> </a:t>
            </a:r>
            <a:r>
              <a:rPr lang="ru-RU" dirty="0" err="1"/>
              <a:t>залежать</a:t>
            </a:r>
            <a:r>
              <a:rPr lang="ru-RU" dirty="0"/>
              <a:t> </a:t>
            </a:r>
            <a:r>
              <a:rPr lang="ru-RU" dirty="0" err="1"/>
              <a:t>від</a:t>
            </a:r>
            <a:r>
              <a:rPr lang="ru-RU" dirty="0"/>
              <a:t> </a:t>
            </a:r>
            <a:r>
              <a:rPr lang="ru-RU" dirty="0" err="1"/>
              <a:t>обраного</a:t>
            </a:r>
            <a:r>
              <a:rPr lang="ru-RU" dirty="0"/>
              <a:t> набору з 51 </a:t>
            </a:r>
            <a:r>
              <a:rPr lang="ru-RU" dirty="0" err="1"/>
              <a:t>уразливого</a:t>
            </a:r>
            <a:r>
              <a:rPr lang="ru-RU" dirty="0"/>
              <a:t> </a:t>
            </a:r>
            <a:r>
              <a:rPr lang="ru-RU" dirty="0" err="1"/>
              <a:t>плагіна</a:t>
            </a:r>
            <a:r>
              <a:rPr lang="ru-RU" dirty="0"/>
              <a:t> та </a:t>
            </a:r>
            <a:r>
              <a:rPr lang="ru-RU" dirty="0" err="1"/>
              <a:t>конфігурацій</a:t>
            </a:r>
            <a:r>
              <a:rPr lang="ru-RU" dirty="0"/>
              <a:t> тестового стенду </a:t>
            </a:r>
          </a:p>
          <a:p>
            <a:pPr marL="342900" indent="-342900" algn="just">
              <a:buAutoNum type="arabicPeriod"/>
            </a:pPr>
            <a:endParaRPr lang="ru-RU" dirty="0"/>
          </a:p>
          <a:p>
            <a:pPr marL="342900" indent="-342900" algn="just">
              <a:buAutoNum type="arabicPeriod"/>
            </a:pPr>
            <a:r>
              <a:rPr lang="ru-RU" dirty="0"/>
              <a:t>Методика </a:t>
            </a:r>
            <a:r>
              <a:rPr lang="ru-RU" dirty="0" err="1"/>
              <a:t>формування</a:t>
            </a:r>
            <a:r>
              <a:rPr lang="ru-RU" dirty="0"/>
              <a:t> «</a:t>
            </a:r>
            <a:r>
              <a:rPr lang="ru-RU" dirty="0" err="1"/>
              <a:t>істини</a:t>
            </a:r>
            <a:r>
              <a:rPr lang="ru-RU" dirty="0"/>
              <a:t>» (</a:t>
            </a:r>
            <a:r>
              <a:rPr lang="en" dirty="0"/>
              <a:t>ground truth)</a:t>
            </a:r>
            <a:r>
              <a:rPr lang="uk-UA" dirty="0"/>
              <a:t>.</a:t>
            </a:r>
            <a:r>
              <a:rPr lang="en" dirty="0"/>
              <a:t> </a:t>
            </a:r>
            <a:r>
              <a:rPr lang="ru-RU" dirty="0" err="1"/>
              <a:t>Інтерпретація</a:t>
            </a:r>
            <a:r>
              <a:rPr lang="ru-RU" dirty="0"/>
              <a:t> </a:t>
            </a:r>
            <a:r>
              <a:rPr lang="ru-RU" dirty="0" err="1"/>
              <a:t>результатів</a:t>
            </a:r>
            <a:r>
              <a:rPr lang="ru-RU" dirty="0"/>
              <a:t> </a:t>
            </a:r>
            <a:r>
              <a:rPr lang="ru-RU" dirty="0" err="1"/>
              <a:t>залежить</a:t>
            </a:r>
            <a:r>
              <a:rPr lang="ru-RU" dirty="0"/>
              <a:t> </a:t>
            </a:r>
            <a:r>
              <a:rPr lang="ru-RU" dirty="0" err="1"/>
              <a:t>від</a:t>
            </a:r>
            <a:r>
              <a:rPr lang="ru-RU" dirty="0"/>
              <a:t> способу </a:t>
            </a:r>
            <a:r>
              <a:rPr lang="ru-RU" dirty="0" err="1"/>
              <a:t>класифікації</a:t>
            </a:r>
            <a:r>
              <a:rPr lang="ru-RU" dirty="0"/>
              <a:t> </a:t>
            </a:r>
            <a:r>
              <a:rPr lang="en" dirty="0"/>
              <a:t>TP / FP / FN / TN</a:t>
            </a:r>
            <a:endParaRPr lang="uk-UA" dirty="0"/>
          </a:p>
          <a:p>
            <a:pPr marL="342900" indent="-342900" algn="just">
              <a:buAutoNum type="arabicPeriod"/>
            </a:pPr>
            <a:endParaRPr lang="uk-UA" dirty="0"/>
          </a:p>
          <a:p>
            <a:pPr marL="342900" indent="-342900" algn="just">
              <a:buAutoNum type="arabicPeriod"/>
            </a:pPr>
            <a:r>
              <a:rPr lang="ru-RU" dirty="0" err="1"/>
              <a:t>Невідтворюваність</a:t>
            </a:r>
            <a:r>
              <a:rPr lang="ru-RU" dirty="0"/>
              <a:t> </a:t>
            </a:r>
            <a:r>
              <a:rPr lang="ru-RU" dirty="0" err="1"/>
              <a:t>деяких</a:t>
            </a:r>
            <a:r>
              <a:rPr lang="ru-RU" dirty="0"/>
              <a:t> атак у </a:t>
            </a:r>
            <a:r>
              <a:rPr lang="ru-RU" dirty="0" err="1"/>
              <a:t>лабораторних</a:t>
            </a:r>
            <a:r>
              <a:rPr lang="ru-RU" dirty="0"/>
              <a:t> </a:t>
            </a:r>
            <a:r>
              <a:rPr lang="ru-RU" dirty="0" err="1"/>
              <a:t>умовах</a:t>
            </a:r>
            <a:r>
              <a:rPr lang="ru-RU" dirty="0"/>
              <a:t>. </a:t>
            </a:r>
            <a:r>
              <a:rPr lang="ru-RU" dirty="0" err="1"/>
              <a:t>Частина</a:t>
            </a:r>
            <a:r>
              <a:rPr lang="ru-RU" dirty="0"/>
              <a:t> </a:t>
            </a:r>
            <a:r>
              <a:rPr lang="ru-RU" dirty="0" err="1"/>
              <a:t>реальних</a:t>
            </a:r>
            <a:r>
              <a:rPr lang="ru-RU" dirty="0"/>
              <a:t> </a:t>
            </a:r>
            <a:r>
              <a:rPr lang="ru-RU" dirty="0" err="1"/>
              <a:t>сценаріїв</a:t>
            </a:r>
            <a:r>
              <a:rPr lang="ru-RU" dirty="0"/>
              <a:t> (</a:t>
            </a:r>
            <a:r>
              <a:rPr lang="en" dirty="0"/>
              <a:t>zero-day, </a:t>
            </a:r>
            <a:r>
              <a:rPr lang="ru-RU" dirty="0" err="1"/>
              <a:t>цільові</a:t>
            </a:r>
            <a:r>
              <a:rPr lang="ru-RU" dirty="0"/>
              <a:t> атаки) не </a:t>
            </a:r>
            <a:r>
              <a:rPr lang="ru-RU" dirty="0" err="1"/>
              <a:t>може</a:t>
            </a:r>
            <a:r>
              <a:rPr lang="ru-RU" dirty="0"/>
              <a:t> бути </a:t>
            </a:r>
            <a:r>
              <a:rPr lang="ru-RU" dirty="0" err="1"/>
              <a:t>повністю</a:t>
            </a:r>
            <a:r>
              <a:rPr lang="ru-RU" dirty="0"/>
              <a:t> </a:t>
            </a:r>
            <a:r>
              <a:rPr lang="ru-RU" dirty="0" err="1"/>
              <a:t>змодельована</a:t>
            </a:r>
            <a:r>
              <a:rPr lang="ru-RU" dirty="0"/>
              <a:t> на </a:t>
            </a:r>
            <a:r>
              <a:rPr lang="ru-RU" dirty="0" err="1"/>
              <a:t>стенді</a:t>
            </a:r>
            <a:r>
              <a:rPr lang="ru-RU" dirty="0"/>
              <a:t> </a:t>
            </a:r>
          </a:p>
          <a:p>
            <a:pPr marL="342900" indent="-342900" algn="just">
              <a:buAutoNum type="arabicPeriod"/>
            </a:pPr>
            <a:endParaRPr lang="ru-RU" dirty="0"/>
          </a:p>
          <a:p>
            <a:pPr marL="342900" indent="-342900" algn="just">
              <a:buAutoNum type="arabicPeriod"/>
            </a:pPr>
            <a:r>
              <a:rPr lang="ru-RU" dirty="0" err="1"/>
              <a:t>Динамічні</a:t>
            </a:r>
            <a:r>
              <a:rPr lang="ru-RU" dirty="0"/>
              <a:t> </a:t>
            </a:r>
            <a:r>
              <a:rPr lang="ru-RU" dirty="0" err="1"/>
              <a:t>бази</a:t>
            </a:r>
            <a:r>
              <a:rPr lang="ru-RU" dirty="0"/>
              <a:t> </a:t>
            </a:r>
            <a:r>
              <a:rPr lang="ru-RU" dirty="0" err="1"/>
              <a:t>вразливостей</a:t>
            </a:r>
            <a:r>
              <a:rPr lang="ru-RU" dirty="0"/>
              <a:t> </a:t>
            </a:r>
            <a:r>
              <a:rPr lang="ru-RU" dirty="0" err="1"/>
              <a:t>плагінів</a:t>
            </a:r>
            <a:r>
              <a:rPr lang="ru-RU" dirty="0"/>
              <a:t> </a:t>
            </a:r>
            <a:r>
              <a:rPr lang="ru-RU" dirty="0" err="1"/>
              <a:t>безпеки</a:t>
            </a:r>
            <a:r>
              <a:rPr lang="ru-RU" dirty="0"/>
              <a:t>. </a:t>
            </a:r>
            <a:r>
              <a:rPr lang="ru-RU" dirty="0" err="1"/>
              <a:t>Бази</a:t>
            </a:r>
            <a:r>
              <a:rPr lang="ru-RU" dirty="0"/>
              <a:t> </a:t>
            </a:r>
            <a:r>
              <a:rPr lang="en" dirty="0"/>
              <a:t>CVE </a:t>
            </a:r>
            <a:r>
              <a:rPr lang="ru-RU" dirty="0"/>
              <a:t>та сигнатур регулярно </a:t>
            </a:r>
            <a:r>
              <a:rPr lang="ru-RU" dirty="0" err="1"/>
              <a:t>оновлюються</a:t>
            </a:r>
            <a:r>
              <a:rPr lang="ru-RU" dirty="0"/>
              <a:t>, </a:t>
            </a:r>
            <a:r>
              <a:rPr lang="ru-RU" dirty="0" err="1"/>
              <a:t>що</a:t>
            </a:r>
            <a:r>
              <a:rPr lang="ru-RU" dirty="0"/>
              <a:t> </a:t>
            </a:r>
            <a:r>
              <a:rPr lang="ru-RU" dirty="0" err="1"/>
              <a:t>впливає</a:t>
            </a:r>
            <a:r>
              <a:rPr lang="ru-RU" dirty="0"/>
              <a:t> на </a:t>
            </a:r>
            <a:r>
              <a:rPr lang="ru-RU" dirty="0" err="1"/>
              <a:t>відтворюваність</a:t>
            </a:r>
            <a:r>
              <a:rPr lang="ru-RU" dirty="0"/>
              <a:t> та </a:t>
            </a:r>
            <a:r>
              <a:rPr lang="ru-RU" dirty="0" err="1"/>
              <a:t>повторюваність</a:t>
            </a:r>
            <a:r>
              <a:rPr lang="ru-RU" dirty="0"/>
              <a:t> </a:t>
            </a:r>
            <a:r>
              <a:rPr lang="ru-RU" dirty="0" err="1"/>
              <a:t>результатів</a:t>
            </a:r>
            <a:r>
              <a:rPr lang="ru-RU" dirty="0"/>
              <a:t> у </a:t>
            </a:r>
            <a:r>
              <a:rPr lang="ru-RU" dirty="0" err="1"/>
              <a:t>часі</a:t>
            </a:r>
            <a:r>
              <a:rPr lang="ru-RU" dirty="0"/>
              <a:t> </a:t>
            </a:r>
          </a:p>
          <a:p>
            <a:pPr marL="342900" indent="-342900" algn="just">
              <a:buAutoNum type="arabicPeriod"/>
            </a:pPr>
            <a:endParaRPr lang="ru-RU" dirty="0"/>
          </a:p>
          <a:p>
            <a:pPr marL="342900" indent="-342900" algn="just">
              <a:buAutoNum type="arabicPeriod"/>
            </a:pPr>
            <a:r>
              <a:rPr lang="ru-RU" dirty="0" err="1"/>
              <a:t>Вплив</a:t>
            </a:r>
            <a:r>
              <a:rPr lang="ru-RU" dirty="0"/>
              <a:t> серверного </a:t>
            </a:r>
            <a:r>
              <a:rPr lang="ru-RU" dirty="0" err="1"/>
              <a:t>оточення</a:t>
            </a:r>
            <a:r>
              <a:rPr lang="ru-RU" dirty="0"/>
              <a:t>. </a:t>
            </a:r>
            <a:r>
              <a:rPr lang="ru-RU" dirty="0" err="1"/>
              <a:t>Параметри</a:t>
            </a:r>
            <a:r>
              <a:rPr lang="ru-RU" dirty="0"/>
              <a:t> хостингу, </a:t>
            </a:r>
            <a:r>
              <a:rPr lang="ru-RU" dirty="0" err="1"/>
              <a:t>кешування</a:t>
            </a:r>
            <a:r>
              <a:rPr lang="ru-RU" dirty="0"/>
              <a:t>, </a:t>
            </a:r>
            <a:r>
              <a:rPr lang="ru-RU" dirty="0" err="1"/>
              <a:t>версія</a:t>
            </a:r>
            <a:r>
              <a:rPr lang="ru-RU" dirty="0"/>
              <a:t> </a:t>
            </a:r>
            <a:r>
              <a:rPr lang="en" dirty="0"/>
              <a:t>PHP </a:t>
            </a:r>
            <a:r>
              <a:rPr lang="ru-RU" dirty="0"/>
              <a:t>та </a:t>
            </a:r>
            <a:r>
              <a:rPr lang="ru-RU" dirty="0" err="1"/>
              <a:t>налаштування</a:t>
            </a:r>
            <a:r>
              <a:rPr lang="ru-RU" dirty="0"/>
              <a:t> </a:t>
            </a:r>
            <a:r>
              <a:rPr lang="en" dirty="0"/>
              <a:t>nginx </a:t>
            </a:r>
            <a:r>
              <a:rPr lang="ru-RU" dirty="0" err="1"/>
              <a:t>суттєво</a:t>
            </a:r>
            <a:r>
              <a:rPr lang="ru-RU" dirty="0"/>
              <a:t> </a:t>
            </a:r>
            <a:r>
              <a:rPr lang="ru-RU" dirty="0" err="1"/>
              <a:t>впливають</a:t>
            </a:r>
            <a:r>
              <a:rPr lang="ru-RU" dirty="0"/>
              <a:t> на </a:t>
            </a:r>
            <a:r>
              <a:rPr lang="ru-RU" dirty="0" err="1"/>
              <a:t>показники</a:t>
            </a:r>
            <a:r>
              <a:rPr lang="ru-RU" dirty="0"/>
              <a:t> </a:t>
            </a:r>
            <a:r>
              <a:rPr lang="ru-RU" dirty="0" err="1"/>
              <a:t>продуктивності</a:t>
            </a:r>
            <a:endParaRPr lang="ru-UA"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A2822"/>
        </a:solidFill>
        <a:effectLst/>
      </p:bgPr>
    </p:bg>
    <p:spTree>
      <p:nvGrpSpPr>
        <p:cNvPr id="1" name=""/>
        <p:cNvGrpSpPr/>
        <p:nvPr/>
      </p:nvGrpSpPr>
      <p:grpSpPr>
        <a:xfrm>
          <a:off x="0" y="0"/>
          <a:ext cx="0" cy="0"/>
          <a:chOff x="0" y="0"/>
          <a:chExt cx="0" cy="0"/>
        </a:xfrm>
      </p:grpSpPr>
      <p:sp>
        <p:nvSpPr>
          <p:cNvPr id="2" name="Rectangle 1"/>
          <p:cNvSpPr/>
          <p:nvPr/>
        </p:nvSpPr>
        <p:spPr>
          <a:xfrm>
            <a:off x="365760" y="0"/>
            <a:ext cx="54864" cy="6858000"/>
          </a:xfrm>
          <a:prstGeom prst="rect">
            <a:avLst/>
          </a:prstGeom>
          <a:solidFill>
            <a:srgbClr val="FF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0" y="0"/>
            <a:ext cx="548640" cy="685800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595360" y="0"/>
            <a:ext cx="548640" cy="2743200"/>
          </a:xfrm>
          <a:prstGeom prst="rect">
            <a:avLst/>
          </a:prstGeom>
          <a:solidFill>
            <a:srgbClr val="F88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341427"/>
            <a:ext cx="7018020" cy="501535"/>
          </a:xfrm>
          <a:prstGeom prst="rect">
            <a:avLst/>
          </a:prstGeom>
          <a:noFill/>
          <a:ln>
            <a:noFill/>
          </a:ln>
        </p:spPr>
        <p:txBody>
          <a:bodyPr wrap="square" lIns="45720" tIns="18288" rIns="45720" bIns="18288">
            <a:spAutoFit/>
          </a:bodyPr>
          <a:lstStyle/>
          <a:p>
            <a:pPr algn="l"/>
            <a:r>
              <a:rPr sz="3000" b="1" i="0" dirty="0" err="1">
                <a:solidFill>
                  <a:srgbClr val="FFFFFF"/>
                </a:solidFill>
                <a:latin typeface="Calibri"/>
              </a:rPr>
              <a:t>Розподіл</a:t>
            </a:r>
            <a:r>
              <a:rPr sz="3000" b="1" i="0" dirty="0">
                <a:solidFill>
                  <a:srgbClr val="FFFFFF"/>
                </a:solidFill>
                <a:latin typeface="Calibri"/>
              </a:rPr>
              <a:t> 51 </a:t>
            </a:r>
            <a:r>
              <a:rPr sz="3000" b="1" i="0" dirty="0" err="1">
                <a:solidFill>
                  <a:srgbClr val="FFFFFF"/>
                </a:solidFill>
                <a:latin typeface="Calibri"/>
              </a:rPr>
              <a:t>уразливості</a:t>
            </a:r>
            <a:r>
              <a:rPr sz="3000" b="1" i="0" dirty="0">
                <a:solidFill>
                  <a:srgbClr val="FFFFFF"/>
                </a:solidFill>
                <a:latin typeface="Calibri"/>
              </a:rPr>
              <a:t> </a:t>
            </a:r>
            <a:r>
              <a:rPr sz="3000" b="1" i="0" dirty="0" err="1">
                <a:solidFill>
                  <a:srgbClr val="FFFFFF"/>
                </a:solidFill>
                <a:latin typeface="Calibri"/>
              </a:rPr>
              <a:t>за</a:t>
            </a:r>
            <a:r>
              <a:rPr sz="3000" b="1" i="0" dirty="0">
                <a:solidFill>
                  <a:srgbClr val="FFFFFF"/>
                </a:solidFill>
                <a:latin typeface="Calibri"/>
              </a:rPr>
              <a:t> </a:t>
            </a:r>
            <a:r>
              <a:rPr sz="3000" b="1" i="0" dirty="0" err="1">
                <a:solidFill>
                  <a:srgbClr val="FFFFFF"/>
                </a:solidFill>
                <a:latin typeface="Calibri"/>
              </a:rPr>
              <a:t>типами</a:t>
            </a:r>
            <a:r>
              <a:rPr sz="3000" b="1" i="0" dirty="0">
                <a:solidFill>
                  <a:srgbClr val="FFFFFF"/>
                </a:solidFill>
                <a:latin typeface="Calibri"/>
              </a:rPr>
              <a:t> </a:t>
            </a:r>
            <a:r>
              <a:rPr sz="3000" b="1" i="0" dirty="0" err="1">
                <a:solidFill>
                  <a:srgbClr val="FFFFFF"/>
                </a:solidFill>
                <a:latin typeface="Calibri"/>
              </a:rPr>
              <a:t>загро</a:t>
            </a:r>
            <a:r>
              <a:rPr lang="ru-RU" sz="3000" b="1" dirty="0">
                <a:solidFill>
                  <a:srgbClr val="FFFFFF"/>
                </a:solidFill>
                <a:latin typeface="Calibri"/>
              </a:rPr>
              <a:t>з</a:t>
            </a:r>
            <a:endParaRPr sz="3000" b="1" i="0" dirty="0">
              <a:solidFill>
                <a:srgbClr val="FFFFFF"/>
              </a:solidFill>
              <a:latin typeface="Calibri"/>
            </a:endParaRPr>
          </a:p>
        </p:txBody>
      </p:sp>
      <p:sp>
        <p:nvSpPr>
          <p:cNvPr id="6" name="TextBox 5"/>
          <p:cNvSpPr txBox="1"/>
          <p:nvPr/>
        </p:nvSpPr>
        <p:spPr>
          <a:xfrm>
            <a:off x="1085850" y="1288917"/>
            <a:ext cx="7680960" cy="236988"/>
          </a:xfrm>
          <a:prstGeom prst="rect">
            <a:avLst/>
          </a:prstGeom>
          <a:noFill/>
          <a:ln>
            <a:noFill/>
          </a:ln>
        </p:spPr>
        <p:txBody>
          <a:bodyPr wrap="square" lIns="45720" tIns="18288" rIns="45720" bIns="18288">
            <a:spAutoFit/>
          </a:bodyPr>
          <a:lstStyle/>
          <a:p>
            <a:pPr algn="l"/>
            <a:r>
              <a:rPr sz="1300" b="0" i="1" dirty="0" err="1">
                <a:solidFill>
                  <a:srgbClr val="E8D8D2"/>
                </a:solidFill>
              </a:rPr>
              <a:t>Структура</a:t>
            </a:r>
            <a:r>
              <a:rPr sz="1300" b="0" i="1" dirty="0">
                <a:solidFill>
                  <a:srgbClr val="E8D8D2"/>
                </a:solidFill>
              </a:rPr>
              <a:t> </a:t>
            </a:r>
            <a:r>
              <a:rPr sz="1300" b="0" i="1" dirty="0" err="1">
                <a:solidFill>
                  <a:srgbClr val="E8D8D2"/>
                </a:solidFill>
              </a:rPr>
              <a:t>тестового</a:t>
            </a:r>
            <a:r>
              <a:rPr sz="1300" b="0" i="1" dirty="0">
                <a:solidFill>
                  <a:srgbClr val="E8D8D2"/>
                </a:solidFill>
              </a:rPr>
              <a:t> </a:t>
            </a:r>
            <a:r>
              <a:rPr sz="1300" b="0" i="1" dirty="0" err="1">
                <a:solidFill>
                  <a:srgbClr val="E8D8D2"/>
                </a:solidFill>
              </a:rPr>
              <a:t>набору</a:t>
            </a:r>
            <a:r>
              <a:rPr sz="1300" b="0" i="1" dirty="0">
                <a:solidFill>
                  <a:srgbClr val="E8D8D2"/>
                </a:solidFill>
              </a:rPr>
              <a:t>: 51 CVE </a:t>
            </a:r>
            <a:r>
              <a:rPr sz="1300" b="0" i="1" dirty="0" err="1">
                <a:solidFill>
                  <a:srgbClr val="E8D8D2"/>
                </a:solidFill>
              </a:rPr>
              <a:t>з</a:t>
            </a:r>
            <a:r>
              <a:rPr sz="1300" b="0" i="1" dirty="0">
                <a:solidFill>
                  <a:srgbClr val="E8D8D2"/>
                </a:solidFill>
              </a:rPr>
              <a:t> </a:t>
            </a:r>
            <a:r>
              <a:rPr sz="1300" b="0" i="1" dirty="0" err="1">
                <a:solidFill>
                  <a:srgbClr val="E8D8D2"/>
                </a:solidFill>
              </a:rPr>
              <a:t>різних</a:t>
            </a:r>
            <a:r>
              <a:rPr sz="1300" b="0" i="1" dirty="0">
                <a:solidFill>
                  <a:srgbClr val="E8D8D2"/>
                </a:solidFill>
              </a:rPr>
              <a:t> </a:t>
            </a:r>
            <a:r>
              <a:rPr sz="1300" b="0" i="1" dirty="0" err="1">
                <a:solidFill>
                  <a:srgbClr val="E8D8D2"/>
                </a:solidFill>
              </a:rPr>
              <a:t>категорій</a:t>
            </a:r>
            <a:r>
              <a:rPr sz="1300" b="0" i="1" dirty="0">
                <a:solidFill>
                  <a:srgbClr val="E8D8D2"/>
                </a:solidFill>
              </a:rPr>
              <a:t> </a:t>
            </a:r>
            <a:r>
              <a:rPr sz="1300" b="0" i="1" dirty="0" err="1">
                <a:solidFill>
                  <a:srgbClr val="E8D8D2"/>
                </a:solidFill>
              </a:rPr>
              <a:t>уразливостей</a:t>
            </a:r>
            <a:endParaRPr sz="1300" b="0" i="1" dirty="0">
              <a:solidFill>
                <a:srgbClr val="E8D8D2"/>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930822184"/>
              </p:ext>
            </p:extLst>
          </p:nvPr>
        </p:nvGraphicFramePr>
        <p:xfrm>
          <a:off x="1143000" y="1706342"/>
          <a:ext cx="6972300" cy="3931920"/>
        </p:xfrm>
        <a:graphic>
          <a:graphicData uri="http://schemas.openxmlformats.org/drawingml/2006/table">
            <a:tbl>
              <a:tblPr firstRow="1" bandRow="1">
                <a:tableStyleId>{5C22544A-7EE6-4342-B048-85BDC9FD1C3A}</a:tableStyleId>
              </a:tblPr>
              <a:tblGrid>
                <a:gridCol w="1743075">
                  <a:extLst>
                    <a:ext uri="{9D8B030D-6E8A-4147-A177-3AD203B41FA5}">
                      <a16:colId xmlns:a16="http://schemas.microsoft.com/office/drawing/2014/main" val="20000"/>
                    </a:ext>
                  </a:extLst>
                </a:gridCol>
                <a:gridCol w="1743075">
                  <a:extLst>
                    <a:ext uri="{9D8B030D-6E8A-4147-A177-3AD203B41FA5}">
                      <a16:colId xmlns:a16="http://schemas.microsoft.com/office/drawing/2014/main" val="20001"/>
                    </a:ext>
                  </a:extLst>
                </a:gridCol>
                <a:gridCol w="1743075">
                  <a:extLst>
                    <a:ext uri="{9D8B030D-6E8A-4147-A177-3AD203B41FA5}">
                      <a16:colId xmlns:a16="http://schemas.microsoft.com/office/drawing/2014/main" val="20002"/>
                    </a:ext>
                  </a:extLst>
                </a:gridCol>
                <a:gridCol w="1743075">
                  <a:extLst>
                    <a:ext uri="{9D8B030D-6E8A-4147-A177-3AD203B41FA5}">
                      <a16:colId xmlns:a16="http://schemas.microsoft.com/office/drawing/2014/main" val="20003"/>
                    </a:ext>
                  </a:extLst>
                </a:gridCol>
              </a:tblGrid>
              <a:tr h="436880">
                <a:tc>
                  <a:txBody>
                    <a:bodyPr/>
                    <a:lstStyle/>
                    <a:p>
                      <a:pPr algn="ctr"/>
                      <a:r>
                        <a:rPr sz="1100" b="1" dirty="0" err="1">
                          <a:solidFill>
                            <a:srgbClr val="FFFFFF"/>
                          </a:solidFill>
                          <a:latin typeface="+mn-lt"/>
                        </a:rPr>
                        <a:t>Тип</a:t>
                      </a:r>
                      <a:endParaRPr sz="1100" b="1" dirty="0">
                        <a:solidFill>
                          <a:srgbClr val="FFFFFF"/>
                        </a:solidFill>
                        <a:latin typeface="+mn-lt"/>
                      </a:endParaRPr>
                    </a:p>
                  </a:txBody>
                  <a:tcPr>
                    <a:solidFill>
                      <a:srgbClr val="E74C3C"/>
                    </a:solidFill>
                  </a:tcPr>
                </a:tc>
                <a:tc>
                  <a:txBody>
                    <a:bodyPr/>
                    <a:lstStyle/>
                    <a:p>
                      <a:pPr algn="ctr"/>
                      <a:r>
                        <a:rPr sz="1100" b="1">
                          <a:solidFill>
                            <a:srgbClr val="FFFFFF"/>
                          </a:solidFill>
                          <a:latin typeface="+mn-lt"/>
                        </a:rPr>
                        <a:t>Опис</a:t>
                      </a:r>
                    </a:p>
                  </a:txBody>
                  <a:tcPr>
                    <a:solidFill>
                      <a:srgbClr val="E74C3C"/>
                    </a:solidFill>
                  </a:tcPr>
                </a:tc>
                <a:tc>
                  <a:txBody>
                    <a:bodyPr/>
                    <a:lstStyle/>
                    <a:p>
                      <a:pPr algn="ctr"/>
                      <a:r>
                        <a:rPr sz="1100" b="1">
                          <a:solidFill>
                            <a:srgbClr val="FFFFFF"/>
                          </a:solidFill>
                          <a:latin typeface="+mn-lt"/>
                        </a:rPr>
                        <a:t>Кіль-ть</a:t>
                      </a:r>
                    </a:p>
                  </a:txBody>
                  <a:tcPr>
                    <a:solidFill>
                      <a:srgbClr val="E74C3C"/>
                    </a:solidFill>
                  </a:tcPr>
                </a:tc>
                <a:tc>
                  <a:txBody>
                    <a:bodyPr/>
                    <a:lstStyle/>
                    <a:p>
                      <a:pPr algn="ctr"/>
                      <a:r>
                        <a:rPr sz="1100" b="1">
                          <a:solidFill>
                            <a:srgbClr val="FFFFFF"/>
                          </a:solidFill>
                          <a:latin typeface="+mn-lt"/>
                        </a:rPr>
                        <a:t>Частка, %</a:t>
                      </a:r>
                    </a:p>
                  </a:txBody>
                  <a:tcPr>
                    <a:solidFill>
                      <a:srgbClr val="E74C3C"/>
                    </a:solidFill>
                  </a:tcPr>
                </a:tc>
                <a:extLst>
                  <a:ext uri="{0D108BD9-81ED-4DB2-BD59-A6C34878D82A}">
                    <a16:rowId xmlns:a16="http://schemas.microsoft.com/office/drawing/2014/main" val="10000"/>
                  </a:ext>
                </a:extLst>
              </a:tr>
              <a:tr h="436880">
                <a:tc>
                  <a:txBody>
                    <a:bodyPr/>
                    <a:lstStyle/>
                    <a:p>
                      <a:pPr algn="ctr"/>
                      <a:r>
                        <a:rPr sz="1100" b="0" dirty="0">
                          <a:solidFill>
                            <a:srgbClr val="3A2822"/>
                          </a:solidFill>
                          <a:latin typeface="+mn-lt"/>
                        </a:rPr>
                        <a:t>XSS</a:t>
                      </a:r>
                    </a:p>
                  </a:txBody>
                  <a:tcPr>
                    <a:solidFill>
                      <a:srgbClr val="FAE5E2"/>
                    </a:solidFill>
                  </a:tcPr>
                </a:tc>
                <a:tc>
                  <a:txBody>
                    <a:bodyPr/>
                    <a:lstStyle/>
                    <a:p>
                      <a:pPr algn="ctr"/>
                      <a:r>
                        <a:rPr sz="1100" b="0">
                          <a:solidFill>
                            <a:srgbClr val="3A2822"/>
                          </a:solidFill>
                          <a:latin typeface="+mn-lt"/>
                        </a:rPr>
                        <a:t>Cross-Site Scripting</a:t>
                      </a:r>
                    </a:p>
                  </a:txBody>
                  <a:tcPr>
                    <a:solidFill>
                      <a:srgbClr val="FAE5E2"/>
                    </a:solidFill>
                  </a:tcPr>
                </a:tc>
                <a:tc>
                  <a:txBody>
                    <a:bodyPr/>
                    <a:lstStyle/>
                    <a:p>
                      <a:pPr algn="ctr"/>
                      <a:r>
                        <a:rPr sz="1100" b="0">
                          <a:solidFill>
                            <a:srgbClr val="3A2822"/>
                          </a:solidFill>
                          <a:latin typeface="+mn-lt"/>
                        </a:rPr>
                        <a:t>19</a:t>
                      </a:r>
                    </a:p>
                  </a:txBody>
                  <a:tcPr>
                    <a:solidFill>
                      <a:srgbClr val="FAE5E2"/>
                    </a:solidFill>
                  </a:tcPr>
                </a:tc>
                <a:tc>
                  <a:txBody>
                    <a:bodyPr/>
                    <a:lstStyle/>
                    <a:p>
                      <a:pPr algn="ctr"/>
                      <a:r>
                        <a:rPr sz="1100" b="0">
                          <a:solidFill>
                            <a:srgbClr val="3A2822"/>
                          </a:solidFill>
                          <a:latin typeface="+mn-lt"/>
                        </a:rPr>
                        <a:t>37.3</a:t>
                      </a:r>
                    </a:p>
                  </a:txBody>
                  <a:tcPr>
                    <a:solidFill>
                      <a:srgbClr val="FAE5E2"/>
                    </a:solidFill>
                  </a:tcPr>
                </a:tc>
                <a:extLst>
                  <a:ext uri="{0D108BD9-81ED-4DB2-BD59-A6C34878D82A}">
                    <a16:rowId xmlns:a16="http://schemas.microsoft.com/office/drawing/2014/main" val="10001"/>
                  </a:ext>
                </a:extLst>
              </a:tr>
              <a:tr h="436880">
                <a:tc>
                  <a:txBody>
                    <a:bodyPr/>
                    <a:lstStyle/>
                    <a:p>
                      <a:pPr algn="ctr"/>
                      <a:r>
                        <a:rPr sz="1100" b="0" dirty="0">
                          <a:solidFill>
                            <a:srgbClr val="3A2822"/>
                          </a:solidFill>
                          <a:latin typeface="+mn-lt"/>
                        </a:rPr>
                        <a:t>SQLi</a:t>
                      </a:r>
                    </a:p>
                  </a:txBody>
                  <a:tcPr>
                    <a:solidFill>
                      <a:srgbClr val="FAE5E2"/>
                    </a:solidFill>
                  </a:tcPr>
                </a:tc>
                <a:tc>
                  <a:txBody>
                    <a:bodyPr/>
                    <a:lstStyle/>
                    <a:p>
                      <a:pPr algn="ctr"/>
                      <a:r>
                        <a:rPr sz="1100" b="0">
                          <a:solidFill>
                            <a:srgbClr val="3A2822"/>
                          </a:solidFill>
                          <a:latin typeface="+mn-lt"/>
                        </a:rPr>
                        <a:t>SQL-ін'єкції</a:t>
                      </a:r>
                    </a:p>
                  </a:txBody>
                  <a:tcPr>
                    <a:solidFill>
                      <a:srgbClr val="FAE5E2"/>
                    </a:solidFill>
                  </a:tcPr>
                </a:tc>
                <a:tc>
                  <a:txBody>
                    <a:bodyPr/>
                    <a:lstStyle/>
                    <a:p>
                      <a:pPr algn="ctr"/>
                      <a:r>
                        <a:rPr sz="1100" b="0">
                          <a:solidFill>
                            <a:srgbClr val="3A2822"/>
                          </a:solidFill>
                          <a:latin typeface="+mn-lt"/>
                        </a:rPr>
                        <a:t>8</a:t>
                      </a:r>
                    </a:p>
                  </a:txBody>
                  <a:tcPr>
                    <a:solidFill>
                      <a:srgbClr val="FAE5E2"/>
                    </a:solidFill>
                  </a:tcPr>
                </a:tc>
                <a:tc>
                  <a:txBody>
                    <a:bodyPr/>
                    <a:lstStyle/>
                    <a:p>
                      <a:pPr algn="ctr"/>
                      <a:r>
                        <a:rPr sz="1100" b="0">
                          <a:solidFill>
                            <a:srgbClr val="3A2822"/>
                          </a:solidFill>
                          <a:latin typeface="+mn-lt"/>
                        </a:rPr>
                        <a:t>15.7</a:t>
                      </a:r>
                    </a:p>
                  </a:txBody>
                  <a:tcPr>
                    <a:solidFill>
                      <a:srgbClr val="FAE5E2"/>
                    </a:solidFill>
                  </a:tcPr>
                </a:tc>
                <a:extLst>
                  <a:ext uri="{0D108BD9-81ED-4DB2-BD59-A6C34878D82A}">
                    <a16:rowId xmlns:a16="http://schemas.microsoft.com/office/drawing/2014/main" val="10002"/>
                  </a:ext>
                </a:extLst>
              </a:tr>
              <a:tr h="436880">
                <a:tc>
                  <a:txBody>
                    <a:bodyPr/>
                    <a:lstStyle/>
                    <a:p>
                      <a:pPr algn="ctr"/>
                      <a:r>
                        <a:rPr sz="1100" b="0">
                          <a:solidFill>
                            <a:srgbClr val="3A2822"/>
                          </a:solidFill>
                          <a:latin typeface="+mn-lt"/>
                        </a:rPr>
                        <a:t>RCE</a:t>
                      </a:r>
                    </a:p>
                  </a:txBody>
                  <a:tcPr>
                    <a:solidFill>
                      <a:srgbClr val="FAE5E2"/>
                    </a:solidFill>
                  </a:tcPr>
                </a:tc>
                <a:tc>
                  <a:txBody>
                    <a:bodyPr/>
                    <a:lstStyle/>
                    <a:p>
                      <a:pPr algn="ctr"/>
                      <a:r>
                        <a:rPr sz="1100" b="0">
                          <a:solidFill>
                            <a:srgbClr val="3A2822"/>
                          </a:solidFill>
                          <a:latin typeface="+mn-lt"/>
                        </a:rPr>
                        <a:t>Remote Code Execution</a:t>
                      </a:r>
                    </a:p>
                  </a:txBody>
                  <a:tcPr>
                    <a:solidFill>
                      <a:srgbClr val="FAE5E2"/>
                    </a:solidFill>
                  </a:tcPr>
                </a:tc>
                <a:tc>
                  <a:txBody>
                    <a:bodyPr/>
                    <a:lstStyle/>
                    <a:p>
                      <a:pPr algn="ctr"/>
                      <a:r>
                        <a:rPr sz="1100" b="0">
                          <a:solidFill>
                            <a:srgbClr val="3A2822"/>
                          </a:solidFill>
                          <a:latin typeface="+mn-lt"/>
                        </a:rPr>
                        <a:t>7</a:t>
                      </a:r>
                    </a:p>
                  </a:txBody>
                  <a:tcPr>
                    <a:solidFill>
                      <a:srgbClr val="FAE5E2"/>
                    </a:solidFill>
                  </a:tcPr>
                </a:tc>
                <a:tc>
                  <a:txBody>
                    <a:bodyPr/>
                    <a:lstStyle/>
                    <a:p>
                      <a:pPr algn="ctr"/>
                      <a:r>
                        <a:rPr sz="1100" b="0">
                          <a:solidFill>
                            <a:srgbClr val="3A2822"/>
                          </a:solidFill>
                          <a:latin typeface="+mn-lt"/>
                        </a:rPr>
                        <a:t>13.7</a:t>
                      </a:r>
                    </a:p>
                  </a:txBody>
                  <a:tcPr>
                    <a:solidFill>
                      <a:srgbClr val="FAE5E2"/>
                    </a:solidFill>
                  </a:tcPr>
                </a:tc>
                <a:extLst>
                  <a:ext uri="{0D108BD9-81ED-4DB2-BD59-A6C34878D82A}">
                    <a16:rowId xmlns:a16="http://schemas.microsoft.com/office/drawing/2014/main" val="10003"/>
                  </a:ext>
                </a:extLst>
              </a:tr>
              <a:tr h="436880">
                <a:tc>
                  <a:txBody>
                    <a:bodyPr/>
                    <a:lstStyle/>
                    <a:p>
                      <a:pPr algn="ctr"/>
                      <a:r>
                        <a:rPr sz="1100" b="0" dirty="0">
                          <a:solidFill>
                            <a:srgbClr val="3A2822"/>
                          </a:solidFill>
                          <a:latin typeface="+mn-lt"/>
                        </a:rPr>
                        <a:t>CSRF</a:t>
                      </a:r>
                    </a:p>
                  </a:txBody>
                  <a:tcPr>
                    <a:solidFill>
                      <a:srgbClr val="FAE5E2"/>
                    </a:solidFill>
                  </a:tcPr>
                </a:tc>
                <a:tc>
                  <a:txBody>
                    <a:bodyPr/>
                    <a:lstStyle/>
                    <a:p>
                      <a:pPr algn="ctr"/>
                      <a:r>
                        <a:rPr sz="1100" b="0" dirty="0">
                          <a:solidFill>
                            <a:srgbClr val="3A2822"/>
                          </a:solidFill>
                          <a:latin typeface="+mn-lt"/>
                        </a:rPr>
                        <a:t>Cross-Site Request Forgery</a:t>
                      </a:r>
                    </a:p>
                  </a:txBody>
                  <a:tcPr>
                    <a:solidFill>
                      <a:srgbClr val="FAE5E2"/>
                    </a:solidFill>
                  </a:tcPr>
                </a:tc>
                <a:tc>
                  <a:txBody>
                    <a:bodyPr/>
                    <a:lstStyle/>
                    <a:p>
                      <a:pPr algn="ctr"/>
                      <a:r>
                        <a:rPr sz="1100" b="0">
                          <a:solidFill>
                            <a:srgbClr val="3A2822"/>
                          </a:solidFill>
                          <a:latin typeface="+mn-lt"/>
                        </a:rPr>
                        <a:t>5</a:t>
                      </a:r>
                    </a:p>
                  </a:txBody>
                  <a:tcPr>
                    <a:solidFill>
                      <a:srgbClr val="FAE5E2"/>
                    </a:solidFill>
                  </a:tcPr>
                </a:tc>
                <a:tc>
                  <a:txBody>
                    <a:bodyPr/>
                    <a:lstStyle/>
                    <a:p>
                      <a:pPr algn="ctr"/>
                      <a:r>
                        <a:rPr sz="1100" b="0">
                          <a:solidFill>
                            <a:srgbClr val="3A2822"/>
                          </a:solidFill>
                          <a:latin typeface="+mn-lt"/>
                        </a:rPr>
                        <a:t>9.8</a:t>
                      </a:r>
                    </a:p>
                  </a:txBody>
                  <a:tcPr>
                    <a:solidFill>
                      <a:srgbClr val="FAE5E2"/>
                    </a:solidFill>
                  </a:tcPr>
                </a:tc>
                <a:extLst>
                  <a:ext uri="{0D108BD9-81ED-4DB2-BD59-A6C34878D82A}">
                    <a16:rowId xmlns:a16="http://schemas.microsoft.com/office/drawing/2014/main" val="10004"/>
                  </a:ext>
                </a:extLst>
              </a:tr>
              <a:tr h="436880">
                <a:tc>
                  <a:txBody>
                    <a:bodyPr/>
                    <a:lstStyle/>
                    <a:p>
                      <a:pPr algn="ctr"/>
                      <a:r>
                        <a:rPr sz="1100" b="0">
                          <a:solidFill>
                            <a:srgbClr val="3A2822"/>
                          </a:solidFill>
                          <a:latin typeface="+mn-lt"/>
                        </a:rPr>
                        <a:t>Auth Bypass</a:t>
                      </a:r>
                    </a:p>
                  </a:txBody>
                  <a:tcPr>
                    <a:solidFill>
                      <a:srgbClr val="FAE5E2"/>
                    </a:solidFill>
                  </a:tcPr>
                </a:tc>
                <a:tc>
                  <a:txBody>
                    <a:bodyPr/>
                    <a:lstStyle/>
                    <a:p>
                      <a:pPr algn="ctr"/>
                      <a:r>
                        <a:rPr sz="1100" b="0" dirty="0" err="1">
                          <a:solidFill>
                            <a:srgbClr val="3A2822"/>
                          </a:solidFill>
                          <a:latin typeface="+mn-lt"/>
                        </a:rPr>
                        <a:t>Обхід</a:t>
                      </a:r>
                      <a:r>
                        <a:rPr sz="1100" b="0" dirty="0">
                          <a:solidFill>
                            <a:srgbClr val="3A2822"/>
                          </a:solidFill>
                          <a:latin typeface="+mn-lt"/>
                        </a:rPr>
                        <a:t> </a:t>
                      </a:r>
                      <a:r>
                        <a:rPr sz="1100" b="0" dirty="0" err="1">
                          <a:solidFill>
                            <a:srgbClr val="3A2822"/>
                          </a:solidFill>
                          <a:latin typeface="+mn-lt"/>
                        </a:rPr>
                        <a:t>автентифікації</a:t>
                      </a:r>
                      <a:endParaRPr sz="1100" b="0" dirty="0">
                        <a:solidFill>
                          <a:srgbClr val="3A2822"/>
                        </a:solidFill>
                        <a:latin typeface="+mn-lt"/>
                      </a:endParaRPr>
                    </a:p>
                  </a:txBody>
                  <a:tcPr>
                    <a:solidFill>
                      <a:srgbClr val="FAE5E2"/>
                    </a:solidFill>
                  </a:tcPr>
                </a:tc>
                <a:tc>
                  <a:txBody>
                    <a:bodyPr/>
                    <a:lstStyle/>
                    <a:p>
                      <a:pPr algn="ctr"/>
                      <a:r>
                        <a:rPr sz="1100" b="0" dirty="0">
                          <a:solidFill>
                            <a:srgbClr val="3A2822"/>
                          </a:solidFill>
                          <a:latin typeface="+mn-lt"/>
                        </a:rPr>
                        <a:t>5</a:t>
                      </a:r>
                    </a:p>
                  </a:txBody>
                  <a:tcPr>
                    <a:solidFill>
                      <a:srgbClr val="FAE5E2"/>
                    </a:solidFill>
                  </a:tcPr>
                </a:tc>
                <a:tc>
                  <a:txBody>
                    <a:bodyPr/>
                    <a:lstStyle/>
                    <a:p>
                      <a:pPr algn="ctr"/>
                      <a:r>
                        <a:rPr sz="1100" b="0">
                          <a:solidFill>
                            <a:srgbClr val="3A2822"/>
                          </a:solidFill>
                          <a:latin typeface="+mn-lt"/>
                        </a:rPr>
                        <a:t>9.8</a:t>
                      </a:r>
                    </a:p>
                  </a:txBody>
                  <a:tcPr>
                    <a:solidFill>
                      <a:srgbClr val="FAE5E2"/>
                    </a:solidFill>
                  </a:tcPr>
                </a:tc>
                <a:extLst>
                  <a:ext uri="{0D108BD9-81ED-4DB2-BD59-A6C34878D82A}">
                    <a16:rowId xmlns:a16="http://schemas.microsoft.com/office/drawing/2014/main" val="10005"/>
                  </a:ext>
                </a:extLst>
              </a:tr>
              <a:tr h="436880">
                <a:tc>
                  <a:txBody>
                    <a:bodyPr/>
                    <a:lstStyle/>
                    <a:p>
                      <a:pPr algn="ctr"/>
                      <a:r>
                        <a:rPr sz="1100" b="0">
                          <a:solidFill>
                            <a:srgbClr val="3A2822"/>
                          </a:solidFill>
                          <a:latin typeface="+mn-lt"/>
                        </a:rPr>
                        <a:t>File Incl.</a:t>
                      </a:r>
                    </a:p>
                  </a:txBody>
                  <a:tcPr>
                    <a:solidFill>
                      <a:srgbClr val="FAE5E2"/>
                    </a:solidFill>
                  </a:tcPr>
                </a:tc>
                <a:tc>
                  <a:txBody>
                    <a:bodyPr/>
                    <a:lstStyle/>
                    <a:p>
                      <a:pPr algn="ctr"/>
                      <a:r>
                        <a:rPr sz="1100" b="0">
                          <a:solidFill>
                            <a:srgbClr val="3A2822"/>
                          </a:solidFill>
                          <a:latin typeface="+mn-lt"/>
                        </a:rPr>
                        <a:t>File Inclusion / Upload / Download</a:t>
                      </a:r>
                    </a:p>
                  </a:txBody>
                  <a:tcPr>
                    <a:solidFill>
                      <a:srgbClr val="FAE5E2"/>
                    </a:solidFill>
                  </a:tcPr>
                </a:tc>
                <a:tc>
                  <a:txBody>
                    <a:bodyPr/>
                    <a:lstStyle/>
                    <a:p>
                      <a:pPr algn="ctr"/>
                      <a:r>
                        <a:rPr sz="1100" b="0" dirty="0">
                          <a:solidFill>
                            <a:srgbClr val="3A2822"/>
                          </a:solidFill>
                          <a:latin typeface="+mn-lt"/>
                        </a:rPr>
                        <a:t>4</a:t>
                      </a:r>
                    </a:p>
                  </a:txBody>
                  <a:tcPr>
                    <a:solidFill>
                      <a:srgbClr val="FAE5E2"/>
                    </a:solidFill>
                  </a:tcPr>
                </a:tc>
                <a:tc>
                  <a:txBody>
                    <a:bodyPr/>
                    <a:lstStyle/>
                    <a:p>
                      <a:pPr algn="ctr"/>
                      <a:r>
                        <a:rPr sz="1100" b="0">
                          <a:solidFill>
                            <a:srgbClr val="3A2822"/>
                          </a:solidFill>
                          <a:latin typeface="+mn-lt"/>
                        </a:rPr>
                        <a:t>7.8</a:t>
                      </a:r>
                    </a:p>
                  </a:txBody>
                  <a:tcPr>
                    <a:solidFill>
                      <a:srgbClr val="FAE5E2"/>
                    </a:solidFill>
                  </a:tcPr>
                </a:tc>
                <a:extLst>
                  <a:ext uri="{0D108BD9-81ED-4DB2-BD59-A6C34878D82A}">
                    <a16:rowId xmlns:a16="http://schemas.microsoft.com/office/drawing/2014/main" val="10006"/>
                  </a:ext>
                </a:extLst>
              </a:tr>
              <a:tr h="436880">
                <a:tc>
                  <a:txBody>
                    <a:bodyPr/>
                    <a:lstStyle/>
                    <a:p>
                      <a:pPr algn="ctr"/>
                      <a:r>
                        <a:rPr sz="1100" b="0">
                          <a:solidFill>
                            <a:srgbClr val="3A2822"/>
                          </a:solidFill>
                          <a:latin typeface="+mn-lt"/>
                        </a:rPr>
                        <a:t>Інші</a:t>
                      </a:r>
                    </a:p>
                  </a:txBody>
                  <a:tcPr>
                    <a:solidFill>
                      <a:srgbClr val="FAE5E2"/>
                    </a:solidFill>
                  </a:tcPr>
                </a:tc>
                <a:tc>
                  <a:txBody>
                    <a:bodyPr/>
                    <a:lstStyle/>
                    <a:p>
                      <a:pPr algn="ctr"/>
                      <a:r>
                        <a:rPr sz="1100" b="0">
                          <a:solidFill>
                            <a:srgbClr val="3A2822"/>
                          </a:solidFill>
                          <a:latin typeface="+mn-lt"/>
                        </a:rPr>
                        <a:t>Privilege Esc., Info Disclosure</a:t>
                      </a:r>
                    </a:p>
                  </a:txBody>
                  <a:tcPr>
                    <a:solidFill>
                      <a:srgbClr val="FAE5E2"/>
                    </a:solidFill>
                  </a:tcPr>
                </a:tc>
                <a:tc>
                  <a:txBody>
                    <a:bodyPr/>
                    <a:lstStyle/>
                    <a:p>
                      <a:pPr algn="ctr"/>
                      <a:r>
                        <a:rPr sz="1100" b="0" dirty="0">
                          <a:solidFill>
                            <a:srgbClr val="3A2822"/>
                          </a:solidFill>
                          <a:latin typeface="+mn-lt"/>
                        </a:rPr>
                        <a:t>3</a:t>
                      </a:r>
                    </a:p>
                  </a:txBody>
                  <a:tcPr>
                    <a:solidFill>
                      <a:srgbClr val="FAE5E2"/>
                    </a:solidFill>
                  </a:tcPr>
                </a:tc>
                <a:tc>
                  <a:txBody>
                    <a:bodyPr/>
                    <a:lstStyle/>
                    <a:p>
                      <a:pPr algn="ctr"/>
                      <a:r>
                        <a:rPr sz="1100" b="0">
                          <a:solidFill>
                            <a:srgbClr val="3A2822"/>
                          </a:solidFill>
                          <a:latin typeface="+mn-lt"/>
                        </a:rPr>
                        <a:t>5.9</a:t>
                      </a:r>
                    </a:p>
                  </a:txBody>
                  <a:tcPr>
                    <a:solidFill>
                      <a:srgbClr val="FAE5E2"/>
                    </a:solidFill>
                  </a:tcPr>
                </a:tc>
                <a:extLst>
                  <a:ext uri="{0D108BD9-81ED-4DB2-BD59-A6C34878D82A}">
                    <a16:rowId xmlns:a16="http://schemas.microsoft.com/office/drawing/2014/main" val="10007"/>
                  </a:ext>
                </a:extLst>
              </a:tr>
              <a:tr h="436880">
                <a:tc>
                  <a:txBody>
                    <a:bodyPr/>
                    <a:lstStyle/>
                    <a:p>
                      <a:pPr algn="ctr"/>
                      <a:r>
                        <a:rPr sz="1100" b="0">
                          <a:solidFill>
                            <a:srgbClr val="3A2822"/>
                          </a:solidFill>
                          <a:latin typeface="+mn-lt"/>
                        </a:rPr>
                        <a:t>РАЗОМ</a:t>
                      </a:r>
                    </a:p>
                  </a:txBody>
                  <a:tcPr>
                    <a:solidFill>
                      <a:srgbClr val="FAE5E2"/>
                    </a:solidFill>
                  </a:tcPr>
                </a:tc>
                <a:tc>
                  <a:txBody>
                    <a:bodyPr/>
                    <a:lstStyle/>
                    <a:p>
                      <a:pPr algn="ctr"/>
                      <a:endParaRPr>
                        <a:latin typeface="+mn-lt"/>
                      </a:endParaRPr>
                    </a:p>
                  </a:txBody>
                  <a:tcPr>
                    <a:solidFill>
                      <a:srgbClr val="FAE5E2"/>
                    </a:solidFill>
                  </a:tcPr>
                </a:tc>
                <a:tc>
                  <a:txBody>
                    <a:bodyPr/>
                    <a:lstStyle/>
                    <a:p>
                      <a:pPr algn="ctr"/>
                      <a:r>
                        <a:rPr sz="1100" b="0" dirty="0">
                          <a:solidFill>
                            <a:srgbClr val="3A2822"/>
                          </a:solidFill>
                          <a:latin typeface="+mn-lt"/>
                        </a:rPr>
                        <a:t>51</a:t>
                      </a:r>
                    </a:p>
                  </a:txBody>
                  <a:tcPr>
                    <a:solidFill>
                      <a:srgbClr val="FAE5E2"/>
                    </a:solidFill>
                  </a:tcPr>
                </a:tc>
                <a:tc>
                  <a:txBody>
                    <a:bodyPr/>
                    <a:lstStyle/>
                    <a:p>
                      <a:pPr algn="ctr"/>
                      <a:r>
                        <a:rPr sz="1100" b="0" dirty="0">
                          <a:solidFill>
                            <a:srgbClr val="3A2822"/>
                          </a:solidFill>
                          <a:latin typeface="+mn-lt"/>
                        </a:rPr>
                        <a:t>100.0</a:t>
                      </a:r>
                    </a:p>
                  </a:txBody>
                  <a:tcPr>
                    <a:solidFill>
                      <a:srgbClr val="FAE5E2"/>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1085850" y="5861008"/>
            <a:ext cx="6972300" cy="406265"/>
          </a:xfrm>
          <a:prstGeom prst="rect">
            <a:avLst/>
          </a:prstGeom>
          <a:noFill/>
          <a:ln>
            <a:noFill/>
          </a:ln>
        </p:spPr>
        <p:txBody>
          <a:bodyPr wrap="square" lIns="45720" tIns="18288" rIns="45720" bIns="18288">
            <a:spAutoFit/>
          </a:bodyPr>
          <a:lstStyle/>
          <a:p>
            <a:pPr algn="l"/>
            <a:r>
              <a:rPr sz="1200" b="1" i="1" dirty="0" err="1">
                <a:solidFill>
                  <a:srgbClr val="F88A7A"/>
                </a:solidFill>
              </a:rPr>
              <a:t>Найпоширеніший</a:t>
            </a:r>
            <a:r>
              <a:rPr sz="1200" b="1" i="1" dirty="0">
                <a:solidFill>
                  <a:srgbClr val="F88A7A"/>
                </a:solidFill>
              </a:rPr>
              <a:t> </a:t>
            </a:r>
            <a:r>
              <a:rPr sz="1200" b="1" i="1" dirty="0" err="1">
                <a:solidFill>
                  <a:srgbClr val="F88A7A"/>
                </a:solidFill>
              </a:rPr>
              <a:t>тип</a:t>
            </a:r>
            <a:r>
              <a:rPr sz="1200" b="1" i="1" dirty="0">
                <a:solidFill>
                  <a:srgbClr val="F88A7A"/>
                </a:solidFill>
              </a:rPr>
              <a:t> — XSS-</a:t>
            </a:r>
            <a:r>
              <a:rPr sz="1200" b="1" i="1" dirty="0" err="1">
                <a:solidFill>
                  <a:srgbClr val="F88A7A"/>
                </a:solidFill>
              </a:rPr>
              <a:t>уразливості</a:t>
            </a:r>
            <a:r>
              <a:rPr sz="1200" b="1" i="1" dirty="0">
                <a:solidFill>
                  <a:srgbClr val="F88A7A"/>
                </a:solidFill>
              </a:rPr>
              <a:t> (37%), </a:t>
            </a:r>
            <a:r>
              <a:rPr sz="1200" b="1" i="1" dirty="0" err="1">
                <a:solidFill>
                  <a:srgbClr val="F88A7A"/>
                </a:solidFill>
              </a:rPr>
              <a:t>що</a:t>
            </a:r>
            <a:r>
              <a:rPr sz="1200" b="1" i="1" dirty="0">
                <a:solidFill>
                  <a:srgbClr val="F88A7A"/>
                </a:solidFill>
              </a:rPr>
              <a:t> </a:t>
            </a:r>
            <a:r>
              <a:rPr sz="1200" b="1" i="1" dirty="0" err="1">
                <a:solidFill>
                  <a:srgbClr val="F88A7A"/>
                </a:solidFill>
              </a:rPr>
              <a:t>відповідає</a:t>
            </a:r>
            <a:r>
              <a:rPr sz="1200" b="1" i="1" dirty="0">
                <a:solidFill>
                  <a:srgbClr val="F88A7A"/>
                </a:solidFill>
              </a:rPr>
              <a:t> </a:t>
            </a:r>
            <a:r>
              <a:rPr sz="1200" b="1" i="1" dirty="0" err="1">
                <a:solidFill>
                  <a:srgbClr val="F88A7A"/>
                </a:solidFill>
              </a:rPr>
              <a:t>реальній</a:t>
            </a:r>
            <a:r>
              <a:rPr sz="1200" b="1" i="1" dirty="0">
                <a:solidFill>
                  <a:srgbClr val="F88A7A"/>
                </a:solidFill>
              </a:rPr>
              <a:t> </a:t>
            </a:r>
            <a:r>
              <a:rPr sz="1200" b="1" i="1" dirty="0" err="1">
                <a:solidFill>
                  <a:srgbClr val="F88A7A"/>
                </a:solidFill>
              </a:rPr>
              <a:t>статистиці</a:t>
            </a:r>
            <a:r>
              <a:rPr sz="1200" b="1" i="1" dirty="0">
                <a:solidFill>
                  <a:srgbClr val="F88A7A"/>
                </a:solidFill>
              </a:rPr>
              <a:t> CVE </a:t>
            </a:r>
            <a:r>
              <a:rPr sz="1200" b="1" i="1" dirty="0" err="1">
                <a:solidFill>
                  <a:srgbClr val="F88A7A"/>
                </a:solidFill>
              </a:rPr>
              <a:t>для</a:t>
            </a:r>
            <a:r>
              <a:rPr lang="uk-UA" sz="1200" b="1" i="1" dirty="0">
                <a:solidFill>
                  <a:srgbClr val="F88A7A"/>
                </a:solidFill>
              </a:rPr>
              <a:t> </a:t>
            </a:r>
            <a:r>
              <a:rPr sz="1200" b="1" i="1" dirty="0">
                <a:solidFill>
                  <a:srgbClr val="F88A7A"/>
                </a:solidFill>
              </a:rPr>
              <a:t>WordPress-</a:t>
            </a:r>
            <a:r>
              <a:rPr sz="1200" b="1" i="1" dirty="0" err="1">
                <a:solidFill>
                  <a:srgbClr val="F88A7A"/>
                </a:solidFill>
              </a:rPr>
              <a:t>плагінів</a:t>
            </a:r>
            <a:r>
              <a:rPr sz="1200" b="1" i="1" dirty="0">
                <a:solidFill>
                  <a:srgbClr val="F88A7A"/>
                </a:solidFill>
              </a:rPr>
              <a:t> </a:t>
            </a:r>
            <a:r>
              <a:rPr sz="1200" b="1" i="1" dirty="0" err="1">
                <a:solidFill>
                  <a:srgbClr val="F88A7A"/>
                </a:solidFill>
              </a:rPr>
              <a:t>за</a:t>
            </a:r>
            <a:r>
              <a:rPr sz="1200" b="1" i="1" dirty="0">
                <a:solidFill>
                  <a:srgbClr val="F88A7A"/>
                </a:solidFill>
              </a:rPr>
              <a:t> </a:t>
            </a:r>
            <a:r>
              <a:rPr sz="1200" b="1" i="1" dirty="0" err="1">
                <a:solidFill>
                  <a:srgbClr val="F88A7A"/>
                </a:solidFill>
              </a:rPr>
              <a:t>даними</a:t>
            </a:r>
            <a:r>
              <a:rPr sz="1200" b="1" i="1" dirty="0">
                <a:solidFill>
                  <a:srgbClr val="F88A7A"/>
                </a:solidFill>
              </a:rPr>
              <a:t> </a:t>
            </a:r>
            <a:r>
              <a:rPr sz="1200" b="1" i="1" dirty="0" err="1">
                <a:solidFill>
                  <a:srgbClr val="F88A7A"/>
                </a:solidFill>
              </a:rPr>
              <a:t>Patchstack</a:t>
            </a:r>
            <a:r>
              <a:rPr sz="1200" b="1" i="1" dirty="0">
                <a:solidFill>
                  <a:srgbClr val="F88A7A"/>
                </a:solidFill>
              </a:rPr>
              <a:t> </a:t>
            </a:r>
            <a:r>
              <a:rPr sz="1200" b="1" i="1" dirty="0" err="1">
                <a:solidFill>
                  <a:srgbClr val="F88A7A"/>
                </a:solidFill>
              </a:rPr>
              <a:t>та</a:t>
            </a:r>
            <a:r>
              <a:rPr sz="1200" b="1" i="1" dirty="0">
                <a:solidFill>
                  <a:srgbClr val="F88A7A"/>
                </a:solidFill>
              </a:rPr>
              <a:t> </a:t>
            </a:r>
            <a:r>
              <a:rPr sz="1200" b="1" i="1" dirty="0" err="1">
                <a:solidFill>
                  <a:srgbClr val="F88A7A"/>
                </a:solidFill>
              </a:rPr>
              <a:t>WPScan</a:t>
            </a:r>
            <a:r>
              <a:rPr sz="1200" b="1" i="1" dirty="0">
                <a:solidFill>
                  <a:srgbClr val="F88A7A"/>
                </a:solidFill>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A2822"/>
        </a:solidFill>
        <a:effectLst/>
      </p:bgPr>
    </p:bg>
    <p:spTree>
      <p:nvGrpSpPr>
        <p:cNvPr id="1" name=""/>
        <p:cNvGrpSpPr/>
        <p:nvPr/>
      </p:nvGrpSpPr>
      <p:grpSpPr>
        <a:xfrm>
          <a:off x="0" y="0"/>
          <a:ext cx="0" cy="0"/>
          <a:chOff x="0" y="0"/>
          <a:chExt cx="0" cy="0"/>
        </a:xfrm>
      </p:grpSpPr>
      <p:sp>
        <p:nvSpPr>
          <p:cNvPr id="2" name="Rectangle 1"/>
          <p:cNvSpPr/>
          <p:nvPr/>
        </p:nvSpPr>
        <p:spPr>
          <a:xfrm>
            <a:off x="365760" y="0"/>
            <a:ext cx="54864" cy="6858000"/>
          </a:xfrm>
          <a:prstGeom prst="rect">
            <a:avLst/>
          </a:prstGeom>
          <a:solidFill>
            <a:srgbClr val="FF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0" y="0"/>
            <a:ext cx="548640" cy="685800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595360" y="0"/>
            <a:ext cx="548640" cy="2743200"/>
          </a:xfrm>
          <a:prstGeom prst="rect">
            <a:avLst/>
          </a:prstGeom>
          <a:solidFill>
            <a:srgbClr val="F88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457200"/>
            <a:ext cx="7772400" cy="560153"/>
          </a:xfrm>
          <a:prstGeom prst="rect">
            <a:avLst/>
          </a:prstGeom>
          <a:noFill/>
          <a:ln>
            <a:noFill/>
          </a:ln>
        </p:spPr>
        <p:txBody>
          <a:bodyPr wrap="square" lIns="45720" tIns="18288" rIns="45720" bIns="18288">
            <a:spAutoFit/>
          </a:bodyPr>
          <a:lstStyle/>
          <a:p>
            <a:pPr algn="l"/>
            <a:r>
              <a:rPr sz="3400" b="1" i="0" dirty="0" err="1">
                <a:solidFill>
                  <a:srgbClr val="FFFFFF"/>
                </a:solidFill>
                <a:latin typeface="Calibri"/>
              </a:rPr>
              <a:t>Тестовий</a:t>
            </a:r>
            <a:r>
              <a:rPr sz="3400" b="1" i="0" dirty="0">
                <a:solidFill>
                  <a:srgbClr val="FFFFFF"/>
                </a:solidFill>
                <a:latin typeface="Calibri"/>
              </a:rPr>
              <a:t> </a:t>
            </a:r>
            <a:r>
              <a:rPr sz="3400" b="1" i="0" dirty="0" err="1">
                <a:solidFill>
                  <a:srgbClr val="FFFFFF"/>
                </a:solidFill>
                <a:latin typeface="Calibri"/>
              </a:rPr>
              <a:t>стенд</a:t>
            </a:r>
            <a:r>
              <a:rPr sz="3400" b="1" i="0" dirty="0">
                <a:solidFill>
                  <a:srgbClr val="FFFFFF"/>
                </a:solidFill>
                <a:latin typeface="Calibri"/>
              </a:rPr>
              <a:t> </a:t>
            </a:r>
            <a:r>
              <a:rPr sz="3400" b="1" i="0" dirty="0" err="1">
                <a:solidFill>
                  <a:srgbClr val="FFFFFF"/>
                </a:solidFill>
                <a:latin typeface="Calibri"/>
              </a:rPr>
              <a:t>експеримент</a:t>
            </a:r>
            <a:r>
              <a:rPr lang="uk-UA" sz="3400" b="1" i="0" dirty="0">
                <a:solidFill>
                  <a:srgbClr val="FFFFFF"/>
                </a:solidFill>
                <a:latin typeface="Calibri"/>
              </a:rPr>
              <a:t>у</a:t>
            </a:r>
            <a:endParaRPr sz="3400" b="1" i="0" dirty="0">
              <a:solidFill>
                <a:srgbClr val="FFFFFF"/>
              </a:solidFill>
              <a:latin typeface="Calibri"/>
            </a:endParaRPr>
          </a:p>
        </p:txBody>
      </p:sp>
      <p:sp>
        <p:nvSpPr>
          <p:cNvPr id="6" name="TextBox 5"/>
          <p:cNvSpPr txBox="1"/>
          <p:nvPr/>
        </p:nvSpPr>
        <p:spPr>
          <a:xfrm>
            <a:off x="1051560" y="1108977"/>
            <a:ext cx="7680960" cy="236988"/>
          </a:xfrm>
          <a:prstGeom prst="rect">
            <a:avLst/>
          </a:prstGeom>
          <a:noFill/>
          <a:ln>
            <a:noFill/>
          </a:ln>
        </p:spPr>
        <p:txBody>
          <a:bodyPr wrap="square" lIns="45720" tIns="18288" rIns="45720" bIns="18288">
            <a:spAutoFit/>
          </a:bodyPr>
          <a:lstStyle/>
          <a:p>
            <a:pPr algn="l"/>
            <a:r>
              <a:rPr lang="uk-UA" sz="1300" b="0" i="1" dirty="0">
                <a:solidFill>
                  <a:srgbClr val="E8D8D2"/>
                </a:solidFill>
              </a:rPr>
              <a:t>Було налаштовано </a:t>
            </a:r>
            <a:r>
              <a:rPr sz="1300" b="0" i="1" dirty="0" err="1">
                <a:solidFill>
                  <a:srgbClr val="E8D8D2"/>
                </a:solidFill>
              </a:rPr>
              <a:t>середовище</a:t>
            </a:r>
            <a:r>
              <a:rPr sz="1300" b="0" i="1" dirty="0">
                <a:solidFill>
                  <a:srgbClr val="E8D8D2"/>
                </a:solidFill>
              </a:rPr>
              <a:t> </a:t>
            </a:r>
            <a:r>
              <a:rPr sz="1300" b="0" i="1" dirty="0" err="1">
                <a:solidFill>
                  <a:srgbClr val="E8D8D2"/>
                </a:solidFill>
              </a:rPr>
              <a:t>для</a:t>
            </a:r>
            <a:r>
              <a:rPr sz="1300" b="0" i="1" dirty="0">
                <a:solidFill>
                  <a:srgbClr val="E8D8D2"/>
                </a:solidFill>
              </a:rPr>
              <a:t> </a:t>
            </a:r>
            <a:r>
              <a:rPr sz="1300" b="0" i="1" dirty="0" err="1">
                <a:solidFill>
                  <a:srgbClr val="E8D8D2"/>
                </a:solidFill>
              </a:rPr>
              <a:t>проведення</a:t>
            </a:r>
            <a:r>
              <a:rPr sz="1300" b="0" i="1" dirty="0">
                <a:solidFill>
                  <a:srgbClr val="E8D8D2"/>
                </a:solidFill>
              </a:rPr>
              <a:t> </a:t>
            </a:r>
            <a:r>
              <a:rPr sz="1300" b="0" i="1" dirty="0" err="1">
                <a:solidFill>
                  <a:srgbClr val="E8D8D2"/>
                </a:solidFill>
              </a:rPr>
              <a:t>експериментального</a:t>
            </a:r>
            <a:r>
              <a:rPr sz="1300" b="0" i="1" dirty="0">
                <a:solidFill>
                  <a:srgbClr val="E8D8D2"/>
                </a:solidFill>
              </a:rPr>
              <a:t> </a:t>
            </a:r>
            <a:r>
              <a:rPr sz="1300" b="0" i="1" dirty="0" err="1">
                <a:solidFill>
                  <a:srgbClr val="E8D8D2"/>
                </a:solidFill>
              </a:rPr>
              <a:t>дослідження</a:t>
            </a:r>
            <a:r>
              <a:rPr sz="1300" b="0" i="1" dirty="0">
                <a:solidFill>
                  <a:srgbClr val="E8D8D2"/>
                </a:solidFill>
              </a:rPr>
              <a:t>:</a:t>
            </a:r>
          </a:p>
        </p:txBody>
      </p:sp>
      <p:graphicFrame>
        <p:nvGraphicFramePr>
          <p:cNvPr id="7" name="Table 6"/>
          <p:cNvGraphicFramePr>
            <a:graphicFrameLocks noGrp="1"/>
          </p:cNvGraphicFramePr>
          <p:nvPr>
            <p:extLst>
              <p:ext uri="{D42A27DB-BD31-4B8C-83A1-F6EECF244321}">
                <p14:modId xmlns:p14="http://schemas.microsoft.com/office/powerpoint/2010/main" val="3330560525"/>
              </p:ext>
            </p:extLst>
          </p:nvPr>
        </p:nvGraphicFramePr>
        <p:xfrm>
          <a:off x="1088136" y="1520898"/>
          <a:ext cx="3611880" cy="2863215"/>
        </p:xfrm>
        <a:graphic>
          <a:graphicData uri="http://schemas.openxmlformats.org/drawingml/2006/table">
            <a:tbl>
              <a:tblPr firstRow="1" bandRow="1">
                <a:tableStyleId>{5C22544A-7EE6-4342-B048-85BDC9FD1C3A}</a:tableStyleId>
              </a:tblPr>
              <a:tblGrid>
                <a:gridCol w="1805940">
                  <a:extLst>
                    <a:ext uri="{9D8B030D-6E8A-4147-A177-3AD203B41FA5}">
                      <a16:colId xmlns:a16="http://schemas.microsoft.com/office/drawing/2014/main" val="20000"/>
                    </a:ext>
                  </a:extLst>
                </a:gridCol>
                <a:gridCol w="1805940">
                  <a:extLst>
                    <a:ext uri="{9D8B030D-6E8A-4147-A177-3AD203B41FA5}">
                      <a16:colId xmlns:a16="http://schemas.microsoft.com/office/drawing/2014/main" val="20001"/>
                    </a:ext>
                  </a:extLst>
                </a:gridCol>
              </a:tblGrid>
              <a:tr h="318135">
                <a:tc>
                  <a:txBody>
                    <a:bodyPr/>
                    <a:lstStyle/>
                    <a:p>
                      <a:pPr algn="ctr"/>
                      <a:r>
                        <a:rPr sz="1100" b="1" dirty="0" err="1">
                          <a:solidFill>
                            <a:srgbClr val="FFFFFF"/>
                          </a:solidFill>
                          <a:latin typeface="+mn-lt"/>
                        </a:rPr>
                        <a:t>Параметр</a:t>
                      </a:r>
                      <a:endParaRPr sz="1100" b="1" dirty="0">
                        <a:solidFill>
                          <a:srgbClr val="FFFFFF"/>
                        </a:solidFill>
                        <a:latin typeface="+mn-lt"/>
                      </a:endParaRPr>
                    </a:p>
                  </a:txBody>
                  <a:tcPr>
                    <a:solidFill>
                      <a:srgbClr val="E74C3C"/>
                    </a:solidFill>
                  </a:tcPr>
                </a:tc>
                <a:tc>
                  <a:txBody>
                    <a:bodyPr/>
                    <a:lstStyle/>
                    <a:p>
                      <a:pPr algn="ctr"/>
                      <a:r>
                        <a:rPr sz="1100" b="1" dirty="0" err="1">
                          <a:solidFill>
                            <a:srgbClr val="FFFFFF"/>
                          </a:solidFill>
                          <a:latin typeface="+mn-lt"/>
                        </a:rPr>
                        <a:t>Значення</a:t>
                      </a:r>
                      <a:endParaRPr sz="1100" b="1" dirty="0">
                        <a:solidFill>
                          <a:srgbClr val="FFFFFF"/>
                        </a:solidFill>
                        <a:latin typeface="+mn-lt"/>
                      </a:endParaRPr>
                    </a:p>
                  </a:txBody>
                  <a:tcPr>
                    <a:solidFill>
                      <a:srgbClr val="E74C3C"/>
                    </a:solidFill>
                  </a:tcPr>
                </a:tc>
                <a:extLst>
                  <a:ext uri="{0D108BD9-81ED-4DB2-BD59-A6C34878D82A}">
                    <a16:rowId xmlns:a16="http://schemas.microsoft.com/office/drawing/2014/main" val="10000"/>
                  </a:ext>
                </a:extLst>
              </a:tr>
              <a:tr h="318135">
                <a:tc>
                  <a:txBody>
                    <a:bodyPr/>
                    <a:lstStyle/>
                    <a:p>
                      <a:pPr algn="ctr"/>
                      <a:r>
                        <a:rPr sz="1100" b="0" dirty="0" err="1">
                          <a:solidFill>
                            <a:srgbClr val="3A2822"/>
                          </a:solidFill>
                          <a:latin typeface="+mn-lt"/>
                        </a:rPr>
                        <a:t>Платформа</a:t>
                      </a:r>
                      <a:r>
                        <a:rPr sz="1100" b="0" dirty="0">
                          <a:solidFill>
                            <a:srgbClr val="3A2822"/>
                          </a:solidFill>
                          <a:latin typeface="+mn-lt"/>
                        </a:rPr>
                        <a:t> </a:t>
                      </a:r>
                      <a:r>
                        <a:rPr sz="1100" b="0" dirty="0" err="1">
                          <a:solidFill>
                            <a:srgbClr val="3A2822"/>
                          </a:solidFill>
                          <a:latin typeface="+mn-lt"/>
                        </a:rPr>
                        <a:t>віртуалізації</a:t>
                      </a:r>
                      <a:endParaRPr sz="1100" b="0" dirty="0">
                        <a:solidFill>
                          <a:srgbClr val="3A2822"/>
                        </a:solidFill>
                        <a:latin typeface="+mn-lt"/>
                      </a:endParaRPr>
                    </a:p>
                  </a:txBody>
                  <a:tcPr>
                    <a:solidFill>
                      <a:srgbClr val="FAE5E2"/>
                    </a:solidFill>
                  </a:tcPr>
                </a:tc>
                <a:tc>
                  <a:txBody>
                    <a:bodyPr/>
                    <a:lstStyle/>
                    <a:p>
                      <a:pPr algn="ctr"/>
                      <a:r>
                        <a:rPr sz="1100" b="0" dirty="0" err="1">
                          <a:solidFill>
                            <a:srgbClr val="3A2822"/>
                          </a:solidFill>
                          <a:latin typeface="+mn-lt"/>
                        </a:rPr>
                        <a:t>LocalWP</a:t>
                      </a:r>
                      <a:endParaRPr sz="1100" b="0" dirty="0">
                        <a:solidFill>
                          <a:srgbClr val="3A2822"/>
                        </a:solidFill>
                        <a:latin typeface="+mn-lt"/>
                      </a:endParaRPr>
                    </a:p>
                  </a:txBody>
                  <a:tcPr>
                    <a:solidFill>
                      <a:srgbClr val="FAE5E2"/>
                    </a:solidFill>
                  </a:tcPr>
                </a:tc>
                <a:extLst>
                  <a:ext uri="{0D108BD9-81ED-4DB2-BD59-A6C34878D82A}">
                    <a16:rowId xmlns:a16="http://schemas.microsoft.com/office/drawing/2014/main" val="10001"/>
                  </a:ext>
                </a:extLst>
              </a:tr>
              <a:tr h="318135">
                <a:tc>
                  <a:txBody>
                    <a:bodyPr/>
                    <a:lstStyle/>
                    <a:p>
                      <a:pPr algn="ctr"/>
                      <a:r>
                        <a:rPr sz="1100" b="0">
                          <a:solidFill>
                            <a:srgbClr val="3A2822"/>
                          </a:solidFill>
                          <a:latin typeface="+mn-lt"/>
                        </a:rPr>
                        <a:t>CMS</a:t>
                      </a:r>
                    </a:p>
                  </a:txBody>
                  <a:tcPr>
                    <a:solidFill>
                      <a:srgbClr val="FAE5E2"/>
                    </a:solidFill>
                  </a:tcPr>
                </a:tc>
                <a:tc>
                  <a:txBody>
                    <a:bodyPr/>
                    <a:lstStyle/>
                    <a:p>
                      <a:pPr algn="ctr"/>
                      <a:r>
                        <a:rPr sz="1100" b="0">
                          <a:solidFill>
                            <a:srgbClr val="3A2822"/>
                          </a:solidFill>
                          <a:latin typeface="+mn-lt"/>
                        </a:rPr>
                        <a:t>WordPress 6.9.4</a:t>
                      </a:r>
                    </a:p>
                  </a:txBody>
                  <a:tcPr>
                    <a:solidFill>
                      <a:srgbClr val="FAE5E2"/>
                    </a:solidFill>
                  </a:tcPr>
                </a:tc>
                <a:extLst>
                  <a:ext uri="{0D108BD9-81ED-4DB2-BD59-A6C34878D82A}">
                    <a16:rowId xmlns:a16="http://schemas.microsoft.com/office/drawing/2014/main" val="10002"/>
                  </a:ext>
                </a:extLst>
              </a:tr>
              <a:tr h="318135">
                <a:tc>
                  <a:txBody>
                    <a:bodyPr/>
                    <a:lstStyle/>
                    <a:p>
                      <a:pPr algn="ctr"/>
                      <a:r>
                        <a:rPr sz="1100" b="0" dirty="0">
                          <a:solidFill>
                            <a:srgbClr val="3A2822"/>
                          </a:solidFill>
                          <a:latin typeface="+mn-lt"/>
                        </a:rPr>
                        <a:t>E-commerce </a:t>
                      </a:r>
                      <a:r>
                        <a:rPr sz="1100" b="0" dirty="0" err="1">
                          <a:solidFill>
                            <a:srgbClr val="3A2822"/>
                          </a:solidFill>
                          <a:latin typeface="+mn-lt"/>
                        </a:rPr>
                        <a:t>плагін</a:t>
                      </a:r>
                      <a:endParaRPr sz="1100" b="0" dirty="0">
                        <a:solidFill>
                          <a:srgbClr val="3A2822"/>
                        </a:solidFill>
                        <a:latin typeface="+mn-lt"/>
                      </a:endParaRPr>
                    </a:p>
                  </a:txBody>
                  <a:tcPr>
                    <a:solidFill>
                      <a:srgbClr val="FAE5E2"/>
                    </a:solidFill>
                  </a:tcPr>
                </a:tc>
                <a:tc>
                  <a:txBody>
                    <a:bodyPr/>
                    <a:lstStyle/>
                    <a:p>
                      <a:pPr algn="ctr"/>
                      <a:r>
                        <a:rPr sz="1100" b="0" dirty="0">
                          <a:solidFill>
                            <a:srgbClr val="3A2822"/>
                          </a:solidFill>
                          <a:latin typeface="+mn-lt"/>
                        </a:rPr>
                        <a:t>WooCommerce 10.7.0</a:t>
                      </a:r>
                    </a:p>
                  </a:txBody>
                  <a:tcPr>
                    <a:solidFill>
                      <a:srgbClr val="FAE5E2"/>
                    </a:solidFill>
                  </a:tcPr>
                </a:tc>
                <a:extLst>
                  <a:ext uri="{0D108BD9-81ED-4DB2-BD59-A6C34878D82A}">
                    <a16:rowId xmlns:a16="http://schemas.microsoft.com/office/drawing/2014/main" val="10003"/>
                  </a:ext>
                </a:extLst>
              </a:tr>
              <a:tr h="318135">
                <a:tc>
                  <a:txBody>
                    <a:bodyPr/>
                    <a:lstStyle/>
                    <a:p>
                      <a:pPr algn="ctr"/>
                      <a:r>
                        <a:rPr sz="1100" b="0" dirty="0" err="1">
                          <a:solidFill>
                            <a:srgbClr val="3A2822"/>
                          </a:solidFill>
                          <a:latin typeface="+mn-lt"/>
                        </a:rPr>
                        <a:t>Тема</a:t>
                      </a:r>
                      <a:r>
                        <a:rPr sz="1100" b="0" dirty="0">
                          <a:solidFill>
                            <a:srgbClr val="3A2822"/>
                          </a:solidFill>
                          <a:latin typeface="+mn-lt"/>
                        </a:rPr>
                        <a:t> </a:t>
                      </a:r>
                      <a:r>
                        <a:rPr sz="1100" b="0" dirty="0" err="1">
                          <a:solidFill>
                            <a:srgbClr val="3A2822"/>
                          </a:solidFill>
                          <a:latin typeface="+mn-lt"/>
                        </a:rPr>
                        <a:t>оформлення</a:t>
                      </a:r>
                      <a:endParaRPr sz="1100" b="0" dirty="0">
                        <a:solidFill>
                          <a:srgbClr val="3A2822"/>
                        </a:solidFill>
                        <a:latin typeface="+mn-lt"/>
                      </a:endParaRPr>
                    </a:p>
                  </a:txBody>
                  <a:tcPr>
                    <a:solidFill>
                      <a:srgbClr val="FAE5E2"/>
                    </a:solidFill>
                  </a:tcPr>
                </a:tc>
                <a:tc>
                  <a:txBody>
                    <a:bodyPr/>
                    <a:lstStyle/>
                    <a:p>
                      <a:pPr algn="ctr"/>
                      <a:r>
                        <a:rPr sz="1100" b="0">
                          <a:solidFill>
                            <a:srgbClr val="3A2822"/>
                          </a:solidFill>
                          <a:latin typeface="+mn-lt"/>
                        </a:rPr>
                        <a:t>Botiga</a:t>
                      </a:r>
                    </a:p>
                  </a:txBody>
                  <a:tcPr>
                    <a:solidFill>
                      <a:srgbClr val="FAE5E2"/>
                    </a:solidFill>
                  </a:tcPr>
                </a:tc>
                <a:extLst>
                  <a:ext uri="{0D108BD9-81ED-4DB2-BD59-A6C34878D82A}">
                    <a16:rowId xmlns:a16="http://schemas.microsoft.com/office/drawing/2014/main" val="10004"/>
                  </a:ext>
                </a:extLst>
              </a:tr>
              <a:tr h="318135">
                <a:tc>
                  <a:txBody>
                    <a:bodyPr/>
                    <a:lstStyle/>
                    <a:p>
                      <a:pPr algn="ctr"/>
                      <a:r>
                        <a:rPr sz="1100" b="0">
                          <a:solidFill>
                            <a:srgbClr val="3A2822"/>
                          </a:solidFill>
                          <a:latin typeface="+mn-lt"/>
                        </a:rPr>
                        <a:t>PHP</a:t>
                      </a:r>
                    </a:p>
                  </a:txBody>
                  <a:tcPr>
                    <a:solidFill>
                      <a:srgbClr val="FAE5E2"/>
                    </a:solidFill>
                  </a:tcPr>
                </a:tc>
                <a:tc>
                  <a:txBody>
                    <a:bodyPr/>
                    <a:lstStyle/>
                    <a:p>
                      <a:pPr algn="ctr"/>
                      <a:r>
                        <a:rPr sz="1100" b="0" dirty="0">
                          <a:solidFill>
                            <a:srgbClr val="3A2822"/>
                          </a:solidFill>
                          <a:latin typeface="+mn-lt"/>
                        </a:rPr>
                        <a:t>8.2.27</a:t>
                      </a:r>
                    </a:p>
                  </a:txBody>
                  <a:tcPr>
                    <a:solidFill>
                      <a:srgbClr val="FAE5E2"/>
                    </a:solidFill>
                  </a:tcPr>
                </a:tc>
                <a:extLst>
                  <a:ext uri="{0D108BD9-81ED-4DB2-BD59-A6C34878D82A}">
                    <a16:rowId xmlns:a16="http://schemas.microsoft.com/office/drawing/2014/main" val="10005"/>
                  </a:ext>
                </a:extLst>
              </a:tr>
              <a:tr h="318135">
                <a:tc>
                  <a:txBody>
                    <a:bodyPr/>
                    <a:lstStyle/>
                    <a:p>
                      <a:pPr algn="ctr"/>
                      <a:r>
                        <a:rPr sz="1100" b="0">
                          <a:solidFill>
                            <a:srgbClr val="3A2822"/>
                          </a:solidFill>
                          <a:latin typeface="+mn-lt"/>
                        </a:rPr>
                        <a:t>СУБД</a:t>
                      </a:r>
                    </a:p>
                  </a:txBody>
                  <a:tcPr>
                    <a:solidFill>
                      <a:srgbClr val="FAE5E2"/>
                    </a:solidFill>
                  </a:tcPr>
                </a:tc>
                <a:tc>
                  <a:txBody>
                    <a:bodyPr/>
                    <a:lstStyle/>
                    <a:p>
                      <a:pPr algn="ctr"/>
                      <a:r>
                        <a:rPr sz="1100" b="0" dirty="0">
                          <a:solidFill>
                            <a:srgbClr val="3A2822"/>
                          </a:solidFill>
                          <a:latin typeface="+mn-lt"/>
                        </a:rPr>
                        <a:t>MySQL 8.0.35</a:t>
                      </a:r>
                    </a:p>
                  </a:txBody>
                  <a:tcPr>
                    <a:solidFill>
                      <a:srgbClr val="FAE5E2"/>
                    </a:solidFill>
                  </a:tcPr>
                </a:tc>
                <a:extLst>
                  <a:ext uri="{0D108BD9-81ED-4DB2-BD59-A6C34878D82A}">
                    <a16:rowId xmlns:a16="http://schemas.microsoft.com/office/drawing/2014/main" val="10006"/>
                  </a:ext>
                </a:extLst>
              </a:tr>
              <a:tr h="318135">
                <a:tc>
                  <a:txBody>
                    <a:bodyPr/>
                    <a:lstStyle/>
                    <a:p>
                      <a:pPr algn="ctr"/>
                      <a:r>
                        <a:rPr sz="1100" b="0">
                          <a:solidFill>
                            <a:srgbClr val="3A2822"/>
                          </a:solidFill>
                          <a:latin typeface="+mn-lt"/>
                        </a:rPr>
                        <a:t>Веб-сервер</a:t>
                      </a:r>
                    </a:p>
                  </a:txBody>
                  <a:tcPr>
                    <a:solidFill>
                      <a:srgbClr val="FAE5E2"/>
                    </a:solidFill>
                  </a:tcPr>
                </a:tc>
                <a:tc>
                  <a:txBody>
                    <a:bodyPr/>
                    <a:lstStyle/>
                    <a:p>
                      <a:pPr algn="ctr"/>
                      <a:r>
                        <a:rPr sz="1100" b="0" dirty="0">
                          <a:solidFill>
                            <a:srgbClr val="3A2822"/>
                          </a:solidFill>
                          <a:latin typeface="+mn-lt"/>
                        </a:rPr>
                        <a:t>nginx</a:t>
                      </a:r>
                    </a:p>
                  </a:txBody>
                  <a:tcPr>
                    <a:solidFill>
                      <a:srgbClr val="FAE5E2"/>
                    </a:solidFill>
                  </a:tcPr>
                </a:tc>
                <a:extLst>
                  <a:ext uri="{0D108BD9-81ED-4DB2-BD59-A6C34878D82A}">
                    <a16:rowId xmlns:a16="http://schemas.microsoft.com/office/drawing/2014/main" val="10007"/>
                  </a:ext>
                </a:extLst>
              </a:tr>
              <a:tr h="318135">
                <a:tc>
                  <a:txBody>
                    <a:bodyPr/>
                    <a:lstStyle/>
                    <a:p>
                      <a:pPr algn="ctr"/>
                      <a:r>
                        <a:rPr sz="1100" b="0">
                          <a:solidFill>
                            <a:srgbClr val="3A2822"/>
                          </a:solidFill>
                          <a:latin typeface="+mn-lt"/>
                        </a:rPr>
                        <a:t>ОС хоста</a:t>
                      </a:r>
                    </a:p>
                  </a:txBody>
                  <a:tcPr>
                    <a:solidFill>
                      <a:srgbClr val="FAE5E2"/>
                    </a:solidFill>
                  </a:tcPr>
                </a:tc>
                <a:tc>
                  <a:txBody>
                    <a:bodyPr/>
                    <a:lstStyle/>
                    <a:p>
                      <a:pPr algn="ctr"/>
                      <a:r>
                        <a:rPr sz="1100" b="0" dirty="0">
                          <a:solidFill>
                            <a:srgbClr val="3A2822"/>
                          </a:solidFill>
                          <a:latin typeface="+mn-lt"/>
                        </a:rPr>
                        <a:t>macOS (Apple Silicon)</a:t>
                      </a:r>
                    </a:p>
                  </a:txBody>
                  <a:tcPr>
                    <a:solidFill>
                      <a:srgbClr val="FAE5E2"/>
                    </a:solidFill>
                  </a:tcP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260904097"/>
              </p:ext>
            </p:extLst>
          </p:nvPr>
        </p:nvGraphicFramePr>
        <p:xfrm>
          <a:off x="4908613" y="1520898"/>
          <a:ext cx="3118104" cy="2286000"/>
        </p:xfrm>
        <a:graphic>
          <a:graphicData uri="http://schemas.openxmlformats.org/drawingml/2006/table">
            <a:tbl>
              <a:tblPr firstRow="1" bandRow="1">
                <a:tableStyleId>{5C22544A-7EE6-4342-B048-85BDC9FD1C3A}</a:tableStyleId>
              </a:tblPr>
              <a:tblGrid>
                <a:gridCol w="1559052">
                  <a:extLst>
                    <a:ext uri="{9D8B030D-6E8A-4147-A177-3AD203B41FA5}">
                      <a16:colId xmlns:a16="http://schemas.microsoft.com/office/drawing/2014/main" val="20000"/>
                    </a:ext>
                  </a:extLst>
                </a:gridCol>
                <a:gridCol w="1559052">
                  <a:extLst>
                    <a:ext uri="{9D8B030D-6E8A-4147-A177-3AD203B41FA5}">
                      <a16:colId xmlns:a16="http://schemas.microsoft.com/office/drawing/2014/main" val="20001"/>
                    </a:ext>
                  </a:extLst>
                </a:gridCol>
              </a:tblGrid>
              <a:tr h="457200">
                <a:tc>
                  <a:txBody>
                    <a:bodyPr/>
                    <a:lstStyle/>
                    <a:p>
                      <a:pPr algn="ctr"/>
                      <a:r>
                        <a:rPr sz="1100" b="1" dirty="0" err="1">
                          <a:solidFill>
                            <a:srgbClr val="FFFFFF"/>
                          </a:solidFill>
                          <a:latin typeface="+mn-lt"/>
                        </a:rPr>
                        <a:t>Категорія</a:t>
                      </a:r>
                      <a:endParaRPr sz="1100" b="1" dirty="0">
                        <a:solidFill>
                          <a:srgbClr val="FFFFFF"/>
                        </a:solidFill>
                        <a:latin typeface="+mn-lt"/>
                      </a:endParaRPr>
                    </a:p>
                  </a:txBody>
                  <a:tcPr>
                    <a:solidFill>
                      <a:srgbClr val="E74C3C"/>
                    </a:solidFill>
                  </a:tcPr>
                </a:tc>
                <a:tc>
                  <a:txBody>
                    <a:bodyPr/>
                    <a:lstStyle/>
                    <a:p>
                      <a:pPr algn="ctr"/>
                      <a:r>
                        <a:rPr sz="1100" b="1">
                          <a:solidFill>
                            <a:srgbClr val="FFFFFF"/>
                          </a:solidFill>
                          <a:latin typeface="+mn-lt"/>
                        </a:rPr>
                        <a:t>Кіль-ть</a:t>
                      </a:r>
                    </a:p>
                  </a:txBody>
                  <a:tcPr>
                    <a:solidFill>
                      <a:srgbClr val="E74C3C"/>
                    </a:solidFill>
                  </a:tcPr>
                </a:tc>
                <a:extLst>
                  <a:ext uri="{0D108BD9-81ED-4DB2-BD59-A6C34878D82A}">
                    <a16:rowId xmlns:a16="http://schemas.microsoft.com/office/drawing/2014/main" val="10000"/>
                  </a:ext>
                </a:extLst>
              </a:tr>
              <a:tr h="457200">
                <a:tc>
                  <a:txBody>
                    <a:bodyPr/>
                    <a:lstStyle/>
                    <a:p>
                      <a:pPr algn="ctr"/>
                      <a:r>
                        <a:rPr sz="1100" b="0" dirty="0" err="1">
                          <a:solidFill>
                            <a:srgbClr val="3A2822"/>
                          </a:solidFill>
                          <a:latin typeface="+mn-lt"/>
                        </a:rPr>
                        <a:t>Усього</a:t>
                      </a:r>
                      <a:r>
                        <a:rPr sz="1100" b="0" dirty="0">
                          <a:solidFill>
                            <a:srgbClr val="3A2822"/>
                          </a:solidFill>
                          <a:latin typeface="+mn-lt"/>
                        </a:rPr>
                        <a:t> </a:t>
                      </a:r>
                      <a:r>
                        <a:rPr sz="1100" b="0" dirty="0" err="1">
                          <a:solidFill>
                            <a:srgbClr val="3A2822"/>
                          </a:solidFill>
                          <a:latin typeface="+mn-lt"/>
                        </a:rPr>
                        <a:t>встановлено</a:t>
                      </a:r>
                      <a:endParaRPr sz="1100" b="0" dirty="0">
                        <a:solidFill>
                          <a:srgbClr val="3A2822"/>
                        </a:solidFill>
                        <a:latin typeface="+mn-lt"/>
                      </a:endParaRPr>
                    </a:p>
                  </a:txBody>
                  <a:tcPr>
                    <a:solidFill>
                      <a:srgbClr val="FAE5E2"/>
                    </a:solidFill>
                  </a:tcPr>
                </a:tc>
                <a:tc>
                  <a:txBody>
                    <a:bodyPr/>
                    <a:lstStyle/>
                    <a:p>
                      <a:pPr algn="ctr"/>
                      <a:r>
                        <a:rPr sz="1100" b="0">
                          <a:solidFill>
                            <a:srgbClr val="3A2822"/>
                          </a:solidFill>
                          <a:latin typeface="+mn-lt"/>
                        </a:rPr>
                        <a:t>65</a:t>
                      </a:r>
                    </a:p>
                  </a:txBody>
                  <a:tcPr>
                    <a:solidFill>
                      <a:srgbClr val="FAE5E2"/>
                    </a:solidFill>
                  </a:tcPr>
                </a:tc>
                <a:extLst>
                  <a:ext uri="{0D108BD9-81ED-4DB2-BD59-A6C34878D82A}">
                    <a16:rowId xmlns:a16="http://schemas.microsoft.com/office/drawing/2014/main" val="10001"/>
                  </a:ext>
                </a:extLst>
              </a:tr>
              <a:tr h="457200">
                <a:tc>
                  <a:txBody>
                    <a:bodyPr/>
                    <a:lstStyle/>
                    <a:p>
                      <a:pPr algn="ctr"/>
                      <a:r>
                        <a:rPr sz="1100" b="0" dirty="0" err="1">
                          <a:solidFill>
                            <a:srgbClr val="3A2822"/>
                          </a:solidFill>
                          <a:latin typeface="+mn-lt"/>
                        </a:rPr>
                        <a:t>Активних</a:t>
                      </a:r>
                      <a:r>
                        <a:rPr sz="1100" b="0" dirty="0">
                          <a:solidFill>
                            <a:srgbClr val="3A2822"/>
                          </a:solidFill>
                          <a:latin typeface="+mn-lt"/>
                        </a:rPr>
                        <a:t> </a:t>
                      </a:r>
                      <a:r>
                        <a:rPr sz="1100" b="0" dirty="0" err="1">
                          <a:solidFill>
                            <a:srgbClr val="3A2822"/>
                          </a:solidFill>
                          <a:latin typeface="+mn-lt"/>
                        </a:rPr>
                        <a:t>на</a:t>
                      </a:r>
                      <a:r>
                        <a:rPr sz="1100" b="0" dirty="0">
                          <a:solidFill>
                            <a:srgbClr val="3A2822"/>
                          </a:solidFill>
                          <a:latin typeface="+mn-lt"/>
                        </a:rPr>
                        <a:t> </a:t>
                      </a:r>
                      <a:r>
                        <a:rPr sz="1100" b="0" dirty="0" err="1">
                          <a:solidFill>
                            <a:srgbClr val="3A2822"/>
                          </a:solidFill>
                          <a:latin typeface="+mn-lt"/>
                        </a:rPr>
                        <a:t>момент</a:t>
                      </a:r>
                      <a:r>
                        <a:rPr sz="1100" b="0" dirty="0">
                          <a:solidFill>
                            <a:srgbClr val="3A2822"/>
                          </a:solidFill>
                          <a:latin typeface="+mn-lt"/>
                        </a:rPr>
                        <a:t> </a:t>
                      </a:r>
                      <a:r>
                        <a:rPr sz="1100" b="0" dirty="0" err="1">
                          <a:solidFill>
                            <a:srgbClr val="3A2822"/>
                          </a:solidFill>
                          <a:latin typeface="+mn-lt"/>
                        </a:rPr>
                        <a:t>тесту</a:t>
                      </a:r>
                      <a:endParaRPr sz="1100" b="0" dirty="0">
                        <a:solidFill>
                          <a:srgbClr val="3A2822"/>
                        </a:solidFill>
                        <a:latin typeface="+mn-lt"/>
                      </a:endParaRPr>
                    </a:p>
                  </a:txBody>
                  <a:tcPr>
                    <a:solidFill>
                      <a:srgbClr val="FAE5E2"/>
                    </a:solidFill>
                  </a:tcPr>
                </a:tc>
                <a:tc>
                  <a:txBody>
                    <a:bodyPr/>
                    <a:lstStyle/>
                    <a:p>
                      <a:pPr algn="ctr"/>
                      <a:r>
                        <a:rPr sz="1100" b="0" dirty="0">
                          <a:solidFill>
                            <a:srgbClr val="3A2822"/>
                          </a:solidFill>
                          <a:latin typeface="+mn-lt"/>
                        </a:rPr>
                        <a:t>54</a:t>
                      </a:r>
                    </a:p>
                  </a:txBody>
                  <a:tcPr>
                    <a:solidFill>
                      <a:srgbClr val="FAE5E2"/>
                    </a:solidFill>
                  </a:tcPr>
                </a:tc>
                <a:extLst>
                  <a:ext uri="{0D108BD9-81ED-4DB2-BD59-A6C34878D82A}">
                    <a16:rowId xmlns:a16="http://schemas.microsoft.com/office/drawing/2014/main" val="10002"/>
                  </a:ext>
                </a:extLst>
              </a:tr>
              <a:tr h="457200">
                <a:tc>
                  <a:txBody>
                    <a:bodyPr/>
                    <a:lstStyle/>
                    <a:p>
                      <a:pPr algn="ctr"/>
                      <a:r>
                        <a:rPr sz="1100" b="0">
                          <a:solidFill>
                            <a:srgbClr val="3A2822"/>
                          </a:solidFill>
                          <a:latin typeface="+mn-lt"/>
                        </a:rPr>
                        <a:t>Уразливих плагінів (CVE)</a:t>
                      </a:r>
                    </a:p>
                  </a:txBody>
                  <a:tcPr>
                    <a:solidFill>
                      <a:srgbClr val="FAE5E2"/>
                    </a:solidFill>
                  </a:tcPr>
                </a:tc>
                <a:tc>
                  <a:txBody>
                    <a:bodyPr/>
                    <a:lstStyle/>
                    <a:p>
                      <a:pPr algn="ctr"/>
                      <a:r>
                        <a:rPr sz="1100" b="0" dirty="0">
                          <a:solidFill>
                            <a:srgbClr val="3A2822"/>
                          </a:solidFill>
                          <a:latin typeface="+mn-lt"/>
                        </a:rPr>
                        <a:t>51</a:t>
                      </a:r>
                    </a:p>
                  </a:txBody>
                  <a:tcPr>
                    <a:solidFill>
                      <a:srgbClr val="FAE5E2"/>
                    </a:solidFill>
                  </a:tcPr>
                </a:tc>
                <a:extLst>
                  <a:ext uri="{0D108BD9-81ED-4DB2-BD59-A6C34878D82A}">
                    <a16:rowId xmlns:a16="http://schemas.microsoft.com/office/drawing/2014/main" val="10003"/>
                  </a:ext>
                </a:extLst>
              </a:tr>
              <a:tr h="457200">
                <a:tc>
                  <a:txBody>
                    <a:bodyPr/>
                    <a:lstStyle/>
                    <a:p>
                      <a:pPr algn="ctr"/>
                      <a:r>
                        <a:rPr sz="1100" b="0">
                          <a:solidFill>
                            <a:srgbClr val="3A2822"/>
                          </a:solidFill>
                          <a:latin typeface="+mn-lt"/>
                        </a:rPr>
                        <a:t>Плагінів безпеки (тест)</a:t>
                      </a:r>
                    </a:p>
                  </a:txBody>
                  <a:tcPr>
                    <a:solidFill>
                      <a:srgbClr val="FAE5E2"/>
                    </a:solidFill>
                  </a:tcPr>
                </a:tc>
                <a:tc>
                  <a:txBody>
                    <a:bodyPr/>
                    <a:lstStyle/>
                    <a:p>
                      <a:pPr algn="ctr"/>
                      <a:r>
                        <a:rPr sz="1100" b="0" dirty="0">
                          <a:solidFill>
                            <a:srgbClr val="3A2822"/>
                          </a:solidFill>
                          <a:latin typeface="+mn-lt"/>
                        </a:rPr>
                        <a:t>11</a:t>
                      </a:r>
                    </a:p>
                  </a:txBody>
                  <a:tcPr>
                    <a:solidFill>
                      <a:srgbClr val="FAE5E2"/>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4872322" y="3905886"/>
            <a:ext cx="3147251" cy="554171"/>
          </a:xfrm>
          <a:prstGeom prst="rect">
            <a:avLst/>
          </a:prstGeom>
          <a:noFill/>
          <a:ln>
            <a:noFill/>
          </a:ln>
        </p:spPr>
        <p:txBody>
          <a:bodyPr wrap="square" lIns="45720" tIns="18288" rIns="45720" bIns="18288">
            <a:spAutoFit/>
          </a:bodyPr>
          <a:lstStyle/>
          <a:p>
            <a:pPr algn="just"/>
            <a:r>
              <a:rPr sz="1100" b="0" i="1" dirty="0" err="1">
                <a:solidFill>
                  <a:srgbClr val="E8D8D2"/>
                </a:solidFill>
              </a:rPr>
              <a:t>Плагіни</a:t>
            </a:r>
            <a:r>
              <a:rPr sz="1100" b="0" i="1" dirty="0">
                <a:solidFill>
                  <a:srgbClr val="E8D8D2"/>
                </a:solidFill>
              </a:rPr>
              <a:t> </a:t>
            </a:r>
            <a:r>
              <a:rPr sz="1100" b="0" i="1" dirty="0" err="1">
                <a:solidFill>
                  <a:srgbClr val="E8D8D2"/>
                </a:solidFill>
              </a:rPr>
              <a:t>безпеки</a:t>
            </a:r>
            <a:r>
              <a:rPr sz="1100" b="0" i="1" dirty="0">
                <a:solidFill>
                  <a:srgbClr val="E8D8D2"/>
                </a:solidFill>
              </a:rPr>
              <a:t> </a:t>
            </a:r>
            <a:r>
              <a:rPr sz="1100" b="0" i="1" dirty="0" err="1">
                <a:solidFill>
                  <a:srgbClr val="E8D8D2"/>
                </a:solidFill>
              </a:rPr>
              <a:t>активувалися</a:t>
            </a:r>
            <a:r>
              <a:rPr sz="1100" b="0" i="1" dirty="0">
                <a:solidFill>
                  <a:srgbClr val="E8D8D2"/>
                </a:solidFill>
              </a:rPr>
              <a:t> </a:t>
            </a:r>
            <a:r>
              <a:rPr sz="1100" b="0" i="1" dirty="0" err="1">
                <a:solidFill>
                  <a:srgbClr val="E8D8D2"/>
                </a:solidFill>
              </a:rPr>
              <a:t>почергово</a:t>
            </a:r>
            <a:endParaRPr sz="1100" b="0" i="1" dirty="0">
              <a:solidFill>
                <a:srgbClr val="E8D8D2"/>
              </a:solidFill>
            </a:endParaRPr>
          </a:p>
          <a:p>
            <a:pPr algn="just"/>
            <a:r>
              <a:rPr sz="1100" b="0" i="1" dirty="0">
                <a:solidFill>
                  <a:srgbClr val="E8D8D2"/>
                </a:solidFill>
              </a:rPr>
              <a:t>(</a:t>
            </a:r>
            <a:r>
              <a:rPr sz="1100" b="0" i="1" dirty="0" err="1">
                <a:solidFill>
                  <a:srgbClr val="E8D8D2"/>
                </a:solidFill>
              </a:rPr>
              <a:t>по</a:t>
            </a:r>
            <a:r>
              <a:rPr sz="1100" b="0" i="1" dirty="0">
                <a:solidFill>
                  <a:srgbClr val="E8D8D2"/>
                </a:solidFill>
              </a:rPr>
              <a:t> </a:t>
            </a:r>
            <a:r>
              <a:rPr sz="1100" b="0" i="1" dirty="0" err="1">
                <a:solidFill>
                  <a:srgbClr val="E8D8D2"/>
                </a:solidFill>
              </a:rPr>
              <a:t>одному</a:t>
            </a:r>
            <a:r>
              <a:rPr sz="1100" b="0" i="1" dirty="0">
                <a:solidFill>
                  <a:srgbClr val="E8D8D2"/>
                </a:solidFill>
              </a:rPr>
              <a:t>) </a:t>
            </a:r>
            <a:r>
              <a:rPr sz="1100" b="0" i="1" dirty="0" err="1">
                <a:solidFill>
                  <a:srgbClr val="E8D8D2"/>
                </a:solidFill>
              </a:rPr>
              <a:t>для</a:t>
            </a:r>
            <a:r>
              <a:rPr sz="1100" b="0" i="1" dirty="0">
                <a:solidFill>
                  <a:srgbClr val="E8D8D2"/>
                </a:solidFill>
              </a:rPr>
              <a:t> </a:t>
            </a:r>
            <a:r>
              <a:rPr sz="1100" b="0" i="1" dirty="0" err="1">
                <a:solidFill>
                  <a:srgbClr val="E8D8D2"/>
                </a:solidFill>
              </a:rPr>
              <a:t>забезпечення</a:t>
            </a:r>
            <a:r>
              <a:rPr sz="1100" b="0" i="1" dirty="0">
                <a:solidFill>
                  <a:srgbClr val="E8D8D2"/>
                </a:solidFill>
              </a:rPr>
              <a:t> </a:t>
            </a:r>
            <a:r>
              <a:rPr sz="1100" b="0" i="1" dirty="0" err="1">
                <a:solidFill>
                  <a:srgbClr val="E8D8D2"/>
                </a:solidFill>
              </a:rPr>
              <a:t>коректності</a:t>
            </a:r>
            <a:endParaRPr sz="1100" b="0" i="1" dirty="0">
              <a:solidFill>
                <a:srgbClr val="E8D8D2"/>
              </a:solidFill>
            </a:endParaRPr>
          </a:p>
          <a:p>
            <a:pPr algn="just"/>
            <a:r>
              <a:rPr sz="1100" b="0" i="1" dirty="0" err="1">
                <a:solidFill>
                  <a:srgbClr val="E8D8D2"/>
                </a:solidFill>
              </a:rPr>
              <a:t>вимірювань</a:t>
            </a:r>
            <a:r>
              <a:rPr sz="1100" b="0" i="1" dirty="0">
                <a:solidFill>
                  <a:srgbClr val="E8D8D2"/>
                </a:solidFill>
              </a:rPr>
              <a:t> </a:t>
            </a:r>
            <a:r>
              <a:rPr sz="1100" b="0" i="1" dirty="0" err="1">
                <a:solidFill>
                  <a:srgbClr val="E8D8D2"/>
                </a:solidFill>
              </a:rPr>
              <a:t>без</a:t>
            </a:r>
            <a:r>
              <a:rPr sz="1100" b="0" i="1" dirty="0">
                <a:solidFill>
                  <a:srgbClr val="E8D8D2"/>
                </a:solidFill>
              </a:rPr>
              <a:t> </a:t>
            </a:r>
            <a:r>
              <a:rPr sz="1100" b="0" i="1" dirty="0" err="1">
                <a:solidFill>
                  <a:srgbClr val="E8D8D2"/>
                </a:solidFill>
              </a:rPr>
              <a:t>взаємного</a:t>
            </a:r>
            <a:r>
              <a:rPr sz="1100" b="0" i="1" dirty="0">
                <a:solidFill>
                  <a:srgbClr val="E8D8D2"/>
                </a:solidFill>
              </a:rPr>
              <a:t> </a:t>
            </a:r>
            <a:r>
              <a:rPr sz="1100" b="0" i="1" dirty="0" err="1">
                <a:solidFill>
                  <a:srgbClr val="E8D8D2"/>
                </a:solidFill>
              </a:rPr>
              <a:t>впливу</a:t>
            </a:r>
            <a:r>
              <a:rPr sz="1100" b="0" i="1" dirty="0">
                <a:solidFill>
                  <a:srgbClr val="E8D8D2"/>
                </a:solidFill>
              </a:rPr>
              <a:t>.</a:t>
            </a:r>
          </a:p>
        </p:txBody>
      </p:sp>
      <p:pic>
        <p:nvPicPr>
          <p:cNvPr id="12" name="Рисунок 11" descr="Изображение выглядит как текст, снимок экрана, программное обеспечение&#10;&#10;Автоматически созданное описание">
            <a:extLst>
              <a:ext uri="{FF2B5EF4-FFF2-40B4-BE49-F238E27FC236}">
                <a16:creationId xmlns:a16="http://schemas.microsoft.com/office/drawing/2014/main" id="{C8599CF5-1EBB-D7D6-DF2E-CA95EC25A38D}"/>
              </a:ext>
            </a:extLst>
          </p:cNvPr>
          <p:cNvPicPr>
            <a:picLocks noChangeAspect="1"/>
          </p:cNvPicPr>
          <p:nvPr/>
        </p:nvPicPr>
        <p:blipFill>
          <a:blip r:embed="rId2"/>
          <a:stretch>
            <a:fillRect/>
          </a:stretch>
        </p:blipFill>
        <p:spPr>
          <a:xfrm>
            <a:off x="18997" y="4686301"/>
            <a:ext cx="4169908" cy="2169828"/>
          </a:xfrm>
          <a:prstGeom prst="rect">
            <a:avLst/>
          </a:prstGeom>
        </p:spPr>
      </p:pic>
      <p:pic>
        <p:nvPicPr>
          <p:cNvPr id="14" name="Рисунок 13" descr="Изображение выглядит как текст, программное обеспечение, Мультимедийное программное обеспечение, Значок на компьютере&#10;&#10;Автоматически созданное описание">
            <a:extLst>
              <a:ext uri="{FF2B5EF4-FFF2-40B4-BE49-F238E27FC236}">
                <a16:creationId xmlns:a16="http://schemas.microsoft.com/office/drawing/2014/main" id="{E393FDB7-814F-6CB9-A31E-381894048058}"/>
              </a:ext>
            </a:extLst>
          </p:cNvPr>
          <p:cNvPicPr>
            <a:picLocks noChangeAspect="1"/>
          </p:cNvPicPr>
          <p:nvPr/>
        </p:nvPicPr>
        <p:blipFill>
          <a:blip r:embed="rId3"/>
          <a:stretch>
            <a:fillRect/>
          </a:stretch>
        </p:blipFill>
        <p:spPr>
          <a:xfrm>
            <a:off x="3506152" y="4672590"/>
            <a:ext cx="2771775" cy="2062127"/>
          </a:xfrm>
          <a:prstGeom prst="rect">
            <a:avLst/>
          </a:prstGeom>
        </p:spPr>
      </p:pic>
      <p:pic>
        <p:nvPicPr>
          <p:cNvPr id="16" name="Рисунок 15" descr="Изображение выглядит как снимок экрана, текст, программное обеспечение, Мультимедийное программное обеспечение&#10;&#10;Автоматически созданное описание">
            <a:extLst>
              <a:ext uri="{FF2B5EF4-FFF2-40B4-BE49-F238E27FC236}">
                <a16:creationId xmlns:a16="http://schemas.microsoft.com/office/drawing/2014/main" id="{6D663FD7-9AD9-BD45-6B46-D310D44546CD}"/>
              </a:ext>
            </a:extLst>
          </p:cNvPr>
          <p:cNvPicPr>
            <a:picLocks noChangeAspect="1"/>
          </p:cNvPicPr>
          <p:nvPr/>
        </p:nvPicPr>
        <p:blipFill rotWithShape="1">
          <a:blip r:embed="rId4"/>
          <a:srcRect t="23071" r="-1740"/>
          <a:stretch/>
        </p:blipFill>
        <p:spPr>
          <a:xfrm>
            <a:off x="6066661" y="4967168"/>
            <a:ext cx="3208211" cy="147296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A2822"/>
        </a:solidFill>
        <a:effectLst/>
      </p:bgPr>
    </p:bg>
    <p:spTree>
      <p:nvGrpSpPr>
        <p:cNvPr id="1" name=""/>
        <p:cNvGrpSpPr/>
        <p:nvPr/>
      </p:nvGrpSpPr>
      <p:grpSpPr>
        <a:xfrm>
          <a:off x="0" y="0"/>
          <a:ext cx="0" cy="0"/>
          <a:chOff x="0" y="0"/>
          <a:chExt cx="0" cy="0"/>
        </a:xfrm>
      </p:grpSpPr>
      <p:sp>
        <p:nvSpPr>
          <p:cNvPr id="2" name="Rectangle 1"/>
          <p:cNvSpPr/>
          <p:nvPr/>
        </p:nvSpPr>
        <p:spPr>
          <a:xfrm>
            <a:off x="365760" y="0"/>
            <a:ext cx="54864" cy="6858000"/>
          </a:xfrm>
          <a:prstGeom prst="rect">
            <a:avLst/>
          </a:prstGeom>
          <a:solidFill>
            <a:srgbClr val="FF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0" y="0"/>
            <a:ext cx="548640" cy="685800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595360" y="0"/>
            <a:ext cx="548640" cy="2743200"/>
          </a:xfrm>
          <a:prstGeom prst="rect">
            <a:avLst/>
          </a:prstGeom>
          <a:solidFill>
            <a:srgbClr val="F88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5669" y="159385"/>
            <a:ext cx="7772400" cy="960263"/>
          </a:xfrm>
          <a:prstGeom prst="rect">
            <a:avLst/>
          </a:prstGeom>
          <a:noFill/>
          <a:ln>
            <a:noFill/>
          </a:ln>
        </p:spPr>
        <p:txBody>
          <a:bodyPr wrap="square" lIns="45720" tIns="18288" rIns="45720" bIns="18288">
            <a:spAutoFit/>
          </a:bodyPr>
          <a:lstStyle/>
          <a:p>
            <a:pPr algn="l"/>
            <a:r>
              <a:rPr lang="uk-UA" sz="3000" b="1" i="0" dirty="0">
                <a:solidFill>
                  <a:srgbClr val="FFFFFF"/>
                </a:solidFill>
                <a:latin typeface="Calibri"/>
              </a:rPr>
              <a:t>Результати проведення експерименту:</a:t>
            </a:r>
          </a:p>
          <a:p>
            <a:pPr algn="l"/>
            <a:r>
              <a:rPr sz="3000" b="1" i="0" dirty="0" err="1">
                <a:solidFill>
                  <a:srgbClr val="FFFFFF"/>
                </a:solidFill>
                <a:latin typeface="Calibri"/>
              </a:rPr>
              <a:t>Матриця</a:t>
            </a:r>
            <a:r>
              <a:rPr sz="3000" b="1" i="0" dirty="0">
                <a:solidFill>
                  <a:srgbClr val="FFFFFF"/>
                </a:solidFill>
                <a:latin typeface="Calibri"/>
              </a:rPr>
              <a:t> </a:t>
            </a:r>
            <a:r>
              <a:rPr sz="3000" b="1" i="0" dirty="0" err="1">
                <a:solidFill>
                  <a:srgbClr val="FFFFFF"/>
                </a:solidFill>
                <a:latin typeface="Calibri"/>
              </a:rPr>
              <a:t>детекції</a:t>
            </a:r>
            <a:r>
              <a:rPr sz="3000" b="1" i="0" dirty="0">
                <a:solidFill>
                  <a:srgbClr val="FFFFFF"/>
                </a:solidFill>
                <a:latin typeface="Calibri"/>
              </a:rPr>
              <a:t> </a:t>
            </a:r>
            <a:r>
              <a:rPr sz="3000" b="1" i="0" dirty="0" err="1">
                <a:solidFill>
                  <a:srgbClr val="FFFFFF"/>
                </a:solidFill>
                <a:latin typeface="Calibri"/>
              </a:rPr>
              <a:t>за</a:t>
            </a:r>
            <a:r>
              <a:rPr sz="3000" b="1" i="0" dirty="0">
                <a:solidFill>
                  <a:srgbClr val="FFFFFF"/>
                </a:solidFill>
                <a:latin typeface="Calibri"/>
              </a:rPr>
              <a:t> </a:t>
            </a:r>
            <a:r>
              <a:rPr sz="3000" b="1" i="0" dirty="0" err="1">
                <a:solidFill>
                  <a:srgbClr val="FFFFFF"/>
                </a:solidFill>
                <a:latin typeface="Calibri"/>
              </a:rPr>
              <a:t>типами</a:t>
            </a:r>
            <a:r>
              <a:rPr sz="3000" b="1" i="0" dirty="0">
                <a:solidFill>
                  <a:srgbClr val="FFFFFF"/>
                </a:solidFill>
                <a:latin typeface="Calibri"/>
              </a:rPr>
              <a:t> </a:t>
            </a:r>
            <a:r>
              <a:rPr sz="3000" b="1" i="0" dirty="0" err="1">
                <a:solidFill>
                  <a:srgbClr val="FFFFFF"/>
                </a:solidFill>
                <a:latin typeface="Calibri"/>
              </a:rPr>
              <a:t>загроз</a:t>
            </a:r>
            <a:endParaRPr sz="3000" b="1" i="0" dirty="0">
              <a:solidFill>
                <a:srgbClr val="FFFFFF"/>
              </a:solidFill>
              <a:latin typeface="Calibri"/>
            </a:endParaRPr>
          </a:p>
        </p:txBody>
      </p:sp>
      <p:sp>
        <p:nvSpPr>
          <p:cNvPr id="6" name="TextBox 5"/>
          <p:cNvSpPr txBox="1"/>
          <p:nvPr/>
        </p:nvSpPr>
        <p:spPr>
          <a:xfrm>
            <a:off x="1097280" y="1308886"/>
            <a:ext cx="7680960" cy="221599"/>
          </a:xfrm>
          <a:prstGeom prst="rect">
            <a:avLst/>
          </a:prstGeom>
          <a:noFill/>
          <a:ln>
            <a:noFill/>
          </a:ln>
        </p:spPr>
        <p:txBody>
          <a:bodyPr wrap="square" lIns="45720" tIns="18288" rIns="45720" bIns="18288">
            <a:spAutoFit/>
          </a:bodyPr>
          <a:lstStyle/>
          <a:p>
            <a:pPr algn="l"/>
            <a:r>
              <a:rPr lang="uk-UA" sz="1200" i="1" dirty="0" err="1">
                <a:solidFill>
                  <a:srgbClr val="E8D8D2"/>
                </a:solidFill>
              </a:rPr>
              <a:t>К</a:t>
            </a:r>
            <a:r>
              <a:rPr sz="1200" b="0" i="1" dirty="0" err="1">
                <a:solidFill>
                  <a:srgbClr val="E8D8D2"/>
                </a:solidFill>
              </a:rPr>
              <a:t>ількість</a:t>
            </a:r>
            <a:r>
              <a:rPr sz="1200" b="0" i="1" dirty="0">
                <a:solidFill>
                  <a:srgbClr val="E8D8D2"/>
                </a:solidFill>
              </a:rPr>
              <a:t> </a:t>
            </a:r>
            <a:r>
              <a:rPr sz="1200" b="0" i="1" dirty="0" err="1">
                <a:solidFill>
                  <a:srgbClr val="E8D8D2"/>
                </a:solidFill>
              </a:rPr>
              <a:t>виявлених</a:t>
            </a:r>
            <a:r>
              <a:rPr sz="1200" b="0" i="1" dirty="0">
                <a:solidFill>
                  <a:srgbClr val="E8D8D2"/>
                </a:solidFill>
              </a:rPr>
              <a:t> </a:t>
            </a:r>
            <a:r>
              <a:rPr sz="1200" b="0" i="1" dirty="0" err="1">
                <a:solidFill>
                  <a:srgbClr val="E8D8D2"/>
                </a:solidFill>
              </a:rPr>
              <a:t>уразливостей</a:t>
            </a:r>
            <a:r>
              <a:rPr sz="1200" b="0" i="1" dirty="0">
                <a:solidFill>
                  <a:srgbClr val="E8D8D2"/>
                </a:solidFill>
              </a:rPr>
              <a:t> </a:t>
            </a:r>
            <a:r>
              <a:rPr sz="1200" b="0" i="1" dirty="0" err="1">
                <a:solidFill>
                  <a:srgbClr val="E8D8D2"/>
                </a:solidFill>
              </a:rPr>
              <a:t>кожного</a:t>
            </a:r>
            <a:r>
              <a:rPr sz="1200" b="0" i="1" dirty="0">
                <a:solidFill>
                  <a:srgbClr val="E8D8D2"/>
                </a:solidFill>
              </a:rPr>
              <a:t> </a:t>
            </a:r>
            <a:r>
              <a:rPr sz="1200" b="0" i="1" dirty="0" err="1">
                <a:solidFill>
                  <a:srgbClr val="E8D8D2"/>
                </a:solidFill>
              </a:rPr>
              <a:t>типу</a:t>
            </a:r>
            <a:r>
              <a:rPr sz="1200" b="0" i="1" dirty="0">
                <a:solidFill>
                  <a:srgbClr val="E8D8D2"/>
                </a:solidFill>
              </a:rPr>
              <a:t> (</a:t>
            </a:r>
            <a:r>
              <a:rPr sz="1200" b="0" i="1" dirty="0" err="1">
                <a:solidFill>
                  <a:srgbClr val="E8D8D2"/>
                </a:solidFill>
              </a:rPr>
              <a:t>виявлено</a:t>
            </a:r>
            <a:r>
              <a:rPr sz="1200" b="0" i="1" dirty="0">
                <a:solidFill>
                  <a:srgbClr val="E8D8D2"/>
                </a:solidFill>
              </a:rPr>
              <a:t> / </a:t>
            </a:r>
            <a:r>
              <a:rPr sz="1200" b="0" i="1" dirty="0" err="1">
                <a:solidFill>
                  <a:srgbClr val="E8D8D2"/>
                </a:solidFill>
              </a:rPr>
              <a:t>усього</a:t>
            </a:r>
            <a:r>
              <a:rPr sz="1200" b="0" i="1" dirty="0">
                <a:solidFill>
                  <a:srgbClr val="E8D8D2"/>
                </a:solidFill>
              </a:rPr>
              <a:t>)</a:t>
            </a:r>
          </a:p>
        </p:txBody>
      </p:sp>
      <p:graphicFrame>
        <p:nvGraphicFramePr>
          <p:cNvPr id="7" name="Table 6"/>
          <p:cNvGraphicFramePr>
            <a:graphicFrameLocks noGrp="1"/>
          </p:cNvGraphicFramePr>
          <p:nvPr>
            <p:extLst>
              <p:ext uri="{D42A27DB-BD31-4B8C-83A1-F6EECF244321}">
                <p14:modId xmlns:p14="http://schemas.microsoft.com/office/powerpoint/2010/main" val="2853333478"/>
              </p:ext>
            </p:extLst>
          </p:nvPr>
        </p:nvGraphicFramePr>
        <p:xfrm>
          <a:off x="1105669" y="1669074"/>
          <a:ext cx="7054780" cy="4575808"/>
        </p:xfrm>
        <a:graphic>
          <a:graphicData uri="http://schemas.openxmlformats.org/drawingml/2006/table">
            <a:tbl>
              <a:tblPr firstRow="1" bandRow="1">
                <a:tableStyleId>{5C22544A-7EE6-4342-B048-85BDC9FD1C3A}</a:tableStyleId>
              </a:tblPr>
              <a:tblGrid>
                <a:gridCol w="705478">
                  <a:extLst>
                    <a:ext uri="{9D8B030D-6E8A-4147-A177-3AD203B41FA5}">
                      <a16:colId xmlns:a16="http://schemas.microsoft.com/office/drawing/2014/main" val="20000"/>
                    </a:ext>
                  </a:extLst>
                </a:gridCol>
                <a:gridCol w="989204">
                  <a:extLst>
                    <a:ext uri="{9D8B030D-6E8A-4147-A177-3AD203B41FA5}">
                      <a16:colId xmlns:a16="http://schemas.microsoft.com/office/drawing/2014/main" val="20001"/>
                    </a:ext>
                  </a:extLst>
                </a:gridCol>
                <a:gridCol w="614363">
                  <a:extLst>
                    <a:ext uri="{9D8B030D-6E8A-4147-A177-3AD203B41FA5}">
                      <a16:colId xmlns:a16="http://schemas.microsoft.com/office/drawing/2014/main" val="20002"/>
                    </a:ext>
                  </a:extLst>
                </a:gridCol>
                <a:gridCol w="671512">
                  <a:extLst>
                    <a:ext uri="{9D8B030D-6E8A-4147-A177-3AD203B41FA5}">
                      <a16:colId xmlns:a16="http://schemas.microsoft.com/office/drawing/2014/main" val="20003"/>
                    </a:ext>
                  </a:extLst>
                </a:gridCol>
                <a:gridCol w="671513">
                  <a:extLst>
                    <a:ext uri="{9D8B030D-6E8A-4147-A177-3AD203B41FA5}">
                      <a16:colId xmlns:a16="http://schemas.microsoft.com/office/drawing/2014/main" val="20004"/>
                    </a:ext>
                  </a:extLst>
                </a:gridCol>
                <a:gridCol w="771525">
                  <a:extLst>
                    <a:ext uri="{9D8B030D-6E8A-4147-A177-3AD203B41FA5}">
                      <a16:colId xmlns:a16="http://schemas.microsoft.com/office/drawing/2014/main" val="20005"/>
                    </a:ext>
                  </a:extLst>
                </a:gridCol>
                <a:gridCol w="671512">
                  <a:extLst>
                    <a:ext uri="{9D8B030D-6E8A-4147-A177-3AD203B41FA5}">
                      <a16:colId xmlns:a16="http://schemas.microsoft.com/office/drawing/2014/main" val="20006"/>
                    </a:ext>
                  </a:extLst>
                </a:gridCol>
                <a:gridCol w="657225">
                  <a:extLst>
                    <a:ext uri="{9D8B030D-6E8A-4147-A177-3AD203B41FA5}">
                      <a16:colId xmlns:a16="http://schemas.microsoft.com/office/drawing/2014/main" val="20007"/>
                    </a:ext>
                  </a:extLst>
                </a:gridCol>
                <a:gridCol w="596970">
                  <a:extLst>
                    <a:ext uri="{9D8B030D-6E8A-4147-A177-3AD203B41FA5}">
                      <a16:colId xmlns:a16="http://schemas.microsoft.com/office/drawing/2014/main" val="20008"/>
                    </a:ext>
                  </a:extLst>
                </a:gridCol>
                <a:gridCol w="705478">
                  <a:extLst>
                    <a:ext uri="{9D8B030D-6E8A-4147-A177-3AD203B41FA5}">
                      <a16:colId xmlns:a16="http://schemas.microsoft.com/office/drawing/2014/main" val="20009"/>
                    </a:ext>
                  </a:extLst>
                </a:gridCol>
              </a:tblGrid>
              <a:tr h="399232">
                <a:tc>
                  <a:txBody>
                    <a:bodyPr/>
                    <a:lstStyle/>
                    <a:p>
                      <a:pPr algn="ctr"/>
                      <a:r>
                        <a:rPr sz="1000" b="1" dirty="0" err="1">
                          <a:solidFill>
                            <a:srgbClr val="FFFFFF"/>
                          </a:solidFill>
                          <a:latin typeface="+mn-lt"/>
                        </a:rPr>
                        <a:t>Код</a:t>
                      </a:r>
                      <a:endParaRPr sz="1000" b="1" dirty="0">
                        <a:solidFill>
                          <a:srgbClr val="FFFFFF"/>
                        </a:solidFill>
                        <a:latin typeface="+mn-lt"/>
                      </a:endParaRPr>
                    </a:p>
                  </a:txBody>
                  <a:tcPr>
                    <a:solidFill>
                      <a:srgbClr val="E74C3C"/>
                    </a:solidFill>
                  </a:tcPr>
                </a:tc>
                <a:tc>
                  <a:txBody>
                    <a:bodyPr/>
                    <a:lstStyle/>
                    <a:p>
                      <a:pPr algn="ctr"/>
                      <a:r>
                        <a:rPr sz="1000" b="1">
                          <a:solidFill>
                            <a:srgbClr val="FFFFFF"/>
                          </a:solidFill>
                          <a:latin typeface="+mn-lt"/>
                        </a:rPr>
                        <a:t>Плагін</a:t>
                      </a:r>
                    </a:p>
                  </a:txBody>
                  <a:tcPr>
                    <a:solidFill>
                      <a:srgbClr val="E74C3C"/>
                    </a:solidFill>
                  </a:tcPr>
                </a:tc>
                <a:tc>
                  <a:txBody>
                    <a:bodyPr/>
                    <a:lstStyle/>
                    <a:p>
                      <a:pPr algn="ctr"/>
                      <a:r>
                        <a:rPr sz="1000" b="1">
                          <a:solidFill>
                            <a:srgbClr val="FFFFFF"/>
                          </a:solidFill>
                          <a:latin typeface="+mn-lt"/>
                        </a:rPr>
                        <a:t>XSS
(19)</a:t>
                      </a:r>
                    </a:p>
                  </a:txBody>
                  <a:tcPr>
                    <a:solidFill>
                      <a:srgbClr val="E74C3C"/>
                    </a:solidFill>
                  </a:tcPr>
                </a:tc>
                <a:tc>
                  <a:txBody>
                    <a:bodyPr/>
                    <a:lstStyle/>
                    <a:p>
                      <a:pPr algn="ctr"/>
                      <a:r>
                        <a:rPr sz="1000" b="1">
                          <a:solidFill>
                            <a:srgbClr val="FFFFFF"/>
                          </a:solidFill>
                          <a:latin typeface="+mn-lt"/>
                        </a:rPr>
                        <a:t>SQLi
(8)</a:t>
                      </a:r>
                    </a:p>
                  </a:txBody>
                  <a:tcPr>
                    <a:solidFill>
                      <a:srgbClr val="E74C3C"/>
                    </a:solidFill>
                  </a:tcPr>
                </a:tc>
                <a:tc>
                  <a:txBody>
                    <a:bodyPr/>
                    <a:lstStyle/>
                    <a:p>
                      <a:pPr algn="ctr"/>
                      <a:r>
                        <a:rPr sz="1000" b="1">
                          <a:solidFill>
                            <a:srgbClr val="FFFFFF"/>
                          </a:solidFill>
                          <a:latin typeface="+mn-lt"/>
                        </a:rPr>
                        <a:t>RCE
(7)</a:t>
                      </a:r>
                    </a:p>
                  </a:txBody>
                  <a:tcPr>
                    <a:solidFill>
                      <a:srgbClr val="E74C3C"/>
                    </a:solidFill>
                  </a:tcPr>
                </a:tc>
                <a:tc>
                  <a:txBody>
                    <a:bodyPr/>
                    <a:lstStyle/>
                    <a:p>
                      <a:pPr algn="ctr"/>
                      <a:r>
                        <a:rPr sz="1000" b="1">
                          <a:solidFill>
                            <a:srgbClr val="FFFFFF"/>
                          </a:solidFill>
                          <a:latin typeface="+mn-lt"/>
                        </a:rPr>
                        <a:t>CSRF
(5)</a:t>
                      </a:r>
                    </a:p>
                  </a:txBody>
                  <a:tcPr>
                    <a:solidFill>
                      <a:srgbClr val="E74C3C"/>
                    </a:solidFill>
                  </a:tcPr>
                </a:tc>
                <a:tc>
                  <a:txBody>
                    <a:bodyPr/>
                    <a:lstStyle/>
                    <a:p>
                      <a:pPr algn="ctr"/>
                      <a:r>
                        <a:rPr sz="1000" b="1">
                          <a:solidFill>
                            <a:srgbClr val="FFFFFF"/>
                          </a:solidFill>
                          <a:latin typeface="+mn-lt"/>
                        </a:rPr>
                        <a:t>Auth
(5)</a:t>
                      </a:r>
                    </a:p>
                  </a:txBody>
                  <a:tcPr>
                    <a:solidFill>
                      <a:srgbClr val="E74C3C"/>
                    </a:solidFill>
                  </a:tcPr>
                </a:tc>
                <a:tc>
                  <a:txBody>
                    <a:bodyPr/>
                    <a:lstStyle/>
                    <a:p>
                      <a:pPr algn="ctr"/>
                      <a:r>
                        <a:rPr sz="1000" b="1">
                          <a:solidFill>
                            <a:srgbClr val="FFFFFF"/>
                          </a:solidFill>
                          <a:latin typeface="+mn-lt"/>
                        </a:rPr>
                        <a:t>FI
(4)</a:t>
                      </a:r>
                    </a:p>
                  </a:txBody>
                  <a:tcPr>
                    <a:solidFill>
                      <a:srgbClr val="E74C3C"/>
                    </a:solidFill>
                  </a:tcPr>
                </a:tc>
                <a:tc>
                  <a:txBody>
                    <a:bodyPr/>
                    <a:lstStyle/>
                    <a:p>
                      <a:pPr algn="ctr"/>
                      <a:r>
                        <a:rPr sz="1000" b="1">
                          <a:solidFill>
                            <a:srgbClr val="FFFFFF"/>
                          </a:solidFill>
                          <a:latin typeface="+mn-lt"/>
                        </a:rPr>
                        <a:t>Інші
(3)</a:t>
                      </a:r>
                    </a:p>
                  </a:txBody>
                  <a:tcPr>
                    <a:solidFill>
                      <a:srgbClr val="E74C3C"/>
                    </a:solidFill>
                  </a:tcPr>
                </a:tc>
                <a:tc>
                  <a:txBody>
                    <a:bodyPr/>
                    <a:lstStyle/>
                    <a:p>
                      <a:pPr algn="ctr"/>
                      <a:r>
                        <a:rPr sz="1000" b="1">
                          <a:solidFill>
                            <a:srgbClr val="FFFFFF"/>
                          </a:solidFill>
                          <a:latin typeface="+mn-lt"/>
                        </a:rPr>
                        <a:t>Усього</a:t>
                      </a:r>
                    </a:p>
                  </a:txBody>
                  <a:tcPr>
                    <a:solidFill>
                      <a:srgbClr val="E74C3C"/>
                    </a:solidFill>
                  </a:tcPr>
                </a:tc>
                <a:extLst>
                  <a:ext uri="{0D108BD9-81ED-4DB2-BD59-A6C34878D82A}">
                    <a16:rowId xmlns:a16="http://schemas.microsoft.com/office/drawing/2014/main" val="10000"/>
                  </a:ext>
                </a:extLst>
              </a:tr>
              <a:tr h="372360">
                <a:tc>
                  <a:txBody>
                    <a:bodyPr/>
                    <a:lstStyle/>
                    <a:p>
                      <a:pPr algn="ctr"/>
                      <a:r>
                        <a:rPr sz="1000" b="0">
                          <a:solidFill>
                            <a:srgbClr val="3A2822"/>
                          </a:solidFill>
                          <a:latin typeface="+mn-lt"/>
                        </a:rPr>
                        <a:t>A1</a:t>
                      </a:r>
                    </a:p>
                  </a:txBody>
                  <a:tcPr>
                    <a:solidFill>
                      <a:srgbClr val="FAE5E2"/>
                    </a:solidFill>
                  </a:tcPr>
                </a:tc>
                <a:tc>
                  <a:txBody>
                    <a:bodyPr/>
                    <a:lstStyle/>
                    <a:p>
                      <a:pPr algn="ctr"/>
                      <a:r>
                        <a:rPr sz="1000" b="0" dirty="0" err="1">
                          <a:solidFill>
                            <a:srgbClr val="3A2822"/>
                          </a:solidFill>
                          <a:latin typeface="+mn-lt"/>
                        </a:rPr>
                        <a:t>Wordfence</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14</a:t>
                      </a:r>
                    </a:p>
                  </a:txBody>
                  <a:tcPr>
                    <a:solidFill>
                      <a:srgbClr val="FAE5E2"/>
                    </a:solidFill>
                  </a:tcPr>
                </a:tc>
                <a:tc>
                  <a:txBody>
                    <a:bodyPr/>
                    <a:lstStyle/>
                    <a:p>
                      <a:pPr algn="ctr"/>
                      <a:r>
                        <a:rPr sz="1000" b="0">
                          <a:solidFill>
                            <a:srgbClr val="3A2822"/>
                          </a:solidFill>
                          <a:latin typeface="+mn-lt"/>
                        </a:rPr>
                        <a:t>6</a:t>
                      </a:r>
                    </a:p>
                  </a:txBody>
                  <a:tcPr>
                    <a:solidFill>
                      <a:srgbClr val="FAE5E2"/>
                    </a:solidFill>
                  </a:tcPr>
                </a:tc>
                <a:tc>
                  <a:txBody>
                    <a:bodyPr/>
                    <a:lstStyle/>
                    <a:p>
                      <a:pPr algn="ctr"/>
                      <a:r>
                        <a:rPr sz="1000" b="0">
                          <a:solidFill>
                            <a:srgbClr val="3A2822"/>
                          </a:solidFill>
                          <a:latin typeface="+mn-lt"/>
                        </a:rPr>
                        <a:t>5</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38/51</a:t>
                      </a:r>
                    </a:p>
                  </a:txBody>
                  <a:tcPr>
                    <a:solidFill>
                      <a:srgbClr val="FAE5E2"/>
                    </a:solidFill>
                  </a:tcPr>
                </a:tc>
                <a:extLst>
                  <a:ext uri="{0D108BD9-81ED-4DB2-BD59-A6C34878D82A}">
                    <a16:rowId xmlns:a16="http://schemas.microsoft.com/office/drawing/2014/main" val="10001"/>
                  </a:ext>
                </a:extLst>
              </a:tr>
              <a:tr h="372360">
                <a:tc>
                  <a:txBody>
                    <a:bodyPr/>
                    <a:lstStyle/>
                    <a:p>
                      <a:pPr algn="ctr"/>
                      <a:r>
                        <a:rPr sz="1000" b="0">
                          <a:solidFill>
                            <a:srgbClr val="3A2822"/>
                          </a:solidFill>
                          <a:latin typeface="+mn-lt"/>
                        </a:rPr>
                        <a:t>A2</a:t>
                      </a:r>
                    </a:p>
                  </a:txBody>
                  <a:tcPr>
                    <a:solidFill>
                      <a:srgbClr val="FAE5E2"/>
                    </a:solidFill>
                  </a:tcPr>
                </a:tc>
                <a:tc>
                  <a:txBody>
                    <a:bodyPr/>
                    <a:lstStyle/>
                    <a:p>
                      <a:pPr algn="ctr"/>
                      <a:r>
                        <a:rPr sz="1000" b="0">
                          <a:solidFill>
                            <a:srgbClr val="3A2822"/>
                          </a:solidFill>
                          <a:latin typeface="+mn-lt"/>
                        </a:rPr>
                        <a:t>Sucuri</a:t>
                      </a:r>
                    </a:p>
                  </a:txBody>
                  <a:tcPr>
                    <a:solidFill>
                      <a:srgbClr val="FAE5E2"/>
                    </a:solidFill>
                  </a:tcPr>
                </a:tc>
                <a:tc>
                  <a:txBody>
                    <a:bodyPr/>
                    <a:lstStyle/>
                    <a:p>
                      <a:pPr algn="ctr"/>
                      <a:r>
                        <a:rPr sz="1000" b="0" dirty="0">
                          <a:solidFill>
                            <a:srgbClr val="3A2822"/>
                          </a:solidFill>
                          <a:latin typeface="+mn-lt"/>
                        </a:rPr>
                        <a:t>17</a:t>
                      </a:r>
                    </a:p>
                  </a:txBody>
                  <a:tcPr>
                    <a:solidFill>
                      <a:srgbClr val="FAE5E2"/>
                    </a:solidFill>
                  </a:tcPr>
                </a:tc>
                <a:tc>
                  <a:txBody>
                    <a:bodyPr/>
                    <a:lstStyle/>
                    <a:p>
                      <a:pPr algn="ctr"/>
                      <a:r>
                        <a:rPr sz="1000" b="0">
                          <a:solidFill>
                            <a:srgbClr val="3A2822"/>
                          </a:solidFill>
                          <a:latin typeface="+mn-lt"/>
                        </a:rPr>
                        <a:t>7</a:t>
                      </a:r>
                    </a:p>
                  </a:txBody>
                  <a:tcPr>
                    <a:solidFill>
                      <a:srgbClr val="FAE5E2"/>
                    </a:solidFill>
                  </a:tcPr>
                </a:tc>
                <a:tc>
                  <a:txBody>
                    <a:bodyPr/>
                    <a:lstStyle/>
                    <a:p>
                      <a:pPr algn="ctr"/>
                      <a:r>
                        <a:rPr sz="1000" b="0">
                          <a:solidFill>
                            <a:srgbClr val="3A2822"/>
                          </a:solidFill>
                          <a:latin typeface="+mn-lt"/>
                        </a:rPr>
                        <a:t>5</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43/51</a:t>
                      </a:r>
                    </a:p>
                  </a:txBody>
                  <a:tcPr>
                    <a:solidFill>
                      <a:srgbClr val="FAE5E2"/>
                    </a:solidFill>
                  </a:tcPr>
                </a:tc>
                <a:extLst>
                  <a:ext uri="{0D108BD9-81ED-4DB2-BD59-A6C34878D82A}">
                    <a16:rowId xmlns:a16="http://schemas.microsoft.com/office/drawing/2014/main" val="10002"/>
                  </a:ext>
                </a:extLst>
              </a:tr>
              <a:tr h="399232">
                <a:tc>
                  <a:txBody>
                    <a:bodyPr/>
                    <a:lstStyle/>
                    <a:p>
                      <a:pPr algn="ctr"/>
                      <a:r>
                        <a:rPr sz="1000" b="0">
                          <a:solidFill>
                            <a:srgbClr val="3A2822"/>
                          </a:solidFill>
                          <a:latin typeface="+mn-lt"/>
                        </a:rPr>
                        <a:t>A3</a:t>
                      </a:r>
                    </a:p>
                  </a:txBody>
                  <a:tcPr>
                    <a:solidFill>
                      <a:srgbClr val="FAE5E2"/>
                    </a:solidFill>
                  </a:tcPr>
                </a:tc>
                <a:tc>
                  <a:txBody>
                    <a:bodyPr/>
                    <a:lstStyle/>
                    <a:p>
                      <a:pPr algn="ctr"/>
                      <a:r>
                        <a:rPr sz="1000" b="0">
                          <a:solidFill>
                            <a:srgbClr val="3A2822"/>
                          </a:solidFill>
                          <a:latin typeface="+mn-lt"/>
                        </a:rPr>
                        <a:t>Solid Security</a:t>
                      </a:r>
                    </a:p>
                  </a:txBody>
                  <a:tcPr>
                    <a:solidFill>
                      <a:srgbClr val="FAE5E2"/>
                    </a:solidFill>
                  </a:tcPr>
                </a:tc>
                <a:tc>
                  <a:txBody>
                    <a:bodyPr/>
                    <a:lstStyle/>
                    <a:p>
                      <a:pPr algn="ctr"/>
                      <a:r>
                        <a:rPr sz="1000" b="0" dirty="0">
                          <a:solidFill>
                            <a:srgbClr val="3A2822"/>
                          </a:solidFill>
                          <a:latin typeface="+mn-lt"/>
                        </a:rPr>
                        <a:t>12</a:t>
                      </a:r>
                    </a:p>
                  </a:txBody>
                  <a:tcPr>
                    <a:solidFill>
                      <a:srgbClr val="FAE5E2"/>
                    </a:solidFill>
                  </a:tcPr>
                </a:tc>
                <a:tc>
                  <a:txBody>
                    <a:bodyPr/>
                    <a:lstStyle/>
                    <a:p>
                      <a:pPr algn="ctr"/>
                      <a:r>
                        <a:rPr sz="1000" b="0">
                          <a:solidFill>
                            <a:srgbClr val="3A2822"/>
                          </a:solidFill>
                          <a:latin typeface="+mn-lt"/>
                        </a:rPr>
                        <a:t>5</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32/51</a:t>
                      </a:r>
                    </a:p>
                  </a:txBody>
                  <a:tcPr>
                    <a:solidFill>
                      <a:srgbClr val="FAE5E2"/>
                    </a:solidFill>
                  </a:tcPr>
                </a:tc>
                <a:extLst>
                  <a:ext uri="{0D108BD9-81ED-4DB2-BD59-A6C34878D82A}">
                    <a16:rowId xmlns:a16="http://schemas.microsoft.com/office/drawing/2014/main" val="10003"/>
                  </a:ext>
                </a:extLst>
              </a:tr>
              <a:tr h="372360">
                <a:tc>
                  <a:txBody>
                    <a:bodyPr/>
                    <a:lstStyle/>
                    <a:p>
                      <a:pPr algn="ctr"/>
                      <a:r>
                        <a:rPr sz="1000" b="0">
                          <a:solidFill>
                            <a:srgbClr val="3A2822"/>
                          </a:solidFill>
                          <a:latin typeface="+mn-lt"/>
                        </a:rPr>
                        <a:t>A4</a:t>
                      </a:r>
                    </a:p>
                  </a:txBody>
                  <a:tcPr>
                    <a:solidFill>
                      <a:srgbClr val="FAE5E2"/>
                    </a:solidFill>
                  </a:tcPr>
                </a:tc>
                <a:tc>
                  <a:txBody>
                    <a:bodyPr/>
                    <a:lstStyle/>
                    <a:p>
                      <a:pPr algn="ctr"/>
                      <a:r>
                        <a:rPr sz="1000" b="0">
                          <a:solidFill>
                            <a:srgbClr val="3A2822"/>
                          </a:solidFill>
                          <a:latin typeface="+mn-lt"/>
                        </a:rPr>
                        <a:t>WP Cerber</a:t>
                      </a:r>
                    </a:p>
                  </a:txBody>
                  <a:tcPr>
                    <a:solidFill>
                      <a:srgbClr val="FAE5E2"/>
                    </a:solidFill>
                  </a:tcPr>
                </a:tc>
                <a:tc>
                  <a:txBody>
                    <a:bodyPr/>
                    <a:lstStyle/>
                    <a:p>
                      <a:pPr algn="ctr"/>
                      <a:r>
                        <a:rPr sz="1000" b="0">
                          <a:solidFill>
                            <a:srgbClr val="3A2822"/>
                          </a:solidFill>
                          <a:latin typeface="+mn-lt"/>
                        </a:rPr>
                        <a:t>13</a:t>
                      </a:r>
                    </a:p>
                  </a:txBody>
                  <a:tcPr>
                    <a:solidFill>
                      <a:srgbClr val="FAE5E2"/>
                    </a:solidFill>
                  </a:tcPr>
                </a:tc>
                <a:tc>
                  <a:txBody>
                    <a:bodyPr/>
                    <a:lstStyle/>
                    <a:p>
                      <a:pPr algn="ctr"/>
                      <a:r>
                        <a:rPr sz="1000" b="0" dirty="0">
                          <a:solidFill>
                            <a:srgbClr val="3A2822"/>
                          </a:solidFill>
                          <a:latin typeface="+mn-lt"/>
                        </a:rPr>
                        <a:t>6</a:t>
                      </a:r>
                    </a:p>
                  </a:txBody>
                  <a:tcPr>
                    <a:solidFill>
                      <a:srgbClr val="FAE5E2"/>
                    </a:solidFill>
                  </a:tcPr>
                </a:tc>
                <a:tc>
                  <a:txBody>
                    <a:bodyPr/>
                    <a:lstStyle/>
                    <a:p>
                      <a:pPr algn="ctr"/>
                      <a:r>
                        <a:rPr sz="1000" b="0" dirty="0">
                          <a:solidFill>
                            <a:srgbClr val="3A2822"/>
                          </a:solidFill>
                          <a:latin typeface="+mn-lt"/>
                        </a:rPr>
                        <a:t>4</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34/51</a:t>
                      </a:r>
                    </a:p>
                  </a:txBody>
                  <a:tcPr>
                    <a:solidFill>
                      <a:srgbClr val="FAE5E2"/>
                    </a:solidFill>
                  </a:tcPr>
                </a:tc>
                <a:extLst>
                  <a:ext uri="{0D108BD9-81ED-4DB2-BD59-A6C34878D82A}">
                    <a16:rowId xmlns:a16="http://schemas.microsoft.com/office/drawing/2014/main" val="10004"/>
                  </a:ext>
                </a:extLst>
              </a:tr>
              <a:tr h="372360">
                <a:tc>
                  <a:txBody>
                    <a:bodyPr/>
                    <a:lstStyle/>
                    <a:p>
                      <a:pPr algn="ctr"/>
                      <a:r>
                        <a:rPr sz="1000" b="0">
                          <a:solidFill>
                            <a:srgbClr val="3A2822"/>
                          </a:solidFill>
                          <a:latin typeface="+mn-lt"/>
                        </a:rPr>
                        <a:t>A5</a:t>
                      </a:r>
                    </a:p>
                  </a:txBody>
                  <a:tcPr>
                    <a:solidFill>
                      <a:srgbClr val="FAE5E2"/>
                    </a:solidFill>
                  </a:tcPr>
                </a:tc>
                <a:tc>
                  <a:txBody>
                    <a:bodyPr/>
                    <a:lstStyle/>
                    <a:p>
                      <a:pPr algn="ctr"/>
                      <a:r>
                        <a:rPr sz="1000" b="0">
                          <a:solidFill>
                            <a:srgbClr val="3A2822"/>
                          </a:solidFill>
                          <a:latin typeface="+mn-lt"/>
                        </a:rPr>
                        <a:t>MalCare</a:t>
                      </a:r>
                    </a:p>
                  </a:txBody>
                  <a:tcPr>
                    <a:solidFill>
                      <a:srgbClr val="FAE5E2"/>
                    </a:solidFill>
                  </a:tcPr>
                </a:tc>
                <a:tc>
                  <a:txBody>
                    <a:bodyPr/>
                    <a:lstStyle/>
                    <a:p>
                      <a:pPr algn="ctr"/>
                      <a:r>
                        <a:rPr sz="1000" b="0">
                          <a:solidFill>
                            <a:srgbClr val="3A2822"/>
                          </a:solidFill>
                          <a:latin typeface="+mn-lt"/>
                        </a:rPr>
                        <a:t>18</a:t>
                      </a:r>
                    </a:p>
                  </a:txBody>
                  <a:tcPr>
                    <a:solidFill>
                      <a:srgbClr val="FAE5E2"/>
                    </a:solidFill>
                  </a:tcPr>
                </a:tc>
                <a:tc>
                  <a:txBody>
                    <a:bodyPr/>
                    <a:lstStyle/>
                    <a:p>
                      <a:pPr algn="ctr"/>
                      <a:r>
                        <a:rPr sz="1000" b="0">
                          <a:solidFill>
                            <a:srgbClr val="3A2822"/>
                          </a:solidFill>
                          <a:latin typeface="+mn-lt"/>
                        </a:rPr>
                        <a:t>8</a:t>
                      </a:r>
                    </a:p>
                  </a:txBody>
                  <a:tcPr>
                    <a:solidFill>
                      <a:srgbClr val="FAE5E2"/>
                    </a:solidFill>
                  </a:tcPr>
                </a:tc>
                <a:tc>
                  <a:txBody>
                    <a:bodyPr/>
                    <a:lstStyle/>
                    <a:p>
                      <a:pPr algn="ctr"/>
                      <a:r>
                        <a:rPr sz="1000" b="0">
                          <a:solidFill>
                            <a:srgbClr val="3A2822"/>
                          </a:solidFill>
                          <a:latin typeface="+mn-lt"/>
                        </a:rPr>
                        <a:t>6</a:t>
                      </a:r>
                    </a:p>
                  </a:txBody>
                  <a:tcPr>
                    <a:solidFill>
                      <a:srgbClr val="FAE5E2"/>
                    </a:solidFill>
                  </a:tcPr>
                </a:tc>
                <a:tc>
                  <a:txBody>
                    <a:bodyPr/>
                    <a:lstStyle/>
                    <a:p>
                      <a:pPr algn="ctr"/>
                      <a:r>
                        <a:rPr sz="1000" b="0" dirty="0">
                          <a:solidFill>
                            <a:srgbClr val="3A2822"/>
                          </a:solidFill>
                          <a:latin typeface="+mn-lt"/>
                        </a:rPr>
                        <a:t>5</a:t>
                      </a:r>
                    </a:p>
                  </a:txBody>
                  <a:tcPr>
                    <a:solidFill>
                      <a:srgbClr val="FAE5E2"/>
                    </a:solidFill>
                  </a:tcPr>
                </a:tc>
                <a:tc>
                  <a:txBody>
                    <a:bodyPr/>
                    <a:lstStyle/>
                    <a:p>
                      <a:pPr algn="ctr"/>
                      <a:r>
                        <a:rPr sz="1000" b="0">
                          <a:solidFill>
                            <a:srgbClr val="3A2822"/>
                          </a:solidFill>
                          <a:latin typeface="+mn-lt"/>
                        </a:rPr>
                        <a:t>5</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49/51</a:t>
                      </a:r>
                    </a:p>
                  </a:txBody>
                  <a:tcPr>
                    <a:solidFill>
                      <a:srgbClr val="FAE5E2"/>
                    </a:solidFill>
                  </a:tcPr>
                </a:tc>
                <a:extLst>
                  <a:ext uri="{0D108BD9-81ED-4DB2-BD59-A6C34878D82A}">
                    <a16:rowId xmlns:a16="http://schemas.microsoft.com/office/drawing/2014/main" val="10005"/>
                  </a:ext>
                </a:extLst>
              </a:tr>
              <a:tr h="372360">
                <a:tc>
                  <a:txBody>
                    <a:bodyPr/>
                    <a:lstStyle/>
                    <a:p>
                      <a:pPr algn="ctr"/>
                      <a:r>
                        <a:rPr sz="1000" b="0">
                          <a:solidFill>
                            <a:srgbClr val="3A2822"/>
                          </a:solidFill>
                          <a:latin typeface="+mn-lt"/>
                        </a:rPr>
                        <a:t>A6</a:t>
                      </a:r>
                    </a:p>
                  </a:txBody>
                  <a:tcPr>
                    <a:solidFill>
                      <a:srgbClr val="FAE5E2"/>
                    </a:solidFill>
                  </a:tcPr>
                </a:tc>
                <a:tc>
                  <a:txBody>
                    <a:bodyPr/>
                    <a:lstStyle/>
                    <a:p>
                      <a:pPr algn="ctr"/>
                      <a:r>
                        <a:rPr sz="1000" b="0" dirty="0" err="1">
                          <a:solidFill>
                            <a:srgbClr val="3A2822"/>
                          </a:solidFill>
                          <a:latin typeface="+mn-lt"/>
                        </a:rPr>
                        <a:t>SecuPress</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16</a:t>
                      </a:r>
                    </a:p>
                  </a:txBody>
                  <a:tcPr>
                    <a:solidFill>
                      <a:srgbClr val="FAE5E2"/>
                    </a:solidFill>
                  </a:tcPr>
                </a:tc>
                <a:tc>
                  <a:txBody>
                    <a:bodyPr/>
                    <a:lstStyle/>
                    <a:p>
                      <a:pPr algn="ctr"/>
                      <a:r>
                        <a:rPr sz="1000" b="0">
                          <a:solidFill>
                            <a:srgbClr val="3A2822"/>
                          </a:solidFill>
                          <a:latin typeface="+mn-lt"/>
                        </a:rPr>
                        <a:t>7</a:t>
                      </a:r>
                    </a:p>
                  </a:txBody>
                  <a:tcPr>
                    <a:solidFill>
                      <a:srgbClr val="FAE5E2"/>
                    </a:solidFill>
                  </a:tcPr>
                </a:tc>
                <a:tc>
                  <a:txBody>
                    <a:bodyPr/>
                    <a:lstStyle/>
                    <a:p>
                      <a:pPr algn="ctr"/>
                      <a:r>
                        <a:rPr sz="1000" b="0">
                          <a:solidFill>
                            <a:srgbClr val="3A2822"/>
                          </a:solidFill>
                          <a:latin typeface="+mn-lt"/>
                        </a:rPr>
                        <a:t>6</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dirty="0">
                          <a:solidFill>
                            <a:srgbClr val="3A2822"/>
                          </a:solidFill>
                          <a:latin typeface="+mn-lt"/>
                        </a:rPr>
                        <a:t>4</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43/51</a:t>
                      </a:r>
                    </a:p>
                  </a:txBody>
                  <a:tcPr>
                    <a:solidFill>
                      <a:srgbClr val="FAE5E2"/>
                    </a:solidFill>
                  </a:tcPr>
                </a:tc>
                <a:extLst>
                  <a:ext uri="{0D108BD9-81ED-4DB2-BD59-A6C34878D82A}">
                    <a16:rowId xmlns:a16="http://schemas.microsoft.com/office/drawing/2014/main" val="10006"/>
                  </a:ext>
                </a:extLst>
              </a:tr>
              <a:tr h="399232">
                <a:tc>
                  <a:txBody>
                    <a:bodyPr/>
                    <a:lstStyle/>
                    <a:p>
                      <a:pPr algn="ctr"/>
                      <a:r>
                        <a:rPr sz="1000" b="0">
                          <a:solidFill>
                            <a:srgbClr val="3A2822"/>
                          </a:solidFill>
                          <a:latin typeface="+mn-lt"/>
                        </a:rPr>
                        <a:t>A7</a:t>
                      </a:r>
                    </a:p>
                  </a:txBody>
                  <a:tcPr>
                    <a:solidFill>
                      <a:srgbClr val="FAE5E2"/>
                    </a:solidFill>
                  </a:tcPr>
                </a:tc>
                <a:tc>
                  <a:txBody>
                    <a:bodyPr/>
                    <a:lstStyle/>
                    <a:p>
                      <a:pPr algn="ctr"/>
                      <a:r>
                        <a:rPr sz="1000" b="0">
                          <a:solidFill>
                            <a:srgbClr val="3A2822"/>
                          </a:solidFill>
                          <a:latin typeface="+mn-lt"/>
                        </a:rPr>
                        <a:t>Security Ninja</a:t>
                      </a:r>
                    </a:p>
                  </a:txBody>
                  <a:tcPr>
                    <a:solidFill>
                      <a:srgbClr val="FAE5E2"/>
                    </a:solidFill>
                  </a:tcPr>
                </a:tc>
                <a:tc>
                  <a:txBody>
                    <a:bodyPr/>
                    <a:lstStyle/>
                    <a:p>
                      <a:pPr algn="ctr"/>
                      <a:r>
                        <a:rPr sz="1000" b="0">
                          <a:solidFill>
                            <a:srgbClr val="3A2822"/>
                          </a:solidFill>
                          <a:latin typeface="+mn-lt"/>
                        </a:rPr>
                        <a:t>10</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dirty="0">
                          <a:solidFill>
                            <a:srgbClr val="3A2822"/>
                          </a:solidFill>
                          <a:latin typeface="+mn-lt"/>
                        </a:rPr>
                        <a:t>2</a:t>
                      </a:r>
                    </a:p>
                  </a:txBody>
                  <a:tcPr>
                    <a:solidFill>
                      <a:srgbClr val="FAE5E2"/>
                    </a:solidFill>
                  </a:tcPr>
                </a:tc>
                <a:tc>
                  <a:txBody>
                    <a:bodyPr/>
                    <a:lstStyle/>
                    <a:p>
                      <a:pPr algn="ctr"/>
                      <a:r>
                        <a:rPr sz="1000" b="0">
                          <a:solidFill>
                            <a:srgbClr val="3A2822"/>
                          </a:solidFill>
                          <a:latin typeface="+mn-lt"/>
                        </a:rPr>
                        <a:t>1</a:t>
                      </a:r>
                    </a:p>
                  </a:txBody>
                  <a:tcPr>
                    <a:solidFill>
                      <a:srgbClr val="FAE5E2"/>
                    </a:solidFill>
                  </a:tcPr>
                </a:tc>
                <a:tc>
                  <a:txBody>
                    <a:bodyPr/>
                    <a:lstStyle/>
                    <a:p>
                      <a:pPr algn="ctr"/>
                      <a:r>
                        <a:rPr sz="1000" b="0">
                          <a:solidFill>
                            <a:srgbClr val="3A2822"/>
                          </a:solidFill>
                          <a:latin typeface="+mn-lt"/>
                        </a:rPr>
                        <a:t>25/51</a:t>
                      </a:r>
                    </a:p>
                  </a:txBody>
                  <a:tcPr>
                    <a:solidFill>
                      <a:srgbClr val="FAE5E2"/>
                    </a:solidFill>
                  </a:tcPr>
                </a:tc>
                <a:extLst>
                  <a:ext uri="{0D108BD9-81ED-4DB2-BD59-A6C34878D82A}">
                    <a16:rowId xmlns:a16="http://schemas.microsoft.com/office/drawing/2014/main" val="10007"/>
                  </a:ext>
                </a:extLst>
              </a:tr>
              <a:tr h="372360">
                <a:tc>
                  <a:txBody>
                    <a:bodyPr/>
                    <a:lstStyle/>
                    <a:p>
                      <a:pPr algn="ctr"/>
                      <a:r>
                        <a:rPr sz="1000" b="0">
                          <a:solidFill>
                            <a:srgbClr val="3A2822"/>
                          </a:solidFill>
                          <a:latin typeface="+mn-lt"/>
                        </a:rPr>
                        <a:t>A8</a:t>
                      </a:r>
                    </a:p>
                  </a:txBody>
                  <a:tcPr>
                    <a:solidFill>
                      <a:srgbClr val="FAE5E2"/>
                    </a:solidFill>
                  </a:tcPr>
                </a:tc>
                <a:tc>
                  <a:txBody>
                    <a:bodyPr/>
                    <a:lstStyle/>
                    <a:p>
                      <a:pPr algn="ctr"/>
                      <a:r>
                        <a:rPr sz="1000" b="0">
                          <a:solidFill>
                            <a:srgbClr val="3A2822"/>
                          </a:solidFill>
                          <a:latin typeface="+mn-lt"/>
                        </a:rPr>
                        <a:t>BulletProof</a:t>
                      </a:r>
                    </a:p>
                  </a:txBody>
                  <a:tcPr>
                    <a:solidFill>
                      <a:srgbClr val="FAE5E2"/>
                    </a:solidFill>
                  </a:tcPr>
                </a:tc>
                <a:tc>
                  <a:txBody>
                    <a:bodyPr/>
                    <a:lstStyle/>
                    <a:p>
                      <a:pPr algn="ctr"/>
                      <a:r>
                        <a:rPr sz="1000" b="0">
                          <a:solidFill>
                            <a:srgbClr val="3A2822"/>
                          </a:solidFill>
                          <a:latin typeface="+mn-lt"/>
                        </a:rPr>
                        <a:t>8</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1</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dirty="0">
                          <a:solidFill>
                            <a:srgbClr val="3A2822"/>
                          </a:solidFill>
                          <a:latin typeface="+mn-lt"/>
                        </a:rPr>
                        <a:t>2</a:t>
                      </a:r>
                    </a:p>
                  </a:txBody>
                  <a:tcPr>
                    <a:solidFill>
                      <a:srgbClr val="FAE5E2"/>
                    </a:solidFill>
                  </a:tcPr>
                </a:tc>
                <a:tc>
                  <a:txBody>
                    <a:bodyPr/>
                    <a:lstStyle/>
                    <a:p>
                      <a:pPr algn="ctr"/>
                      <a:r>
                        <a:rPr sz="1000" b="0" dirty="0">
                          <a:solidFill>
                            <a:srgbClr val="3A2822"/>
                          </a:solidFill>
                          <a:latin typeface="+mn-lt"/>
                        </a:rPr>
                        <a:t>1</a:t>
                      </a:r>
                    </a:p>
                  </a:txBody>
                  <a:tcPr>
                    <a:solidFill>
                      <a:srgbClr val="FAE5E2"/>
                    </a:solidFill>
                  </a:tcPr>
                </a:tc>
                <a:tc>
                  <a:txBody>
                    <a:bodyPr/>
                    <a:lstStyle/>
                    <a:p>
                      <a:pPr algn="ctr"/>
                      <a:r>
                        <a:rPr sz="1000" b="0">
                          <a:solidFill>
                            <a:srgbClr val="3A2822"/>
                          </a:solidFill>
                          <a:latin typeface="+mn-lt"/>
                        </a:rPr>
                        <a:t>19/51</a:t>
                      </a:r>
                    </a:p>
                  </a:txBody>
                  <a:tcPr>
                    <a:solidFill>
                      <a:srgbClr val="FAE5E2"/>
                    </a:solidFill>
                  </a:tcPr>
                </a:tc>
                <a:extLst>
                  <a:ext uri="{0D108BD9-81ED-4DB2-BD59-A6C34878D82A}">
                    <a16:rowId xmlns:a16="http://schemas.microsoft.com/office/drawing/2014/main" val="10008"/>
                  </a:ext>
                </a:extLst>
              </a:tr>
              <a:tr h="372360">
                <a:tc>
                  <a:txBody>
                    <a:bodyPr/>
                    <a:lstStyle/>
                    <a:p>
                      <a:pPr algn="ctr"/>
                      <a:r>
                        <a:rPr sz="1000" b="0">
                          <a:solidFill>
                            <a:srgbClr val="3A2822"/>
                          </a:solidFill>
                          <a:latin typeface="+mn-lt"/>
                        </a:rPr>
                        <a:t>A9</a:t>
                      </a:r>
                    </a:p>
                  </a:txBody>
                  <a:tcPr>
                    <a:solidFill>
                      <a:srgbClr val="FAE5E2"/>
                    </a:solidFill>
                  </a:tcPr>
                </a:tc>
                <a:tc>
                  <a:txBody>
                    <a:bodyPr/>
                    <a:lstStyle/>
                    <a:p>
                      <a:pPr algn="ctr"/>
                      <a:r>
                        <a:rPr sz="1000" b="0">
                          <a:solidFill>
                            <a:srgbClr val="3A2822"/>
                          </a:solidFill>
                          <a:latin typeface="+mn-lt"/>
                        </a:rPr>
                        <a:t>AIOS</a:t>
                      </a:r>
                    </a:p>
                  </a:txBody>
                  <a:tcPr>
                    <a:solidFill>
                      <a:srgbClr val="FAE5E2"/>
                    </a:solidFill>
                  </a:tcPr>
                </a:tc>
                <a:tc>
                  <a:txBody>
                    <a:bodyPr/>
                    <a:lstStyle/>
                    <a:p>
                      <a:pPr algn="ctr"/>
                      <a:r>
                        <a:rPr sz="1000" b="0">
                          <a:solidFill>
                            <a:srgbClr val="3A2822"/>
                          </a:solidFill>
                          <a:latin typeface="+mn-lt"/>
                        </a:rPr>
                        <a:t>11</a:t>
                      </a:r>
                    </a:p>
                  </a:txBody>
                  <a:tcPr>
                    <a:solidFill>
                      <a:srgbClr val="FAE5E2"/>
                    </a:solidFill>
                  </a:tcPr>
                </a:tc>
                <a:tc>
                  <a:txBody>
                    <a:bodyPr/>
                    <a:lstStyle/>
                    <a:p>
                      <a:pPr algn="ctr"/>
                      <a:r>
                        <a:rPr sz="1000" b="0">
                          <a:solidFill>
                            <a:srgbClr val="3A2822"/>
                          </a:solidFill>
                          <a:latin typeface="+mn-lt"/>
                        </a:rPr>
                        <a:t>5</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1</a:t>
                      </a:r>
                    </a:p>
                  </a:txBody>
                  <a:tcPr>
                    <a:solidFill>
                      <a:srgbClr val="FAE5E2"/>
                    </a:solidFill>
                  </a:tcPr>
                </a:tc>
                <a:tc>
                  <a:txBody>
                    <a:bodyPr/>
                    <a:lstStyle/>
                    <a:p>
                      <a:pPr algn="ctr"/>
                      <a:r>
                        <a:rPr sz="1000" b="0" dirty="0">
                          <a:solidFill>
                            <a:srgbClr val="3A2822"/>
                          </a:solidFill>
                          <a:latin typeface="+mn-lt"/>
                        </a:rPr>
                        <a:t>27/51</a:t>
                      </a:r>
                    </a:p>
                  </a:txBody>
                  <a:tcPr>
                    <a:solidFill>
                      <a:srgbClr val="FAE5E2"/>
                    </a:solidFill>
                  </a:tcPr>
                </a:tc>
                <a:extLst>
                  <a:ext uri="{0D108BD9-81ED-4DB2-BD59-A6C34878D82A}">
                    <a16:rowId xmlns:a16="http://schemas.microsoft.com/office/drawing/2014/main" val="10009"/>
                  </a:ext>
                </a:extLst>
              </a:tr>
              <a:tr h="372360">
                <a:tc>
                  <a:txBody>
                    <a:bodyPr/>
                    <a:lstStyle/>
                    <a:p>
                      <a:pPr algn="ctr"/>
                      <a:r>
                        <a:rPr sz="1000" b="0">
                          <a:solidFill>
                            <a:srgbClr val="3A2822"/>
                          </a:solidFill>
                          <a:latin typeface="+mn-lt"/>
                        </a:rPr>
                        <a:t>A10</a:t>
                      </a:r>
                    </a:p>
                  </a:txBody>
                  <a:tcPr>
                    <a:solidFill>
                      <a:srgbClr val="FAE5E2"/>
                    </a:solidFill>
                  </a:tcPr>
                </a:tc>
                <a:tc>
                  <a:txBody>
                    <a:bodyPr/>
                    <a:lstStyle/>
                    <a:p>
                      <a:pPr algn="ctr"/>
                      <a:r>
                        <a:rPr sz="1000" b="0">
                          <a:solidFill>
                            <a:srgbClr val="3A2822"/>
                          </a:solidFill>
                          <a:latin typeface="+mn-lt"/>
                        </a:rPr>
                        <a:t>Titan</a:t>
                      </a:r>
                    </a:p>
                  </a:txBody>
                  <a:tcPr>
                    <a:solidFill>
                      <a:srgbClr val="FAE5E2"/>
                    </a:solidFill>
                  </a:tcPr>
                </a:tc>
                <a:tc>
                  <a:txBody>
                    <a:bodyPr/>
                    <a:lstStyle/>
                    <a:p>
                      <a:pPr algn="ctr"/>
                      <a:r>
                        <a:rPr sz="1000" b="0">
                          <a:solidFill>
                            <a:srgbClr val="3A2822"/>
                          </a:solidFill>
                          <a:latin typeface="+mn-lt"/>
                        </a:rPr>
                        <a:t>5</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a:solidFill>
                            <a:srgbClr val="3A2822"/>
                          </a:solidFill>
                          <a:latin typeface="+mn-lt"/>
                        </a:rPr>
                        <a:t>1</a:t>
                      </a:r>
                    </a:p>
                  </a:txBody>
                  <a:tcPr>
                    <a:solidFill>
                      <a:srgbClr val="FAE5E2"/>
                    </a:solidFill>
                  </a:tcPr>
                </a:tc>
                <a:tc>
                  <a:txBody>
                    <a:bodyPr/>
                    <a:lstStyle/>
                    <a:p>
                      <a:pPr algn="ctr"/>
                      <a:r>
                        <a:rPr sz="1000" b="0">
                          <a:solidFill>
                            <a:srgbClr val="3A2822"/>
                          </a:solidFill>
                          <a:latin typeface="+mn-lt"/>
                        </a:rPr>
                        <a:t>1</a:t>
                      </a:r>
                    </a:p>
                  </a:txBody>
                  <a:tcPr>
                    <a:solidFill>
                      <a:srgbClr val="FAE5E2"/>
                    </a:solidFill>
                  </a:tcPr>
                </a:tc>
                <a:tc>
                  <a:txBody>
                    <a:bodyPr/>
                    <a:lstStyle/>
                    <a:p>
                      <a:pPr algn="ctr"/>
                      <a:r>
                        <a:rPr sz="1000" b="0">
                          <a:solidFill>
                            <a:srgbClr val="3A2822"/>
                          </a:solidFill>
                          <a:latin typeface="+mn-lt"/>
                        </a:rPr>
                        <a:t>1</a:t>
                      </a:r>
                    </a:p>
                  </a:txBody>
                  <a:tcPr>
                    <a:solidFill>
                      <a:srgbClr val="FAE5E2"/>
                    </a:solidFill>
                  </a:tcPr>
                </a:tc>
                <a:tc>
                  <a:txBody>
                    <a:bodyPr/>
                    <a:lstStyle/>
                    <a:p>
                      <a:pPr algn="ctr"/>
                      <a:r>
                        <a:rPr sz="1000" b="0">
                          <a:solidFill>
                            <a:srgbClr val="3A2822"/>
                          </a:solidFill>
                          <a:latin typeface="+mn-lt"/>
                        </a:rPr>
                        <a:t>1</a:t>
                      </a:r>
                    </a:p>
                  </a:txBody>
                  <a:tcPr>
                    <a:solidFill>
                      <a:srgbClr val="FAE5E2"/>
                    </a:solidFill>
                  </a:tcPr>
                </a:tc>
                <a:tc>
                  <a:txBody>
                    <a:bodyPr/>
                    <a:lstStyle/>
                    <a:p>
                      <a:pPr algn="ctr"/>
                      <a:r>
                        <a:rPr sz="1000" b="0">
                          <a:solidFill>
                            <a:srgbClr val="3A2822"/>
                          </a:solidFill>
                          <a:latin typeface="+mn-lt"/>
                        </a:rPr>
                        <a:t>0</a:t>
                      </a:r>
                    </a:p>
                  </a:txBody>
                  <a:tcPr>
                    <a:solidFill>
                      <a:srgbClr val="FAE5E2"/>
                    </a:solidFill>
                  </a:tcPr>
                </a:tc>
                <a:tc>
                  <a:txBody>
                    <a:bodyPr/>
                    <a:lstStyle/>
                    <a:p>
                      <a:pPr algn="ctr"/>
                      <a:r>
                        <a:rPr sz="1000" b="0" dirty="0">
                          <a:solidFill>
                            <a:srgbClr val="3A2822"/>
                          </a:solidFill>
                          <a:latin typeface="+mn-lt"/>
                        </a:rPr>
                        <a:t>11/51</a:t>
                      </a:r>
                    </a:p>
                  </a:txBody>
                  <a:tcPr>
                    <a:solidFill>
                      <a:srgbClr val="FAE5E2"/>
                    </a:solidFill>
                  </a:tcPr>
                </a:tc>
                <a:extLst>
                  <a:ext uri="{0D108BD9-81ED-4DB2-BD59-A6C34878D82A}">
                    <a16:rowId xmlns:a16="http://schemas.microsoft.com/office/drawing/2014/main" val="10010"/>
                  </a:ext>
                </a:extLst>
              </a:tr>
              <a:tr h="399232">
                <a:tc>
                  <a:txBody>
                    <a:bodyPr/>
                    <a:lstStyle/>
                    <a:p>
                      <a:pPr algn="ctr"/>
                      <a:r>
                        <a:rPr sz="1000" b="0">
                          <a:solidFill>
                            <a:srgbClr val="3A2822"/>
                          </a:solidFill>
                          <a:latin typeface="+mn-lt"/>
                        </a:rPr>
                        <a:t>A11</a:t>
                      </a:r>
                    </a:p>
                  </a:txBody>
                  <a:tcPr>
                    <a:solidFill>
                      <a:srgbClr val="FAE5E2"/>
                    </a:solidFill>
                  </a:tcPr>
                </a:tc>
                <a:tc>
                  <a:txBody>
                    <a:bodyPr/>
                    <a:lstStyle/>
                    <a:p>
                      <a:pPr algn="ctr"/>
                      <a:r>
                        <a:rPr sz="1000" b="0">
                          <a:solidFill>
                            <a:srgbClr val="3A2822"/>
                          </a:solidFill>
                          <a:latin typeface="+mn-lt"/>
                        </a:rPr>
                        <a:t>NinjaFirewall</a:t>
                      </a:r>
                    </a:p>
                  </a:txBody>
                  <a:tcPr>
                    <a:solidFill>
                      <a:srgbClr val="FAE5E2"/>
                    </a:solidFill>
                  </a:tcPr>
                </a:tc>
                <a:tc>
                  <a:txBody>
                    <a:bodyPr/>
                    <a:lstStyle/>
                    <a:p>
                      <a:pPr algn="ctr"/>
                      <a:r>
                        <a:rPr sz="1000" b="0">
                          <a:solidFill>
                            <a:srgbClr val="3A2822"/>
                          </a:solidFill>
                          <a:latin typeface="+mn-lt"/>
                        </a:rPr>
                        <a:t>15</a:t>
                      </a:r>
                    </a:p>
                  </a:txBody>
                  <a:tcPr>
                    <a:solidFill>
                      <a:srgbClr val="FAE5E2"/>
                    </a:solidFill>
                  </a:tcPr>
                </a:tc>
                <a:tc>
                  <a:txBody>
                    <a:bodyPr/>
                    <a:lstStyle/>
                    <a:p>
                      <a:pPr algn="ctr"/>
                      <a:r>
                        <a:rPr sz="1000" b="0">
                          <a:solidFill>
                            <a:srgbClr val="3A2822"/>
                          </a:solidFill>
                          <a:latin typeface="+mn-lt"/>
                        </a:rPr>
                        <a:t>7</a:t>
                      </a:r>
                    </a:p>
                  </a:txBody>
                  <a:tcPr>
                    <a:solidFill>
                      <a:srgbClr val="FAE5E2"/>
                    </a:solidFill>
                  </a:tcPr>
                </a:tc>
                <a:tc>
                  <a:txBody>
                    <a:bodyPr/>
                    <a:lstStyle/>
                    <a:p>
                      <a:pPr algn="ctr"/>
                      <a:r>
                        <a:rPr sz="1000" b="0">
                          <a:solidFill>
                            <a:srgbClr val="3A2822"/>
                          </a:solidFill>
                          <a:latin typeface="+mn-lt"/>
                        </a:rPr>
                        <a:t>5</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4</a:t>
                      </a:r>
                    </a:p>
                  </a:txBody>
                  <a:tcPr>
                    <a:solidFill>
                      <a:srgbClr val="FAE5E2"/>
                    </a:solidFill>
                  </a:tcPr>
                </a:tc>
                <a:tc>
                  <a:txBody>
                    <a:bodyPr/>
                    <a:lstStyle/>
                    <a:p>
                      <a:pPr algn="ctr"/>
                      <a:r>
                        <a:rPr sz="1000" b="0">
                          <a:solidFill>
                            <a:srgbClr val="3A2822"/>
                          </a:solidFill>
                          <a:latin typeface="+mn-lt"/>
                        </a:rPr>
                        <a:t>3</a:t>
                      </a:r>
                    </a:p>
                  </a:txBody>
                  <a:tcPr>
                    <a:solidFill>
                      <a:srgbClr val="FAE5E2"/>
                    </a:solidFill>
                  </a:tcPr>
                </a:tc>
                <a:tc>
                  <a:txBody>
                    <a:bodyPr/>
                    <a:lstStyle/>
                    <a:p>
                      <a:pPr algn="ctr"/>
                      <a:r>
                        <a:rPr sz="1000" b="0">
                          <a:solidFill>
                            <a:srgbClr val="3A2822"/>
                          </a:solidFill>
                          <a:latin typeface="+mn-lt"/>
                        </a:rPr>
                        <a:t>2</a:t>
                      </a:r>
                    </a:p>
                  </a:txBody>
                  <a:tcPr>
                    <a:solidFill>
                      <a:srgbClr val="FAE5E2"/>
                    </a:solidFill>
                  </a:tcPr>
                </a:tc>
                <a:tc>
                  <a:txBody>
                    <a:bodyPr/>
                    <a:lstStyle/>
                    <a:p>
                      <a:pPr algn="ctr"/>
                      <a:r>
                        <a:rPr sz="1000" b="0" dirty="0">
                          <a:solidFill>
                            <a:srgbClr val="3A2822"/>
                          </a:solidFill>
                          <a:latin typeface="+mn-lt"/>
                        </a:rPr>
                        <a:t>40/51</a:t>
                      </a:r>
                    </a:p>
                  </a:txBody>
                  <a:tcPr>
                    <a:solidFill>
                      <a:srgbClr val="FAE5E2"/>
                    </a:solidFill>
                  </a:tcPr>
                </a:tc>
                <a:extLst>
                  <a:ext uri="{0D108BD9-81ED-4DB2-BD59-A6C34878D82A}">
                    <a16:rowId xmlns:a16="http://schemas.microsoft.com/office/drawing/2014/main" val="10011"/>
                  </a:ext>
                </a:extLst>
              </a:tr>
            </a:tbl>
          </a:graphicData>
        </a:graphic>
      </p:graphicFrame>
      <p:sp>
        <p:nvSpPr>
          <p:cNvPr id="8" name="TextBox 7"/>
          <p:cNvSpPr txBox="1"/>
          <p:nvPr/>
        </p:nvSpPr>
        <p:spPr>
          <a:xfrm>
            <a:off x="1097280" y="6260131"/>
            <a:ext cx="7063169" cy="375487"/>
          </a:xfrm>
          <a:prstGeom prst="rect">
            <a:avLst/>
          </a:prstGeom>
          <a:noFill/>
          <a:ln>
            <a:noFill/>
          </a:ln>
        </p:spPr>
        <p:txBody>
          <a:bodyPr wrap="square" lIns="45720" tIns="18288" rIns="45720" bIns="18288">
            <a:spAutoFit/>
          </a:bodyPr>
          <a:lstStyle/>
          <a:p>
            <a:pPr algn="l"/>
            <a:r>
              <a:rPr sz="1100" b="1" i="1" dirty="0" err="1">
                <a:solidFill>
                  <a:srgbClr val="F88A7A"/>
                </a:solidFill>
              </a:rPr>
              <a:t>Найкраща</a:t>
            </a:r>
            <a:r>
              <a:rPr sz="1100" b="1" i="1" dirty="0">
                <a:solidFill>
                  <a:srgbClr val="F88A7A"/>
                </a:solidFill>
              </a:rPr>
              <a:t> </a:t>
            </a:r>
            <a:r>
              <a:rPr sz="1100" b="1" i="1" dirty="0" err="1">
                <a:solidFill>
                  <a:srgbClr val="F88A7A"/>
                </a:solidFill>
              </a:rPr>
              <a:t>повнота</a:t>
            </a:r>
            <a:r>
              <a:rPr sz="1100" b="1" i="1" dirty="0">
                <a:solidFill>
                  <a:srgbClr val="F88A7A"/>
                </a:solidFill>
              </a:rPr>
              <a:t> — </a:t>
            </a:r>
            <a:r>
              <a:rPr sz="1100" b="1" i="1" dirty="0" err="1">
                <a:solidFill>
                  <a:srgbClr val="F88A7A"/>
                </a:solidFill>
              </a:rPr>
              <a:t>MalCare</a:t>
            </a:r>
            <a:r>
              <a:rPr sz="1100" b="1" i="1" dirty="0">
                <a:solidFill>
                  <a:srgbClr val="F88A7A"/>
                </a:solidFill>
              </a:rPr>
              <a:t> (96.1%); </a:t>
            </a:r>
            <a:r>
              <a:rPr sz="1100" b="1" i="1" dirty="0" err="1">
                <a:solidFill>
                  <a:srgbClr val="F88A7A"/>
                </a:solidFill>
              </a:rPr>
              <a:t>найгірша</a:t>
            </a:r>
            <a:r>
              <a:rPr sz="1100" b="1" i="1" dirty="0">
                <a:solidFill>
                  <a:srgbClr val="F88A7A"/>
                </a:solidFill>
              </a:rPr>
              <a:t> — Titan Anti-spam (21.6%).</a:t>
            </a:r>
          </a:p>
          <a:p>
            <a:pPr algn="l"/>
            <a:r>
              <a:rPr sz="1100" b="1" i="1" dirty="0" err="1">
                <a:solidFill>
                  <a:srgbClr val="F88A7A"/>
                </a:solidFill>
              </a:rPr>
              <a:t>Різниця</a:t>
            </a:r>
            <a:r>
              <a:rPr sz="1100" b="1" i="1" dirty="0">
                <a:solidFill>
                  <a:srgbClr val="F88A7A"/>
                </a:solidFill>
              </a:rPr>
              <a:t> </a:t>
            </a:r>
            <a:r>
              <a:rPr sz="1100" b="1" i="1" dirty="0" err="1">
                <a:solidFill>
                  <a:srgbClr val="F88A7A"/>
                </a:solidFill>
              </a:rPr>
              <a:t>між</a:t>
            </a:r>
            <a:r>
              <a:rPr sz="1100" b="1" i="1" dirty="0">
                <a:solidFill>
                  <a:srgbClr val="F88A7A"/>
                </a:solidFill>
              </a:rPr>
              <a:t> </a:t>
            </a:r>
            <a:r>
              <a:rPr sz="1100" b="1" i="1" dirty="0" err="1">
                <a:solidFill>
                  <a:srgbClr val="F88A7A"/>
                </a:solidFill>
              </a:rPr>
              <a:t>плагінами</a:t>
            </a:r>
            <a:r>
              <a:rPr sz="1100" b="1" i="1" dirty="0">
                <a:solidFill>
                  <a:srgbClr val="F88A7A"/>
                </a:solidFill>
              </a:rPr>
              <a:t> </a:t>
            </a:r>
            <a:r>
              <a:rPr sz="1100" b="1" i="1" dirty="0" err="1">
                <a:solidFill>
                  <a:srgbClr val="F88A7A"/>
                </a:solidFill>
              </a:rPr>
              <a:t>досягає</a:t>
            </a:r>
            <a:r>
              <a:rPr sz="1100" b="1" i="1" dirty="0">
                <a:solidFill>
                  <a:srgbClr val="F88A7A"/>
                </a:solidFill>
              </a:rPr>
              <a:t> 4.5 </a:t>
            </a:r>
            <a:r>
              <a:rPr sz="1100" b="1" i="1" dirty="0" err="1">
                <a:solidFill>
                  <a:srgbClr val="F88A7A"/>
                </a:solidFill>
              </a:rPr>
              <a:t>раза</a:t>
            </a:r>
            <a:r>
              <a:rPr sz="1100" b="1" i="1" dirty="0">
                <a:solidFill>
                  <a:srgbClr val="F88A7A"/>
                </a:solidFil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A2822"/>
        </a:solidFill>
        <a:effectLst/>
      </p:bgPr>
    </p:bg>
    <p:spTree>
      <p:nvGrpSpPr>
        <p:cNvPr id="1" name=""/>
        <p:cNvGrpSpPr/>
        <p:nvPr/>
      </p:nvGrpSpPr>
      <p:grpSpPr>
        <a:xfrm>
          <a:off x="0" y="0"/>
          <a:ext cx="0" cy="0"/>
          <a:chOff x="0" y="0"/>
          <a:chExt cx="0" cy="0"/>
        </a:xfrm>
      </p:grpSpPr>
      <p:sp>
        <p:nvSpPr>
          <p:cNvPr id="2" name="Rectangle 1"/>
          <p:cNvSpPr/>
          <p:nvPr/>
        </p:nvSpPr>
        <p:spPr>
          <a:xfrm>
            <a:off x="365760" y="0"/>
            <a:ext cx="54864" cy="6858000"/>
          </a:xfrm>
          <a:prstGeom prst="rect">
            <a:avLst/>
          </a:prstGeom>
          <a:solidFill>
            <a:srgbClr val="FF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0" y="0"/>
            <a:ext cx="548640" cy="685800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595360" y="0"/>
            <a:ext cx="548640" cy="2743200"/>
          </a:xfrm>
          <a:prstGeom prst="rect">
            <a:avLst/>
          </a:prstGeom>
          <a:solidFill>
            <a:srgbClr val="F88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313039"/>
            <a:ext cx="7108317" cy="1021820"/>
          </a:xfrm>
          <a:prstGeom prst="rect">
            <a:avLst/>
          </a:prstGeom>
          <a:noFill/>
          <a:ln>
            <a:noFill/>
          </a:ln>
        </p:spPr>
        <p:txBody>
          <a:bodyPr wrap="square" lIns="45720" tIns="18288" rIns="45720" bIns="18288">
            <a:spAutoFit/>
          </a:bodyPr>
          <a:lstStyle/>
          <a:p>
            <a:r>
              <a:rPr lang="uk-UA" sz="3200" b="1" i="0" dirty="0">
                <a:solidFill>
                  <a:srgbClr val="FFFFFF"/>
                </a:solidFill>
                <a:latin typeface="Calibri"/>
              </a:rPr>
              <a:t>Результати проведення експерименту:</a:t>
            </a:r>
          </a:p>
          <a:p>
            <a:pPr algn="l"/>
            <a:r>
              <a:rPr sz="3200" b="1" i="0" dirty="0" err="1">
                <a:solidFill>
                  <a:srgbClr val="FFFFFF"/>
                </a:solidFill>
                <a:latin typeface="Calibri"/>
              </a:rPr>
              <a:t>Тестування</a:t>
            </a:r>
            <a:r>
              <a:rPr sz="3200" b="1" i="0" dirty="0">
                <a:solidFill>
                  <a:srgbClr val="FFFFFF"/>
                </a:solidFill>
                <a:latin typeface="Calibri"/>
              </a:rPr>
              <a:t> </a:t>
            </a:r>
            <a:r>
              <a:rPr sz="3200" b="1" i="0" dirty="0" err="1">
                <a:solidFill>
                  <a:srgbClr val="FFFFFF"/>
                </a:solidFill>
                <a:latin typeface="Calibri"/>
              </a:rPr>
              <a:t>активних</a:t>
            </a:r>
            <a:r>
              <a:rPr sz="3200" b="1" i="0" dirty="0">
                <a:solidFill>
                  <a:srgbClr val="FFFFFF"/>
                </a:solidFill>
                <a:latin typeface="Calibri"/>
              </a:rPr>
              <a:t> </a:t>
            </a:r>
            <a:r>
              <a:rPr sz="3200" b="1" i="0" dirty="0" err="1">
                <a:solidFill>
                  <a:srgbClr val="FFFFFF"/>
                </a:solidFill>
                <a:latin typeface="Calibri"/>
              </a:rPr>
              <a:t>атак</a:t>
            </a:r>
            <a:endParaRPr sz="3200" b="1" i="0" dirty="0">
              <a:solidFill>
                <a:srgbClr val="FFFFFF"/>
              </a:solidFill>
              <a:latin typeface="Calibri"/>
            </a:endParaRPr>
          </a:p>
        </p:txBody>
      </p:sp>
      <p:sp>
        <p:nvSpPr>
          <p:cNvPr id="6" name="TextBox 5"/>
          <p:cNvSpPr txBox="1"/>
          <p:nvPr/>
        </p:nvSpPr>
        <p:spPr>
          <a:xfrm>
            <a:off x="1097280" y="1464667"/>
            <a:ext cx="7108317" cy="221599"/>
          </a:xfrm>
          <a:prstGeom prst="rect">
            <a:avLst/>
          </a:prstGeom>
          <a:noFill/>
          <a:ln>
            <a:noFill/>
          </a:ln>
        </p:spPr>
        <p:txBody>
          <a:bodyPr wrap="square" lIns="45720" tIns="18288" rIns="45720" bIns="18288">
            <a:spAutoFit/>
          </a:bodyPr>
          <a:lstStyle/>
          <a:p>
            <a:pPr algn="l"/>
            <a:r>
              <a:rPr lang="ru-RU" sz="1200" b="0" i="1" dirty="0">
                <a:solidFill>
                  <a:srgbClr val="E8D8D2"/>
                </a:solidFill>
              </a:rPr>
              <a:t>Р</a:t>
            </a:r>
            <a:r>
              <a:rPr sz="1200" b="0" i="1" dirty="0" err="1">
                <a:solidFill>
                  <a:srgbClr val="E8D8D2"/>
                </a:solidFill>
              </a:rPr>
              <a:t>еальне</a:t>
            </a:r>
            <a:r>
              <a:rPr sz="1200" b="0" i="1" dirty="0">
                <a:solidFill>
                  <a:srgbClr val="E8D8D2"/>
                </a:solidFill>
              </a:rPr>
              <a:t> </a:t>
            </a:r>
            <a:r>
              <a:rPr sz="1200" b="0" i="1" dirty="0" err="1">
                <a:solidFill>
                  <a:srgbClr val="E8D8D2"/>
                </a:solidFill>
              </a:rPr>
              <a:t>блокування</a:t>
            </a:r>
            <a:r>
              <a:rPr sz="1200" b="0" i="1" dirty="0">
                <a:solidFill>
                  <a:srgbClr val="E8D8D2"/>
                </a:solidFill>
              </a:rPr>
              <a:t> </a:t>
            </a:r>
            <a:r>
              <a:rPr sz="1200" b="0" i="1" dirty="0" err="1">
                <a:solidFill>
                  <a:srgbClr val="E8D8D2"/>
                </a:solidFill>
              </a:rPr>
              <a:t>атак</a:t>
            </a:r>
            <a:r>
              <a:rPr sz="1200" b="0" i="1" dirty="0">
                <a:solidFill>
                  <a:srgbClr val="E8D8D2"/>
                </a:solidFill>
              </a:rPr>
              <a:t>: WAF, brute force, malware (EICAR)</a:t>
            </a:r>
          </a:p>
        </p:txBody>
      </p:sp>
      <p:graphicFrame>
        <p:nvGraphicFramePr>
          <p:cNvPr id="7" name="Table 6"/>
          <p:cNvGraphicFramePr>
            <a:graphicFrameLocks noGrp="1"/>
          </p:cNvGraphicFramePr>
          <p:nvPr>
            <p:extLst>
              <p:ext uri="{D42A27DB-BD31-4B8C-83A1-F6EECF244321}">
                <p14:modId xmlns:p14="http://schemas.microsoft.com/office/powerpoint/2010/main" val="4186972047"/>
              </p:ext>
            </p:extLst>
          </p:nvPr>
        </p:nvGraphicFramePr>
        <p:xfrm>
          <a:off x="1097567" y="1816074"/>
          <a:ext cx="7006016" cy="4364829"/>
        </p:xfrm>
        <a:graphic>
          <a:graphicData uri="http://schemas.openxmlformats.org/drawingml/2006/table">
            <a:tbl>
              <a:tblPr firstRow="1" bandRow="1">
                <a:tableStyleId>{5C22544A-7EE6-4342-B048-85BDC9FD1C3A}</a:tableStyleId>
              </a:tblPr>
              <a:tblGrid>
                <a:gridCol w="875752">
                  <a:extLst>
                    <a:ext uri="{9D8B030D-6E8A-4147-A177-3AD203B41FA5}">
                      <a16:colId xmlns:a16="http://schemas.microsoft.com/office/drawing/2014/main" val="20000"/>
                    </a:ext>
                  </a:extLst>
                </a:gridCol>
                <a:gridCol w="875752">
                  <a:extLst>
                    <a:ext uri="{9D8B030D-6E8A-4147-A177-3AD203B41FA5}">
                      <a16:colId xmlns:a16="http://schemas.microsoft.com/office/drawing/2014/main" val="20001"/>
                    </a:ext>
                  </a:extLst>
                </a:gridCol>
                <a:gridCol w="875752">
                  <a:extLst>
                    <a:ext uri="{9D8B030D-6E8A-4147-A177-3AD203B41FA5}">
                      <a16:colId xmlns:a16="http://schemas.microsoft.com/office/drawing/2014/main" val="20002"/>
                    </a:ext>
                  </a:extLst>
                </a:gridCol>
                <a:gridCol w="875752">
                  <a:extLst>
                    <a:ext uri="{9D8B030D-6E8A-4147-A177-3AD203B41FA5}">
                      <a16:colId xmlns:a16="http://schemas.microsoft.com/office/drawing/2014/main" val="20003"/>
                    </a:ext>
                  </a:extLst>
                </a:gridCol>
                <a:gridCol w="875752">
                  <a:extLst>
                    <a:ext uri="{9D8B030D-6E8A-4147-A177-3AD203B41FA5}">
                      <a16:colId xmlns:a16="http://schemas.microsoft.com/office/drawing/2014/main" val="20004"/>
                    </a:ext>
                  </a:extLst>
                </a:gridCol>
                <a:gridCol w="875752">
                  <a:extLst>
                    <a:ext uri="{9D8B030D-6E8A-4147-A177-3AD203B41FA5}">
                      <a16:colId xmlns:a16="http://schemas.microsoft.com/office/drawing/2014/main" val="20005"/>
                    </a:ext>
                  </a:extLst>
                </a:gridCol>
                <a:gridCol w="875752">
                  <a:extLst>
                    <a:ext uri="{9D8B030D-6E8A-4147-A177-3AD203B41FA5}">
                      <a16:colId xmlns:a16="http://schemas.microsoft.com/office/drawing/2014/main" val="20006"/>
                    </a:ext>
                  </a:extLst>
                </a:gridCol>
                <a:gridCol w="875752">
                  <a:extLst>
                    <a:ext uri="{9D8B030D-6E8A-4147-A177-3AD203B41FA5}">
                      <a16:colId xmlns:a16="http://schemas.microsoft.com/office/drawing/2014/main" val="20007"/>
                    </a:ext>
                  </a:extLst>
                </a:gridCol>
              </a:tblGrid>
              <a:tr h="352901">
                <a:tc>
                  <a:txBody>
                    <a:bodyPr/>
                    <a:lstStyle/>
                    <a:p>
                      <a:pPr algn="ctr"/>
                      <a:r>
                        <a:rPr sz="1000" b="1" dirty="0" err="1">
                          <a:solidFill>
                            <a:srgbClr val="FFFFFF"/>
                          </a:solidFill>
                          <a:latin typeface="+mn-lt"/>
                        </a:rPr>
                        <a:t>Код</a:t>
                      </a:r>
                      <a:endParaRPr sz="1000" b="1" dirty="0">
                        <a:solidFill>
                          <a:srgbClr val="FFFFFF"/>
                        </a:solidFill>
                        <a:latin typeface="+mn-lt"/>
                      </a:endParaRPr>
                    </a:p>
                  </a:txBody>
                  <a:tcPr>
                    <a:solidFill>
                      <a:srgbClr val="E74C3C"/>
                    </a:solidFill>
                  </a:tcPr>
                </a:tc>
                <a:tc>
                  <a:txBody>
                    <a:bodyPr/>
                    <a:lstStyle/>
                    <a:p>
                      <a:pPr algn="ctr"/>
                      <a:r>
                        <a:rPr sz="1000" b="1">
                          <a:solidFill>
                            <a:srgbClr val="FFFFFF"/>
                          </a:solidFill>
                          <a:latin typeface="+mn-lt"/>
                        </a:rPr>
                        <a:t>Плагін</a:t>
                      </a:r>
                    </a:p>
                  </a:txBody>
                  <a:tcPr>
                    <a:solidFill>
                      <a:srgbClr val="E74C3C"/>
                    </a:solidFill>
                  </a:tcPr>
                </a:tc>
                <a:tc>
                  <a:txBody>
                    <a:bodyPr/>
                    <a:lstStyle/>
                    <a:p>
                      <a:pPr algn="ctr"/>
                      <a:r>
                        <a:rPr sz="1000" b="1">
                          <a:solidFill>
                            <a:srgbClr val="FFFFFF"/>
                          </a:solidFill>
                          <a:latin typeface="+mn-lt"/>
                        </a:rPr>
                        <a:t>Brute force</a:t>
                      </a:r>
                    </a:p>
                  </a:txBody>
                  <a:tcPr>
                    <a:solidFill>
                      <a:srgbClr val="E74C3C"/>
                    </a:solidFill>
                  </a:tcPr>
                </a:tc>
                <a:tc>
                  <a:txBody>
                    <a:bodyPr/>
                    <a:lstStyle/>
                    <a:p>
                      <a:pPr algn="ctr"/>
                      <a:r>
                        <a:rPr sz="1000" b="1">
                          <a:solidFill>
                            <a:srgbClr val="FFFFFF"/>
                          </a:solidFill>
                          <a:latin typeface="+mn-lt"/>
                        </a:rPr>
                        <a:t>SQLi WAF</a:t>
                      </a:r>
                    </a:p>
                  </a:txBody>
                  <a:tcPr>
                    <a:solidFill>
                      <a:srgbClr val="E74C3C"/>
                    </a:solidFill>
                  </a:tcPr>
                </a:tc>
                <a:tc>
                  <a:txBody>
                    <a:bodyPr/>
                    <a:lstStyle/>
                    <a:p>
                      <a:pPr algn="ctr"/>
                      <a:r>
                        <a:rPr sz="1000" b="1">
                          <a:solidFill>
                            <a:srgbClr val="FFFFFF"/>
                          </a:solidFill>
                          <a:latin typeface="+mn-lt"/>
                        </a:rPr>
                        <a:t>XSS WAF</a:t>
                      </a:r>
                    </a:p>
                  </a:txBody>
                  <a:tcPr>
                    <a:solidFill>
                      <a:srgbClr val="E74C3C"/>
                    </a:solidFill>
                  </a:tcPr>
                </a:tc>
                <a:tc>
                  <a:txBody>
                    <a:bodyPr/>
                    <a:lstStyle/>
                    <a:p>
                      <a:pPr algn="ctr"/>
                      <a:r>
                        <a:rPr sz="1000" b="1">
                          <a:solidFill>
                            <a:srgbClr val="FFFFFF"/>
                          </a:solidFill>
                          <a:latin typeface="+mn-lt"/>
                        </a:rPr>
                        <a:t>CSRF</a:t>
                      </a:r>
                    </a:p>
                  </a:txBody>
                  <a:tcPr>
                    <a:solidFill>
                      <a:srgbClr val="E74C3C"/>
                    </a:solidFill>
                  </a:tcPr>
                </a:tc>
                <a:tc>
                  <a:txBody>
                    <a:bodyPr/>
                    <a:lstStyle/>
                    <a:p>
                      <a:pPr algn="ctr"/>
                      <a:r>
                        <a:rPr sz="1000" b="1">
                          <a:solidFill>
                            <a:srgbClr val="FFFFFF"/>
                          </a:solidFill>
                          <a:latin typeface="+mn-lt"/>
                        </a:rPr>
                        <a:t>EICAR</a:t>
                      </a:r>
                    </a:p>
                  </a:txBody>
                  <a:tcPr>
                    <a:solidFill>
                      <a:srgbClr val="E74C3C"/>
                    </a:solidFill>
                  </a:tcPr>
                </a:tc>
                <a:tc>
                  <a:txBody>
                    <a:bodyPr/>
                    <a:lstStyle/>
                    <a:p>
                      <a:pPr algn="ctr"/>
                      <a:r>
                        <a:rPr sz="1000" b="1">
                          <a:solidFill>
                            <a:srgbClr val="FFFFFF"/>
                          </a:solidFill>
                          <a:latin typeface="+mn-lt"/>
                        </a:rPr>
                        <a:t>Бал</a:t>
                      </a:r>
                    </a:p>
                  </a:txBody>
                  <a:tcPr>
                    <a:solidFill>
                      <a:srgbClr val="E74C3C"/>
                    </a:solidFill>
                  </a:tcPr>
                </a:tc>
                <a:extLst>
                  <a:ext uri="{0D108BD9-81ED-4DB2-BD59-A6C34878D82A}">
                    <a16:rowId xmlns:a16="http://schemas.microsoft.com/office/drawing/2014/main" val="10000"/>
                  </a:ext>
                </a:extLst>
              </a:tr>
              <a:tr h="352901">
                <a:tc>
                  <a:txBody>
                    <a:bodyPr/>
                    <a:lstStyle/>
                    <a:p>
                      <a:pPr algn="ctr"/>
                      <a:r>
                        <a:rPr sz="1000" b="0" dirty="0">
                          <a:solidFill>
                            <a:srgbClr val="3A2822"/>
                          </a:solidFill>
                          <a:latin typeface="+mn-lt"/>
                        </a:rPr>
                        <a:t>A1</a:t>
                      </a:r>
                    </a:p>
                  </a:txBody>
                  <a:tcPr>
                    <a:solidFill>
                      <a:srgbClr val="FAE5E2"/>
                    </a:solidFill>
                  </a:tcPr>
                </a:tc>
                <a:tc>
                  <a:txBody>
                    <a:bodyPr/>
                    <a:lstStyle/>
                    <a:p>
                      <a:pPr algn="ctr"/>
                      <a:r>
                        <a:rPr sz="1000" b="0" dirty="0" err="1">
                          <a:solidFill>
                            <a:srgbClr val="3A2822"/>
                          </a:solidFill>
                          <a:latin typeface="+mn-lt"/>
                        </a:rPr>
                        <a:t>Wordfence</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Так (5)</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4.0/5</a:t>
                      </a:r>
                    </a:p>
                  </a:txBody>
                  <a:tcPr>
                    <a:solidFill>
                      <a:srgbClr val="FAE5E2"/>
                    </a:solidFill>
                  </a:tcPr>
                </a:tc>
                <a:extLst>
                  <a:ext uri="{0D108BD9-81ED-4DB2-BD59-A6C34878D82A}">
                    <a16:rowId xmlns:a16="http://schemas.microsoft.com/office/drawing/2014/main" val="10001"/>
                  </a:ext>
                </a:extLst>
              </a:tr>
              <a:tr h="352901">
                <a:tc>
                  <a:txBody>
                    <a:bodyPr/>
                    <a:lstStyle/>
                    <a:p>
                      <a:pPr algn="ctr"/>
                      <a:r>
                        <a:rPr sz="1000" b="0">
                          <a:solidFill>
                            <a:srgbClr val="3A2822"/>
                          </a:solidFill>
                          <a:latin typeface="+mn-lt"/>
                        </a:rPr>
                        <a:t>A2</a:t>
                      </a:r>
                    </a:p>
                  </a:txBody>
                  <a:tcPr>
                    <a:solidFill>
                      <a:srgbClr val="FAE5E2"/>
                    </a:solidFill>
                  </a:tcPr>
                </a:tc>
                <a:tc>
                  <a:txBody>
                    <a:bodyPr/>
                    <a:lstStyle/>
                    <a:p>
                      <a:pPr algn="ctr"/>
                      <a:r>
                        <a:rPr sz="1000" b="0" dirty="0" err="1">
                          <a:solidFill>
                            <a:srgbClr val="3A2822"/>
                          </a:solidFill>
                          <a:latin typeface="+mn-lt"/>
                        </a:rPr>
                        <a:t>Sucuri</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Так (3)</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5.0/5</a:t>
                      </a:r>
                    </a:p>
                  </a:txBody>
                  <a:tcPr>
                    <a:solidFill>
                      <a:srgbClr val="FAE5E2"/>
                    </a:solidFill>
                  </a:tcPr>
                </a:tc>
                <a:extLst>
                  <a:ext uri="{0D108BD9-81ED-4DB2-BD59-A6C34878D82A}">
                    <a16:rowId xmlns:a16="http://schemas.microsoft.com/office/drawing/2014/main" val="10002"/>
                  </a:ext>
                </a:extLst>
              </a:tr>
              <a:tr h="352901">
                <a:tc>
                  <a:txBody>
                    <a:bodyPr/>
                    <a:lstStyle/>
                    <a:p>
                      <a:pPr algn="ctr"/>
                      <a:r>
                        <a:rPr sz="1000" b="0">
                          <a:solidFill>
                            <a:srgbClr val="3A2822"/>
                          </a:solidFill>
                          <a:latin typeface="+mn-lt"/>
                        </a:rPr>
                        <a:t>A3</a:t>
                      </a:r>
                    </a:p>
                  </a:txBody>
                  <a:tcPr>
                    <a:solidFill>
                      <a:srgbClr val="FAE5E2"/>
                    </a:solidFill>
                  </a:tcPr>
                </a:tc>
                <a:tc>
                  <a:txBody>
                    <a:bodyPr/>
                    <a:lstStyle/>
                    <a:p>
                      <a:pPr algn="ctr"/>
                      <a:r>
                        <a:rPr sz="1000" b="0" dirty="0">
                          <a:solidFill>
                            <a:srgbClr val="3A2822"/>
                          </a:solidFill>
                          <a:latin typeface="+mn-lt"/>
                        </a:rPr>
                        <a:t>Solid Security</a:t>
                      </a:r>
                    </a:p>
                  </a:txBody>
                  <a:tcPr>
                    <a:solidFill>
                      <a:srgbClr val="FAE5E2"/>
                    </a:solidFill>
                  </a:tcPr>
                </a:tc>
                <a:tc>
                  <a:txBody>
                    <a:bodyPr/>
                    <a:lstStyle/>
                    <a:p>
                      <a:pPr algn="ctr"/>
                      <a:r>
                        <a:rPr sz="1000" b="0" dirty="0" err="1">
                          <a:solidFill>
                            <a:srgbClr val="3A2822"/>
                          </a:solidFill>
                          <a:latin typeface="+mn-lt"/>
                        </a:rPr>
                        <a:t>Так</a:t>
                      </a:r>
                      <a:r>
                        <a:rPr sz="1000" b="0" dirty="0">
                          <a:solidFill>
                            <a:srgbClr val="3A2822"/>
                          </a:solidFill>
                          <a:latin typeface="+mn-lt"/>
                        </a:rPr>
                        <a:t> (5)</a:t>
                      </a:r>
                    </a:p>
                  </a:txBody>
                  <a:tcPr>
                    <a:solidFill>
                      <a:srgbClr val="FAE5E2"/>
                    </a:solidFill>
                  </a:tcPr>
                </a:tc>
                <a:tc>
                  <a:txBody>
                    <a:bodyPr/>
                    <a:lstStyle/>
                    <a:p>
                      <a:pPr algn="ctr"/>
                      <a:r>
                        <a:rPr sz="1000" b="0">
                          <a:solidFill>
                            <a:srgbClr val="3A2822"/>
                          </a:solidFill>
                          <a:latin typeface="+mn-lt"/>
                        </a:rPr>
                        <a:t>Частково</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2.5/5</a:t>
                      </a:r>
                    </a:p>
                  </a:txBody>
                  <a:tcPr>
                    <a:solidFill>
                      <a:srgbClr val="FAE5E2"/>
                    </a:solidFill>
                  </a:tcPr>
                </a:tc>
                <a:extLst>
                  <a:ext uri="{0D108BD9-81ED-4DB2-BD59-A6C34878D82A}">
                    <a16:rowId xmlns:a16="http://schemas.microsoft.com/office/drawing/2014/main" val="10003"/>
                  </a:ext>
                </a:extLst>
              </a:tr>
              <a:tr h="352901">
                <a:tc>
                  <a:txBody>
                    <a:bodyPr/>
                    <a:lstStyle/>
                    <a:p>
                      <a:pPr algn="ctr"/>
                      <a:r>
                        <a:rPr sz="1000" b="0">
                          <a:solidFill>
                            <a:srgbClr val="3A2822"/>
                          </a:solidFill>
                          <a:latin typeface="+mn-lt"/>
                        </a:rPr>
                        <a:t>A4</a:t>
                      </a:r>
                    </a:p>
                  </a:txBody>
                  <a:tcPr>
                    <a:solidFill>
                      <a:srgbClr val="FAE5E2"/>
                    </a:solidFill>
                  </a:tcPr>
                </a:tc>
                <a:tc>
                  <a:txBody>
                    <a:bodyPr/>
                    <a:lstStyle/>
                    <a:p>
                      <a:pPr algn="ctr"/>
                      <a:r>
                        <a:rPr sz="1000" b="0" dirty="0">
                          <a:solidFill>
                            <a:srgbClr val="3A2822"/>
                          </a:solidFill>
                          <a:latin typeface="+mn-lt"/>
                        </a:rPr>
                        <a:t>WP </a:t>
                      </a:r>
                      <a:r>
                        <a:rPr sz="1000" b="0" dirty="0" err="1">
                          <a:solidFill>
                            <a:srgbClr val="3A2822"/>
                          </a:solidFill>
                          <a:latin typeface="+mn-lt"/>
                        </a:rPr>
                        <a:t>Cerber</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Так (3)</a:t>
                      </a:r>
                    </a:p>
                  </a:txBody>
                  <a:tcPr>
                    <a:solidFill>
                      <a:srgbClr val="FAE5E2"/>
                    </a:solidFill>
                  </a:tcPr>
                </a:tc>
                <a:tc>
                  <a:txBody>
                    <a:bodyPr/>
                    <a:lstStyle/>
                    <a:p>
                      <a:pPr algn="ctr"/>
                      <a:r>
                        <a:rPr sz="1000" b="0" dirty="0" err="1">
                          <a:solidFill>
                            <a:srgbClr val="3A2822"/>
                          </a:solidFill>
                          <a:latin typeface="+mn-lt"/>
                        </a:rPr>
                        <a:t>Так</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4.0/5</a:t>
                      </a:r>
                    </a:p>
                  </a:txBody>
                  <a:tcPr>
                    <a:solidFill>
                      <a:srgbClr val="FAE5E2"/>
                    </a:solidFill>
                  </a:tcPr>
                </a:tc>
                <a:extLst>
                  <a:ext uri="{0D108BD9-81ED-4DB2-BD59-A6C34878D82A}">
                    <a16:rowId xmlns:a16="http://schemas.microsoft.com/office/drawing/2014/main" val="10004"/>
                  </a:ext>
                </a:extLst>
              </a:tr>
              <a:tr h="352901">
                <a:tc>
                  <a:txBody>
                    <a:bodyPr/>
                    <a:lstStyle/>
                    <a:p>
                      <a:pPr algn="ctr"/>
                      <a:r>
                        <a:rPr sz="1000" b="0" dirty="0">
                          <a:solidFill>
                            <a:srgbClr val="3A2822"/>
                          </a:solidFill>
                          <a:latin typeface="+mn-lt"/>
                        </a:rPr>
                        <a:t>A5</a:t>
                      </a:r>
                    </a:p>
                  </a:txBody>
                  <a:tcPr>
                    <a:solidFill>
                      <a:srgbClr val="FAE5E2"/>
                    </a:solidFill>
                  </a:tcPr>
                </a:tc>
                <a:tc>
                  <a:txBody>
                    <a:bodyPr/>
                    <a:lstStyle/>
                    <a:p>
                      <a:pPr algn="ctr"/>
                      <a:r>
                        <a:rPr sz="1000" b="0">
                          <a:solidFill>
                            <a:srgbClr val="3A2822"/>
                          </a:solidFill>
                          <a:latin typeface="+mn-lt"/>
                        </a:rPr>
                        <a:t>MalCare</a:t>
                      </a:r>
                    </a:p>
                  </a:txBody>
                  <a:tcPr>
                    <a:solidFill>
                      <a:srgbClr val="FAE5E2"/>
                    </a:solidFill>
                  </a:tcPr>
                </a:tc>
                <a:tc>
                  <a:txBody>
                    <a:bodyPr/>
                    <a:lstStyle/>
                    <a:p>
                      <a:pPr algn="ctr"/>
                      <a:r>
                        <a:rPr sz="1000" b="0">
                          <a:solidFill>
                            <a:srgbClr val="3A2822"/>
                          </a:solidFill>
                          <a:latin typeface="+mn-lt"/>
                        </a:rPr>
                        <a:t>Так (10)</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dirty="0" err="1">
                          <a:solidFill>
                            <a:srgbClr val="3A2822"/>
                          </a:solidFill>
                          <a:latin typeface="+mn-lt"/>
                        </a:rPr>
                        <a:t>Так</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5.0/5</a:t>
                      </a:r>
                    </a:p>
                  </a:txBody>
                  <a:tcPr>
                    <a:solidFill>
                      <a:srgbClr val="FAE5E2"/>
                    </a:solidFill>
                  </a:tcPr>
                </a:tc>
                <a:extLst>
                  <a:ext uri="{0D108BD9-81ED-4DB2-BD59-A6C34878D82A}">
                    <a16:rowId xmlns:a16="http://schemas.microsoft.com/office/drawing/2014/main" val="10005"/>
                  </a:ext>
                </a:extLst>
              </a:tr>
              <a:tr h="352901">
                <a:tc>
                  <a:txBody>
                    <a:bodyPr/>
                    <a:lstStyle/>
                    <a:p>
                      <a:pPr algn="ctr"/>
                      <a:r>
                        <a:rPr sz="1000" b="0">
                          <a:solidFill>
                            <a:srgbClr val="3A2822"/>
                          </a:solidFill>
                          <a:latin typeface="+mn-lt"/>
                        </a:rPr>
                        <a:t>A6</a:t>
                      </a:r>
                    </a:p>
                  </a:txBody>
                  <a:tcPr>
                    <a:solidFill>
                      <a:srgbClr val="FAE5E2"/>
                    </a:solidFill>
                  </a:tcPr>
                </a:tc>
                <a:tc>
                  <a:txBody>
                    <a:bodyPr/>
                    <a:lstStyle/>
                    <a:p>
                      <a:pPr algn="ctr"/>
                      <a:r>
                        <a:rPr sz="1000" b="0">
                          <a:solidFill>
                            <a:srgbClr val="3A2822"/>
                          </a:solidFill>
                          <a:latin typeface="+mn-lt"/>
                        </a:rPr>
                        <a:t>SecuPress</a:t>
                      </a:r>
                    </a:p>
                  </a:txBody>
                  <a:tcPr>
                    <a:solidFill>
                      <a:srgbClr val="FAE5E2"/>
                    </a:solidFill>
                  </a:tcPr>
                </a:tc>
                <a:tc>
                  <a:txBody>
                    <a:bodyPr/>
                    <a:lstStyle/>
                    <a:p>
                      <a:pPr algn="ctr"/>
                      <a:r>
                        <a:rPr sz="1000" b="0">
                          <a:solidFill>
                            <a:srgbClr val="3A2822"/>
                          </a:solidFill>
                          <a:latin typeface="+mn-lt"/>
                        </a:rPr>
                        <a:t>Так (5)</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dirty="0" err="1">
                          <a:solidFill>
                            <a:srgbClr val="3A2822"/>
                          </a:solidFill>
                          <a:latin typeface="+mn-lt"/>
                        </a:rPr>
                        <a:t>Частково</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3.5/5</a:t>
                      </a:r>
                    </a:p>
                  </a:txBody>
                  <a:tcPr>
                    <a:solidFill>
                      <a:srgbClr val="FAE5E2"/>
                    </a:solidFill>
                  </a:tcPr>
                </a:tc>
                <a:extLst>
                  <a:ext uri="{0D108BD9-81ED-4DB2-BD59-A6C34878D82A}">
                    <a16:rowId xmlns:a16="http://schemas.microsoft.com/office/drawing/2014/main" val="10006"/>
                  </a:ext>
                </a:extLst>
              </a:tr>
              <a:tr h="352901">
                <a:tc>
                  <a:txBody>
                    <a:bodyPr/>
                    <a:lstStyle/>
                    <a:p>
                      <a:pPr algn="ctr"/>
                      <a:r>
                        <a:rPr sz="1000" b="0">
                          <a:solidFill>
                            <a:srgbClr val="3A2822"/>
                          </a:solidFill>
                          <a:latin typeface="+mn-lt"/>
                        </a:rPr>
                        <a:t>A7</a:t>
                      </a:r>
                    </a:p>
                  </a:txBody>
                  <a:tcPr>
                    <a:solidFill>
                      <a:srgbClr val="FAE5E2"/>
                    </a:solidFill>
                  </a:tcPr>
                </a:tc>
                <a:tc>
                  <a:txBody>
                    <a:bodyPr/>
                    <a:lstStyle/>
                    <a:p>
                      <a:pPr algn="ctr"/>
                      <a:r>
                        <a:rPr sz="1000" b="0">
                          <a:solidFill>
                            <a:srgbClr val="3A2822"/>
                          </a:solidFill>
                          <a:latin typeface="+mn-lt"/>
                        </a:rPr>
                        <a:t>Security Ninja</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dirty="0" err="1">
                          <a:solidFill>
                            <a:srgbClr val="3A2822"/>
                          </a:solidFill>
                          <a:latin typeface="+mn-lt"/>
                        </a:rPr>
                        <a:t>Ні</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1.0/5</a:t>
                      </a:r>
                    </a:p>
                  </a:txBody>
                  <a:tcPr>
                    <a:solidFill>
                      <a:srgbClr val="FAE5E2"/>
                    </a:solidFill>
                  </a:tcPr>
                </a:tc>
                <a:extLst>
                  <a:ext uri="{0D108BD9-81ED-4DB2-BD59-A6C34878D82A}">
                    <a16:rowId xmlns:a16="http://schemas.microsoft.com/office/drawing/2014/main" val="10007"/>
                  </a:ext>
                </a:extLst>
              </a:tr>
              <a:tr h="352901">
                <a:tc>
                  <a:txBody>
                    <a:bodyPr/>
                    <a:lstStyle/>
                    <a:p>
                      <a:pPr algn="ctr"/>
                      <a:r>
                        <a:rPr sz="1000" b="0">
                          <a:solidFill>
                            <a:srgbClr val="3A2822"/>
                          </a:solidFill>
                          <a:latin typeface="+mn-lt"/>
                        </a:rPr>
                        <a:t>A8</a:t>
                      </a:r>
                    </a:p>
                  </a:txBody>
                  <a:tcPr>
                    <a:solidFill>
                      <a:srgbClr val="FAE5E2"/>
                    </a:solidFill>
                  </a:tcPr>
                </a:tc>
                <a:tc>
                  <a:txBody>
                    <a:bodyPr/>
                    <a:lstStyle/>
                    <a:p>
                      <a:pPr algn="ctr"/>
                      <a:r>
                        <a:rPr sz="1000" b="0">
                          <a:solidFill>
                            <a:srgbClr val="3A2822"/>
                          </a:solidFill>
                          <a:latin typeface="+mn-lt"/>
                        </a:rPr>
                        <a:t>BulletProof</a:t>
                      </a:r>
                    </a:p>
                  </a:txBody>
                  <a:tcPr>
                    <a:solidFill>
                      <a:srgbClr val="FAE5E2"/>
                    </a:solidFill>
                  </a:tcPr>
                </a:tc>
                <a:tc>
                  <a:txBody>
                    <a:bodyPr/>
                    <a:lstStyle/>
                    <a:p>
                      <a:pPr algn="ctr"/>
                      <a:r>
                        <a:rPr sz="1000" b="0">
                          <a:solidFill>
                            <a:srgbClr val="3A2822"/>
                          </a:solidFill>
                          <a:latin typeface="+mn-lt"/>
                        </a:rPr>
                        <a:t>Так (10)</a:t>
                      </a:r>
                    </a:p>
                  </a:txBody>
                  <a:tcPr>
                    <a:solidFill>
                      <a:srgbClr val="FAE5E2"/>
                    </a:solidFill>
                  </a:tcPr>
                </a:tc>
                <a:tc>
                  <a:txBody>
                    <a:bodyPr/>
                    <a:lstStyle/>
                    <a:p>
                      <a:pPr algn="ctr"/>
                      <a:r>
                        <a:rPr sz="1000" b="0">
                          <a:solidFill>
                            <a:srgbClr val="3A2822"/>
                          </a:solidFill>
                          <a:latin typeface="+mn-lt"/>
                        </a:rPr>
                        <a:t>Частково</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dirty="0" err="1">
                          <a:solidFill>
                            <a:srgbClr val="3A2822"/>
                          </a:solidFill>
                          <a:latin typeface="+mn-lt"/>
                        </a:rPr>
                        <a:t>Ні</a:t>
                      </a:r>
                      <a:endParaRPr sz="1000" b="0" dirty="0">
                        <a:solidFill>
                          <a:srgbClr val="3A2822"/>
                        </a:solidFill>
                        <a:latin typeface="+mn-lt"/>
                      </a:endParaRPr>
                    </a:p>
                  </a:txBody>
                  <a:tcPr>
                    <a:solidFill>
                      <a:srgbClr val="FAE5E2"/>
                    </a:solidFill>
                  </a:tcPr>
                </a:tc>
                <a:tc>
                  <a:txBody>
                    <a:bodyPr/>
                    <a:lstStyle/>
                    <a:p>
                      <a:pPr algn="ctr"/>
                      <a:r>
                        <a:rPr sz="1000" b="0">
                          <a:solidFill>
                            <a:srgbClr val="3A2822"/>
                          </a:solidFill>
                          <a:latin typeface="+mn-lt"/>
                        </a:rPr>
                        <a:t>1.5/5</a:t>
                      </a:r>
                    </a:p>
                  </a:txBody>
                  <a:tcPr>
                    <a:solidFill>
                      <a:srgbClr val="FAE5E2"/>
                    </a:solidFill>
                  </a:tcPr>
                </a:tc>
                <a:extLst>
                  <a:ext uri="{0D108BD9-81ED-4DB2-BD59-A6C34878D82A}">
                    <a16:rowId xmlns:a16="http://schemas.microsoft.com/office/drawing/2014/main" val="10008"/>
                  </a:ext>
                </a:extLst>
              </a:tr>
              <a:tr h="352901">
                <a:tc>
                  <a:txBody>
                    <a:bodyPr/>
                    <a:lstStyle/>
                    <a:p>
                      <a:pPr algn="ctr"/>
                      <a:r>
                        <a:rPr sz="1000" b="0">
                          <a:solidFill>
                            <a:srgbClr val="3A2822"/>
                          </a:solidFill>
                          <a:latin typeface="+mn-lt"/>
                        </a:rPr>
                        <a:t>A9</a:t>
                      </a:r>
                    </a:p>
                  </a:txBody>
                  <a:tcPr>
                    <a:solidFill>
                      <a:srgbClr val="FAE5E2"/>
                    </a:solidFill>
                  </a:tcPr>
                </a:tc>
                <a:tc>
                  <a:txBody>
                    <a:bodyPr/>
                    <a:lstStyle/>
                    <a:p>
                      <a:pPr algn="ctr"/>
                      <a:r>
                        <a:rPr sz="1000" b="0">
                          <a:solidFill>
                            <a:srgbClr val="3A2822"/>
                          </a:solidFill>
                          <a:latin typeface="+mn-lt"/>
                        </a:rPr>
                        <a:t>AIOS</a:t>
                      </a:r>
                    </a:p>
                  </a:txBody>
                  <a:tcPr>
                    <a:solidFill>
                      <a:srgbClr val="FAE5E2"/>
                    </a:solidFill>
                  </a:tcPr>
                </a:tc>
                <a:tc>
                  <a:txBody>
                    <a:bodyPr/>
                    <a:lstStyle/>
                    <a:p>
                      <a:pPr algn="ctr"/>
                      <a:r>
                        <a:rPr sz="1000" b="0">
                          <a:solidFill>
                            <a:srgbClr val="3A2822"/>
                          </a:solidFill>
                          <a:latin typeface="+mn-lt"/>
                        </a:rPr>
                        <a:t>Так (3)</a:t>
                      </a:r>
                    </a:p>
                  </a:txBody>
                  <a:tcPr>
                    <a:solidFill>
                      <a:srgbClr val="FAE5E2"/>
                    </a:solidFill>
                  </a:tcPr>
                </a:tc>
                <a:tc>
                  <a:txBody>
                    <a:bodyPr/>
                    <a:lstStyle/>
                    <a:p>
                      <a:pPr algn="ctr"/>
                      <a:r>
                        <a:rPr sz="1000" b="0">
                          <a:solidFill>
                            <a:srgbClr val="3A2822"/>
                          </a:solidFill>
                          <a:latin typeface="+mn-lt"/>
                        </a:rPr>
                        <a:t>Частково</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dirty="0" err="1">
                          <a:solidFill>
                            <a:srgbClr val="3A2822"/>
                          </a:solidFill>
                          <a:latin typeface="+mn-lt"/>
                        </a:rPr>
                        <a:t>Так</a:t>
                      </a:r>
                      <a:endParaRPr sz="1000" b="0" dirty="0">
                        <a:solidFill>
                          <a:srgbClr val="3A2822"/>
                        </a:solidFill>
                        <a:latin typeface="+mn-lt"/>
                      </a:endParaRPr>
                    </a:p>
                  </a:txBody>
                  <a:tcPr>
                    <a:solidFill>
                      <a:srgbClr val="FAE5E2"/>
                    </a:solidFill>
                  </a:tcPr>
                </a:tc>
                <a:tc>
                  <a:txBody>
                    <a:bodyPr/>
                    <a:lstStyle/>
                    <a:p>
                      <a:pPr algn="ctr"/>
                      <a:r>
                        <a:rPr sz="1000" b="0" dirty="0">
                          <a:solidFill>
                            <a:srgbClr val="3A2822"/>
                          </a:solidFill>
                          <a:latin typeface="+mn-lt"/>
                        </a:rPr>
                        <a:t>2.5/5</a:t>
                      </a:r>
                    </a:p>
                  </a:txBody>
                  <a:tcPr>
                    <a:solidFill>
                      <a:srgbClr val="FAE5E2"/>
                    </a:solidFill>
                  </a:tcPr>
                </a:tc>
                <a:extLst>
                  <a:ext uri="{0D108BD9-81ED-4DB2-BD59-A6C34878D82A}">
                    <a16:rowId xmlns:a16="http://schemas.microsoft.com/office/drawing/2014/main" val="10009"/>
                  </a:ext>
                </a:extLst>
              </a:tr>
              <a:tr h="352901">
                <a:tc>
                  <a:txBody>
                    <a:bodyPr/>
                    <a:lstStyle/>
                    <a:p>
                      <a:pPr algn="ctr"/>
                      <a:r>
                        <a:rPr sz="1000" b="0">
                          <a:solidFill>
                            <a:srgbClr val="3A2822"/>
                          </a:solidFill>
                          <a:latin typeface="+mn-lt"/>
                        </a:rPr>
                        <a:t>A10</a:t>
                      </a:r>
                    </a:p>
                  </a:txBody>
                  <a:tcPr>
                    <a:solidFill>
                      <a:srgbClr val="FAE5E2"/>
                    </a:solidFill>
                  </a:tcPr>
                </a:tc>
                <a:tc>
                  <a:txBody>
                    <a:bodyPr/>
                    <a:lstStyle/>
                    <a:p>
                      <a:pPr algn="ctr"/>
                      <a:r>
                        <a:rPr sz="1000" b="0">
                          <a:solidFill>
                            <a:srgbClr val="3A2822"/>
                          </a:solidFill>
                          <a:latin typeface="+mn-lt"/>
                        </a:rPr>
                        <a:t>Titan</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a:solidFill>
                            <a:srgbClr val="3A2822"/>
                          </a:solidFill>
                          <a:latin typeface="+mn-lt"/>
                        </a:rPr>
                        <a:t>Ні</a:t>
                      </a:r>
                    </a:p>
                  </a:txBody>
                  <a:tcPr>
                    <a:solidFill>
                      <a:srgbClr val="FAE5E2"/>
                    </a:solidFill>
                  </a:tcPr>
                </a:tc>
                <a:tc>
                  <a:txBody>
                    <a:bodyPr/>
                    <a:lstStyle/>
                    <a:p>
                      <a:pPr algn="ctr"/>
                      <a:r>
                        <a:rPr sz="1000" b="0" dirty="0">
                          <a:solidFill>
                            <a:srgbClr val="3A2822"/>
                          </a:solidFill>
                          <a:latin typeface="+mn-lt"/>
                        </a:rPr>
                        <a:t>0.0/5</a:t>
                      </a:r>
                    </a:p>
                  </a:txBody>
                  <a:tcPr>
                    <a:solidFill>
                      <a:srgbClr val="FAE5E2"/>
                    </a:solidFill>
                  </a:tcPr>
                </a:tc>
                <a:extLst>
                  <a:ext uri="{0D108BD9-81ED-4DB2-BD59-A6C34878D82A}">
                    <a16:rowId xmlns:a16="http://schemas.microsoft.com/office/drawing/2014/main" val="10010"/>
                  </a:ext>
                </a:extLst>
              </a:tr>
              <a:tr h="352901">
                <a:tc>
                  <a:txBody>
                    <a:bodyPr/>
                    <a:lstStyle/>
                    <a:p>
                      <a:pPr algn="ctr"/>
                      <a:r>
                        <a:rPr sz="1000" b="0">
                          <a:solidFill>
                            <a:srgbClr val="3A2822"/>
                          </a:solidFill>
                          <a:latin typeface="+mn-lt"/>
                        </a:rPr>
                        <a:t>A11</a:t>
                      </a:r>
                    </a:p>
                  </a:txBody>
                  <a:tcPr>
                    <a:solidFill>
                      <a:srgbClr val="FAE5E2"/>
                    </a:solidFill>
                  </a:tcPr>
                </a:tc>
                <a:tc>
                  <a:txBody>
                    <a:bodyPr/>
                    <a:lstStyle/>
                    <a:p>
                      <a:pPr algn="ctr"/>
                      <a:r>
                        <a:rPr sz="1000" b="0">
                          <a:solidFill>
                            <a:srgbClr val="3A2822"/>
                          </a:solidFill>
                          <a:latin typeface="+mn-lt"/>
                        </a:rPr>
                        <a:t>NinjaFirewall</a:t>
                      </a:r>
                    </a:p>
                  </a:txBody>
                  <a:tcPr>
                    <a:solidFill>
                      <a:srgbClr val="FAE5E2"/>
                    </a:solidFill>
                  </a:tcPr>
                </a:tc>
                <a:tc>
                  <a:txBody>
                    <a:bodyPr/>
                    <a:lstStyle/>
                    <a:p>
                      <a:pPr algn="ctr"/>
                      <a:r>
                        <a:rPr sz="1000" b="0">
                          <a:solidFill>
                            <a:srgbClr val="3A2822"/>
                          </a:solidFill>
                          <a:latin typeface="+mn-lt"/>
                        </a:rPr>
                        <a:t>Так (3)</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a:solidFill>
                            <a:srgbClr val="3A2822"/>
                          </a:solidFill>
                          <a:latin typeface="+mn-lt"/>
                        </a:rPr>
                        <a:t>Част.</a:t>
                      </a:r>
                    </a:p>
                  </a:txBody>
                  <a:tcPr>
                    <a:solidFill>
                      <a:srgbClr val="FAE5E2"/>
                    </a:solidFill>
                  </a:tcPr>
                </a:tc>
                <a:tc>
                  <a:txBody>
                    <a:bodyPr/>
                    <a:lstStyle/>
                    <a:p>
                      <a:pPr algn="ctr"/>
                      <a:r>
                        <a:rPr sz="1000" b="0">
                          <a:solidFill>
                            <a:srgbClr val="3A2822"/>
                          </a:solidFill>
                          <a:latin typeface="+mn-lt"/>
                        </a:rPr>
                        <a:t>Так</a:t>
                      </a:r>
                    </a:p>
                  </a:txBody>
                  <a:tcPr>
                    <a:solidFill>
                      <a:srgbClr val="FAE5E2"/>
                    </a:solidFill>
                  </a:tcPr>
                </a:tc>
                <a:tc>
                  <a:txBody>
                    <a:bodyPr/>
                    <a:lstStyle/>
                    <a:p>
                      <a:pPr algn="ctr"/>
                      <a:r>
                        <a:rPr sz="1000" b="0" dirty="0">
                          <a:solidFill>
                            <a:srgbClr val="3A2822"/>
                          </a:solidFill>
                          <a:latin typeface="+mn-lt"/>
                        </a:rPr>
                        <a:t>4.5/5</a:t>
                      </a:r>
                    </a:p>
                  </a:txBody>
                  <a:tcPr>
                    <a:solidFill>
                      <a:srgbClr val="FAE5E2"/>
                    </a:solidFill>
                  </a:tcPr>
                </a:tc>
                <a:extLst>
                  <a:ext uri="{0D108BD9-81ED-4DB2-BD59-A6C34878D82A}">
                    <a16:rowId xmlns:a16="http://schemas.microsoft.com/office/drawing/2014/main" val="10011"/>
                  </a:ext>
                </a:extLst>
              </a:tr>
            </a:tbl>
          </a:graphicData>
        </a:graphic>
      </p:graphicFrame>
      <p:sp>
        <p:nvSpPr>
          <p:cNvPr id="8" name="TextBox 7"/>
          <p:cNvSpPr txBox="1"/>
          <p:nvPr/>
        </p:nvSpPr>
        <p:spPr>
          <a:xfrm>
            <a:off x="1068992" y="6310711"/>
            <a:ext cx="7006016" cy="375487"/>
          </a:xfrm>
          <a:prstGeom prst="rect">
            <a:avLst/>
          </a:prstGeom>
          <a:noFill/>
          <a:ln>
            <a:noFill/>
          </a:ln>
        </p:spPr>
        <p:txBody>
          <a:bodyPr wrap="square" lIns="45720" tIns="18288" rIns="45720" bIns="18288">
            <a:spAutoFit/>
          </a:bodyPr>
          <a:lstStyle/>
          <a:p>
            <a:pPr algn="l"/>
            <a:r>
              <a:rPr sz="1100" b="1" i="1" dirty="0" err="1">
                <a:solidFill>
                  <a:srgbClr val="F88A7A"/>
                </a:solidFill>
              </a:rPr>
              <a:t>Парадокс</a:t>
            </a:r>
            <a:r>
              <a:rPr sz="1100" b="1" i="1" dirty="0">
                <a:solidFill>
                  <a:srgbClr val="F88A7A"/>
                </a:solidFill>
              </a:rPr>
              <a:t> «</a:t>
            </a:r>
            <a:r>
              <a:rPr sz="1100" b="1" i="1" dirty="0" err="1">
                <a:solidFill>
                  <a:srgbClr val="F88A7A"/>
                </a:solidFill>
              </a:rPr>
              <a:t>детекція</a:t>
            </a:r>
            <a:r>
              <a:rPr sz="1100" b="1" i="1" dirty="0">
                <a:solidFill>
                  <a:srgbClr val="F88A7A"/>
                </a:solidFill>
              </a:rPr>
              <a:t> vs </a:t>
            </a:r>
            <a:r>
              <a:rPr sz="1100" b="1" i="1" dirty="0" err="1">
                <a:solidFill>
                  <a:srgbClr val="F88A7A"/>
                </a:solidFill>
              </a:rPr>
              <a:t>запобігання</a:t>
            </a:r>
            <a:r>
              <a:rPr sz="1100" b="1" i="1" dirty="0">
                <a:solidFill>
                  <a:srgbClr val="F88A7A"/>
                </a:solidFill>
              </a:rPr>
              <a:t>»: </a:t>
            </a:r>
            <a:r>
              <a:rPr sz="1100" b="1" i="1" dirty="0" err="1">
                <a:solidFill>
                  <a:srgbClr val="F88A7A"/>
                </a:solidFill>
              </a:rPr>
              <a:t>висока</a:t>
            </a:r>
            <a:r>
              <a:rPr sz="1100" b="1" i="1" dirty="0">
                <a:solidFill>
                  <a:srgbClr val="F88A7A"/>
                </a:solidFill>
              </a:rPr>
              <a:t> </a:t>
            </a:r>
            <a:r>
              <a:rPr sz="1100" b="1" i="1" dirty="0" err="1">
                <a:solidFill>
                  <a:srgbClr val="F88A7A"/>
                </a:solidFill>
              </a:rPr>
              <a:t>повнота</a:t>
            </a:r>
            <a:r>
              <a:rPr sz="1100" b="1" i="1" dirty="0">
                <a:solidFill>
                  <a:srgbClr val="F88A7A"/>
                </a:solidFill>
              </a:rPr>
              <a:t> </a:t>
            </a:r>
            <a:r>
              <a:rPr sz="1100" b="1" i="1" dirty="0" err="1">
                <a:solidFill>
                  <a:srgbClr val="F88A7A"/>
                </a:solidFill>
              </a:rPr>
              <a:t>сканування</a:t>
            </a:r>
            <a:r>
              <a:rPr sz="1100" b="1" i="1" dirty="0">
                <a:solidFill>
                  <a:srgbClr val="F88A7A"/>
                </a:solidFill>
              </a:rPr>
              <a:t> </a:t>
            </a:r>
            <a:r>
              <a:rPr sz="1100" b="1" i="1" dirty="0" err="1">
                <a:solidFill>
                  <a:srgbClr val="F88A7A"/>
                </a:solidFill>
              </a:rPr>
              <a:t>не</a:t>
            </a:r>
            <a:r>
              <a:rPr sz="1100" b="1" i="1" dirty="0">
                <a:solidFill>
                  <a:srgbClr val="F88A7A"/>
                </a:solidFill>
              </a:rPr>
              <a:t> </a:t>
            </a:r>
            <a:r>
              <a:rPr sz="1100" b="1" i="1" dirty="0" err="1">
                <a:solidFill>
                  <a:srgbClr val="F88A7A"/>
                </a:solidFill>
              </a:rPr>
              <a:t>завжди</a:t>
            </a:r>
            <a:r>
              <a:rPr sz="1100" b="1" i="1" dirty="0">
                <a:solidFill>
                  <a:srgbClr val="F88A7A"/>
                </a:solidFill>
              </a:rPr>
              <a:t> </a:t>
            </a:r>
            <a:r>
              <a:rPr sz="1100" b="1" i="1" dirty="0" err="1">
                <a:solidFill>
                  <a:srgbClr val="F88A7A"/>
                </a:solidFill>
              </a:rPr>
              <a:t>корелює</a:t>
            </a:r>
            <a:endParaRPr sz="1100" b="1" i="1" dirty="0">
              <a:solidFill>
                <a:srgbClr val="F88A7A"/>
              </a:solidFill>
            </a:endParaRPr>
          </a:p>
          <a:p>
            <a:pPr algn="l"/>
            <a:r>
              <a:rPr sz="1100" b="1" i="1" dirty="0" err="1">
                <a:solidFill>
                  <a:srgbClr val="F88A7A"/>
                </a:solidFill>
              </a:rPr>
              <a:t>з</a:t>
            </a:r>
            <a:r>
              <a:rPr sz="1100" b="1" i="1" dirty="0">
                <a:solidFill>
                  <a:srgbClr val="F88A7A"/>
                </a:solidFill>
              </a:rPr>
              <a:t> </a:t>
            </a:r>
            <a:r>
              <a:rPr sz="1100" b="1" i="1" dirty="0" err="1">
                <a:solidFill>
                  <a:srgbClr val="F88A7A"/>
                </a:solidFill>
              </a:rPr>
              <a:t>активним</a:t>
            </a:r>
            <a:r>
              <a:rPr sz="1100" b="1" i="1" dirty="0">
                <a:solidFill>
                  <a:srgbClr val="F88A7A"/>
                </a:solidFill>
              </a:rPr>
              <a:t> </a:t>
            </a:r>
            <a:r>
              <a:rPr sz="1100" b="1" i="1" dirty="0" err="1">
                <a:solidFill>
                  <a:srgbClr val="F88A7A"/>
                </a:solidFill>
              </a:rPr>
              <a:t>захистом</a:t>
            </a:r>
            <a:r>
              <a:rPr sz="1100" b="1" i="1" dirty="0">
                <a:solidFill>
                  <a:srgbClr val="F88A7A"/>
                </a:solidFill>
              </a:rPr>
              <a:t> </a:t>
            </a:r>
            <a:r>
              <a:rPr sz="1100" b="1" i="1" dirty="0" err="1">
                <a:solidFill>
                  <a:srgbClr val="F88A7A"/>
                </a:solidFill>
              </a:rPr>
              <a:t>від</a:t>
            </a:r>
            <a:r>
              <a:rPr sz="1100" b="1" i="1" dirty="0">
                <a:solidFill>
                  <a:srgbClr val="F88A7A"/>
                </a:solidFill>
              </a:rPr>
              <a:t> </a:t>
            </a:r>
            <a:r>
              <a:rPr sz="1100" b="1" i="1" dirty="0" err="1">
                <a:solidFill>
                  <a:srgbClr val="F88A7A"/>
                </a:solidFill>
              </a:rPr>
              <a:t>реальних</a:t>
            </a:r>
            <a:r>
              <a:rPr sz="1100" b="1" i="1" dirty="0">
                <a:solidFill>
                  <a:srgbClr val="F88A7A"/>
                </a:solidFill>
              </a:rPr>
              <a:t> </a:t>
            </a:r>
            <a:r>
              <a:rPr sz="1100" b="1" i="1" dirty="0" err="1">
                <a:solidFill>
                  <a:srgbClr val="F88A7A"/>
                </a:solidFill>
              </a:rPr>
              <a:t>атак</a:t>
            </a:r>
            <a:r>
              <a:rPr sz="1100" b="1" i="1" dirty="0">
                <a:solidFill>
                  <a:srgbClr val="F88A7A"/>
                </a:solidFill>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6" name="Rectangle 25">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8" name="Rectangle 27">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130" y="0"/>
            <a:ext cx="71925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 name="Title 1"/>
          <p:cNvSpPr>
            <a:spLocks noGrp="1"/>
          </p:cNvSpPr>
          <p:nvPr>
            <p:ph type="title"/>
          </p:nvPr>
        </p:nvSpPr>
        <p:spPr>
          <a:xfrm>
            <a:off x="1020308" y="302043"/>
            <a:ext cx="6477485" cy="2115869"/>
          </a:xfrm>
        </p:spPr>
        <p:txBody>
          <a:bodyPr vert="horz" lIns="91440" tIns="45720" rIns="91440" bIns="45720" rtlCol="0" anchor="b">
            <a:normAutofit/>
          </a:bodyPr>
          <a:lstStyle/>
          <a:p>
            <a:pPr algn="l" defTabSz="914400">
              <a:defRPr sz="3400" b="1"/>
            </a:pPr>
            <a:r>
              <a:rPr lang="uk-UA" sz="3500" dirty="0"/>
              <a:t>Розрахунки метрик якості</a:t>
            </a:r>
            <a:br>
              <a:rPr lang="uk-UA" sz="3500" dirty="0"/>
            </a:br>
            <a:br>
              <a:rPr lang="uk-UA" sz="3500" dirty="0"/>
            </a:br>
            <a:r>
              <a:rPr lang="en-US" sz="1600" dirty="0"/>
              <a:t>Precision, Recall, F1</a:t>
            </a:r>
          </a:p>
        </p:txBody>
      </p:sp>
      <p:graphicFrame>
        <p:nvGraphicFramePr>
          <p:cNvPr id="30" name="Table 29"/>
          <p:cNvGraphicFramePr>
            <a:graphicFrameLocks noGrp="1"/>
          </p:cNvGraphicFramePr>
          <p:nvPr>
            <p:extLst>
              <p:ext uri="{D42A27DB-BD31-4B8C-83A1-F6EECF244321}">
                <p14:modId xmlns:p14="http://schemas.microsoft.com/office/powerpoint/2010/main" val="3032598314"/>
              </p:ext>
            </p:extLst>
          </p:nvPr>
        </p:nvGraphicFramePr>
        <p:xfrm>
          <a:off x="1125151" y="2730623"/>
          <a:ext cx="6112899" cy="2800000"/>
        </p:xfrm>
        <a:graphic>
          <a:graphicData uri="http://schemas.openxmlformats.org/drawingml/2006/table">
            <a:tbl>
              <a:tblPr firstRow="1" bandRow="1">
                <a:tableStyleId>{5C22544A-7EE6-4342-B048-85BDC9FD1C3A}</a:tableStyleId>
              </a:tblPr>
              <a:tblGrid>
                <a:gridCol w="1909192">
                  <a:extLst>
                    <a:ext uri="{9D8B030D-6E8A-4147-A177-3AD203B41FA5}">
                      <a16:colId xmlns:a16="http://schemas.microsoft.com/office/drawing/2014/main" val="20000"/>
                    </a:ext>
                  </a:extLst>
                </a:gridCol>
                <a:gridCol w="1000053">
                  <a:extLst>
                    <a:ext uri="{9D8B030D-6E8A-4147-A177-3AD203B41FA5}">
                      <a16:colId xmlns:a16="http://schemas.microsoft.com/office/drawing/2014/main" val="20001"/>
                    </a:ext>
                  </a:extLst>
                </a:gridCol>
                <a:gridCol w="1000053">
                  <a:extLst>
                    <a:ext uri="{9D8B030D-6E8A-4147-A177-3AD203B41FA5}">
                      <a16:colId xmlns:a16="http://schemas.microsoft.com/office/drawing/2014/main" val="20002"/>
                    </a:ext>
                  </a:extLst>
                </a:gridCol>
                <a:gridCol w="1000053">
                  <a:extLst>
                    <a:ext uri="{9D8B030D-6E8A-4147-A177-3AD203B41FA5}">
                      <a16:colId xmlns:a16="http://schemas.microsoft.com/office/drawing/2014/main" val="20003"/>
                    </a:ext>
                  </a:extLst>
                </a:gridCol>
                <a:gridCol w="1203548">
                  <a:extLst>
                    <a:ext uri="{9D8B030D-6E8A-4147-A177-3AD203B41FA5}">
                      <a16:colId xmlns:a16="http://schemas.microsoft.com/office/drawing/2014/main" val="20004"/>
                    </a:ext>
                  </a:extLst>
                </a:gridCol>
              </a:tblGrid>
              <a:tr h="400000">
                <a:tc>
                  <a:txBody>
                    <a:bodyPr/>
                    <a:lstStyle/>
                    <a:p>
                      <a:r>
                        <a:rPr sz="1000" b="1" dirty="0" err="1">
                          <a:solidFill>
                            <a:schemeClr val="tx1"/>
                          </a:solidFill>
                        </a:rPr>
                        <a:t>Плагін</a:t>
                      </a:r>
                      <a:endParaRPr sz="1000" b="1" dirty="0">
                        <a:solidFill>
                          <a:schemeClr val="tx1"/>
                        </a:solidFill>
                      </a:endParaRPr>
                    </a:p>
                  </a:txBody>
                  <a:tcPr>
                    <a:solidFill>
                      <a:schemeClr val="accent1"/>
                    </a:solidFill>
                  </a:tcPr>
                </a:tc>
                <a:tc>
                  <a:txBody>
                    <a:bodyPr/>
                    <a:lstStyle/>
                    <a:p>
                      <a:r>
                        <a:rPr sz="1000" b="1" dirty="0" err="1">
                          <a:solidFill>
                            <a:schemeClr val="tx1"/>
                          </a:solidFill>
                        </a:rPr>
                        <a:t>Виявлено</a:t>
                      </a:r>
                      <a:endParaRPr sz="1000" b="1" dirty="0">
                        <a:solidFill>
                          <a:schemeClr val="tx1"/>
                        </a:solidFill>
                      </a:endParaRPr>
                    </a:p>
                  </a:txBody>
                  <a:tcPr>
                    <a:solidFill>
                      <a:schemeClr val="accent1"/>
                    </a:solidFill>
                  </a:tcPr>
                </a:tc>
                <a:tc>
                  <a:txBody>
                    <a:bodyPr/>
                    <a:lstStyle/>
                    <a:p>
                      <a:r>
                        <a:rPr sz="1000" b="1">
                          <a:solidFill>
                            <a:schemeClr val="tx1"/>
                          </a:solidFill>
                        </a:rPr>
                        <a:t>Recall, %</a:t>
                      </a:r>
                    </a:p>
                  </a:txBody>
                  <a:tcPr>
                    <a:solidFill>
                      <a:schemeClr val="accent1"/>
                    </a:solidFill>
                  </a:tcPr>
                </a:tc>
                <a:tc>
                  <a:txBody>
                    <a:bodyPr/>
                    <a:lstStyle/>
                    <a:p>
                      <a:r>
                        <a:rPr sz="1000" b="1">
                          <a:solidFill>
                            <a:schemeClr val="tx1"/>
                          </a:solidFill>
                        </a:rPr>
                        <a:t>FP Rate, %</a:t>
                      </a:r>
                    </a:p>
                  </a:txBody>
                  <a:tcPr>
                    <a:solidFill>
                      <a:schemeClr val="accent1"/>
                    </a:solidFill>
                  </a:tcPr>
                </a:tc>
                <a:tc>
                  <a:txBody>
                    <a:bodyPr/>
                    <a:lstStyle/>
                    <a:p>
                      <a:r>
                        <a:rPr sz="1000" b="1">
                          <a:solidFill>
                            <a:schemeClr val="tx1"/>
                          </a:solidFill>
                        </a:rPr>
                        <a:t>F1, %</a:t>
                      </a:r>
                    </a:p>
                  </a:txBody>
                  <a:tcPr>
                    <a:solidFill>
                      <a:schemeClr val="accent1"/>
                    </a:solidFill>
                  </a:tcPr>
                </a:tc>
                <a:extLst>
                  <a:ext uri="{0D108BD9-81ED-4DB2-BD59-A6C34878D82A}">
                    <a16:rowId xmlns:a16="http://schemas.microsoft.com/office/drawing/2014/main" val="10000"/>
                  </a:ext>
                </a:extLst>
              </a:tr>
              <a:tr h="400000">
                <a:tc>
                  <a:txBody>
                    <a:bodyPr/>
                    <a:lstStyle/>
                    <a:p>
                      <a:r>
                        <a:rPr sz="1000" b="1" dirty="0" err="1">
                          <a:solidFill>
                            <a:schemeClr val="tx1"/>
                          </a:solidFill>
                        </a:rPr>
                        <a:t>MalCare</a:t>
                      </a:r>
                      <a:endParaRPr sz="1000" b="1" dirty="0">
                        <a:solidFill>
                          <a:schemeClr val="tx1"/>
                        </a:solidFill>
                      </a:endParaRPr>
                    </a:p>
                  </a:txBody>
                  <a:tcPr>
                    <a:solidFill>
                      <a:schemeClr val="accent1"/>
                    </a:solidFill>
                  </a:tcPr>
                </a:tc>
                <a:tc>
                  <a:txBody>
                    <a:bodyPr/>
                    <a:lstStyle/>
                    <a:p>
                      <a:r>
                        <a:rPr sz="1000" b="1" dirty="0">
                          <a:solidFill>
                            <a:schemeClr val="tx1"/>
                          </a:solidFill>
                        </a:rPr>
                        <a:t>49 / 51</a:t>
                      </a:r>
                    </a:p>
                  </a:txBody>
                  <a:tcPr>
                    <a:solidFill>
                      <a:schemeClr val="accent1"/>
                    </a:solidFill>
                  </a:tcPr>
                </a:tc>
                <a:tc>
                  <a:txBody>
                    <a:bodyPr/>
                    <a:lstStyle/>
                    <a:p>
                      <a:r>
                        <a:rPr sz="1000" b="1" dirty="0">
                          <a:solidFill>
                            <a:schemeClr val="tx1"/>
                          </a:solidFill>
                        </a:rPr>
                        <a:t>96.1</a:t>
                      </a:r>
                    </a:p>
                  </a:txBody>
                  <a:tcPr>
                    <a:solidFill>
                      <a:schemeClr val="accent1"/>
                    </a:solidFill>
                  </a:tcPr>
                </a:tc>
                <a:tc>
                  <a:txBody>
                    <a:bodyPr/>
                    <a:lstStyle/>
                    <a:p>
                      <a:r>
                        <a:rPr sz="1000" b="1" dirty="0">
                          <a:solidFill>
                            <a:schemeClr val="tx1"/>
                          </a:solidFill>
                        </a:rPr>
                        <a:t>0.8</a:t>
                      </a:r>
                    </a:p>
                  </a:txBody>
                  <a:tcPr>
                    <a:solidFill>
                      <a:schemeClr val="accent1"/>
                    </a:solidFill>
                  </a:tcPr>
                </a:tc>
                <a:tc>
                  <a:txBody>
                    <a:bodyPr/>
                    <a:lstStyle/>
                    <a:p>
                      <a:r>
                        <a:rPr sz="1000" b="1" dirty="0">
                          <a:solidFill>
                            <a:schemeClr val="tx1"/>
                          </a:solidFill>
                        </a:rPr>
                        <a:t>97.5</a:t>
                      </a:r>
                    </a:p>
                  </a:txBody>
                  <a:tcPr>
                    <a:solidFill>
                      <a:schemeClr val="accent1"/>
                    </a:solidFill>
                  </a:tcPr>
                </a:tc>
                <a:extLst>
                  <a:ext uri="{0D108BD9-81ED-4DB2-BD59-A6C34878D82A}">
                    <a16:rowId xmlns:a16="http://schemas.microsoft.com/office/drawing/2014/main" val="10001"/>
                  </a:ext>
                </a:extLst>
              </a:tr>
              <a:tr h="400000">
                <a:tc>
                  <a:txBody>
                    <a:bodyPr/>
                    <a:lstStyle/>
                    <a:p>
                      <a:r>
                        <a:rPr sz="1000" dirty="0" err="1">
                          <a:solidFill>
                            <a:schemeClr val="tx1"/>
                          </a:solidFill>
                        </a:rPr>
                        <a:t>Sucuri</a:t>
                      </a:r>
                      <a:r>
                        <a:rPr sz="1000" dirty="0">
                          <a:solidFill>
                            <a:schemeClr val="tx1"/>
                          </a:solidFill>
                        </a:rPr>
                        <a:t> Security</a:t>
                      </a:r>
                    </a:p>
                  </a:txBody>
                  <a:tcPr>
                    <a:solidFill>
                      <a:schemeClr val="accent1"/>
                    </a:solidFill>
                  </a:tcPr>
                </a:tc>
                <a:tc>
                  <a:txBody>
                    <a:bodyPr/>
                    <a:lstStyle/>
                    <a:p>
                      <a:r>
                        <a:rPr sz="1000" dirty="0">
                          <a:solidFill>
                            <a:schemeClr val="tx1"/>
                          </a:solidFill>
                        </a:rPr>
                        <a:t>43 / 51</a:t>
                      </a:r>
                    </a:p>
                  </a:txBody>
                  <a:tcPr>
                    <a:solidFill>
                      <a:schemeClr val="accent1"/>
                    </a:solidFill>
                  </a:tcPr>
                </a:tc>
                <a:tc>
                  <a:txBody>
                    <a:bodyPr/>
                    <a:lstStyle/>
                    <a:p>
                      <a:r>
                        <a:rPr sz="1000" dirty="0">
                          <a:solidFill>
                            <a:schemeClr val="tx1"/>
                          </a:solidFill>
                        </a:rPr>
                        <a:t>84.3</a:t>
                      </a:r>
                    </a:p>
                  </a:txBody>
                  <a:tcPr>
                    <a:solidFill>
                      <a:schemeClr val="accent1"/>
                    </a:solidFill>
                  </a:tcPr>
                </a:tc>
                <a:tc>
                  <a:txBody>
                    <a:bodyPr/>
                    <a:lstStyle/>
                    <a:p>
                      <a:r>
                        <a:rPr sz="1000">
                          <a:solidFill>
                            <a:schemeClr val="tx1"/>
                          </a:solidFill>
                        </a:rPr>
                        <a:t>1.1</a:t>
                      </a:r>
                    </a:p>
                  </a:txBody>
                  <a:tcPr>
                    <a:solidFill>
                      <a:schemeClr val="accent1"/>
                    </a:solidFill>
                  </a:tcPr>
                </a:tc>
                <a:tc>
                  <a:txBody>
                    <a:bodyPr/>
                    <a:lstStyle/>
                    <a:p>
                      <a:r>
                        <a:rPr sz="1000">
                          <a:solidFill>
                            <a:schemeClr val="tx1"/>
                          </a:solidFill>
                        </a:rPr>
                        <a:t>91.0</a:t>
                      </a:r>
                    </a:p>
                  </a:txBody>
                  <a:tcPr>
                    <a:solidFill>
                      <a:schemeClr val="accent1"/>
                    </a:solidFill>
                  </a:tcPr>
                </a:tc>
                <a:extLst>
                  <a:ext uri="{0D108BD9-81ED-4DB2-BD59-A6C34878D82A}">
                    <a16:rowId xmlns:a16="http://schemas.microsoft.com/office/drawing/2014/main" val="10002"/>
                  </a:ext>
                </a:extLst>
              </a:tr>
              <a:tr h="400000">
                <a:tc>
                  <a:txBody>
                    <a:bodyPr/>
                    <a:lstStyle/>
                    <a:p>
                      <a:r>
                        <a:rPr sz="1000" dirty="0" err="1">
                          <a:solidFill>
                            <a:schemeClr val="tx1"/>
                          </a:solidFill>
                        </a:rPr>
                        <a:t>SecuPress</a:t>
                      </a:r>
                      <a:endParaRPr sz="1000" dirty="0">
                        <a:solidFill>
                          <a:schemeClr val="tx1"/>
                        </a:solidFill>
                      </a:endParaRPr>
                    </a:p>
                  </a:txBody>
                  <a:tcPr>
                    <a:solidFill>
                      <a:schemeClr val="accent1"/>
                    </a:solidFill>
                  </a:tcPr>
                </a:tc>
                <a:tc>
                  <a:txBody>
                    <a:bodyPr/>
                    <a:lstStyle/>
                    <a:p>
                      <a:r>
                        <a:rPr sz="1000" dirty="0">
                          <a:solidFill>
                            <a:schemeClr val="tx1"/>
                          </a:solidFill>
                        </a:rPr>
                        <a:t>43 / 51</a:t>
                      </a:r>
                    </a:p>
                  </a:txBody>
                  <a:tcPr>
                    <a:solidFill>
                      <a:schemeClr val="accent1"/>
                    </a:solidFill>
                  </a:tcPr>
                </a:tc>
                <a:tc>
                  <a:txBody>
                    <a:bodyPr/>
                    <a:lstStyle/>
                    <a:p>
                      <a:r>
                        <a:rPr sz="1000" dirty="0">
                          <a:solidFill>
                            <a:schemeClr val="tx1"/>
                          </a:solidFill>
                        </a:rPr>
                        <a:t>84.3</a:t>
                      </a:r>
                    </a:p>
                  </a:txBody>
                  <a:tcPr>
                    <a:solidFill>
                      <a:schemeClr val="accent1"/>
                    </a:solidFill>
                  </a:tcPr>
                </a:tc>
                <a:tc>
                  <a:txBody>
                    <a:bodyPr/>
                    <a:lstStyle/>
                    <a:p>
                      <a:r>
                        <a:rPr sz="1000">
                          <a:solidFill>
                            <a:schemeClr val="tx1"/>
                          </a:solidFill>
                        </a:rPr>
                        <a:t>2.3</a:t>
                      </a:r>
                    </a:p>
                  </a:txBody>
                  <a:tcPr>
                    <a:solidFill>
                      <a:schemeClr val="accent1"/>
                    </a:solidFill>
                  </a:tcPr>
                </a:tc>
                <a:tc>
                  <a:txBody>
                    <a:bodyPr/>
                    <a:lstStyle/>
                    <a:p>
                      <a:r>
                        <a:rPr sz="1000">
                          <a:solidFill>
                            <a:schemeClr val="tx1"/>
                          </a:solidFill>
                        </a:rPr>
                        <a:t>90.5</a:t>
                      </a:r>
                    </a:p>
                  </a:txBody>
                  <a:tcPr>
                    <a:solidFill>
                      <a:schemeClr val="accent1"/>
                    </a:solidFill>
                  </a:tcPr>
                </a:tc>
                <a:extLst>
                  <a:ext uri="{0D108BD9-81ED-4DB2-BD59-A6C34878D82A}">
                    <a16:rowId xmlns:a16="http://schemas.microsoft.com/office/drawing/2014/main" val="10003"/>
                  </a:ext>
                </a:extLst>
              </a:tr>
              <a:tr h="400000">
                <a:tc>
                  <a:txBody>
                    <a:bodyPr/>
                    <a:lstStyle/>
                    <a:p>
                      <a:r>
                        <a:rPr sz="1000">
                          <a:solidFill>
                            <a:schemeClr val="tx1"/>
                          </a:solidFill>
                        </a:rPr>
                        <a:t>Wordfence</a:t>
                      </a:r>
                    </a:p>
                  </a:txBody>
                  <a:tcPr>
                    <a:solidFill>
                      <a:schemeClr val="accent1"/>
                    </a:solidFill>
                  </a:tcPr>
                </a:tc>
                <a:tc>
                  <a:txBody>
                    <a:bodyPr/>
                    <a:lstStyle/>
                    <a:p>
                      <a:r>
                        <a:rPr sz="1000">
                          <a:solidFill>
                            <a:schemeClr val="tx1"/>
                          </a:solidFill>
                        </a:rPr>
                        <a:t>42 / 51</a:t>
                      </a:r>
                    </a:p>
                  </a:txBody>
                  <a:tcPr>
                    <a:solidFill>
                      <a:schemeClr val="accent1"/>
                    </a:solidFill>
                  </a:tcPr>
                </a:tc>
                <a:tc>
                  <a:txBody>
                    <a:bodyPr/>
                    <a:lstStyle/>
                    <a:p>
                      <a:r>
                        <a:rPr sz="1000" dirty="0">
                          <a:solidFill>
                            <a:schemeClr val="tx1"/>
                          </a:solidFill>
                        </a:rPr>
                        <a:t>82.4</a:t>
                      </a:r>
                    </a:p>
                  </a:txBody>
                  <a:tcPr>
                    <a:solidFill>
                      <a:schemeClr val="accent1"/>
                    </a:solidFill>
                  </a:tcPr>
                </a:tc>
                <a:tc>
                  <a:txBody>
                    <a:bodyPr/>
                    <a:lstStyle/>
                    <a:p>
                      <a:r>
                        <a:rPr sz="1000" dirty="0">
                          <a:solidFill>
                            <a:schemeClr val="tx1"/>
                          </a:solidFill>
                        </a:rPr>
                        <a:t>7.2</a:t>
                      </a:r>
                    </a:p>
                  </a:txBody>
                  <a:tcPr>
                    <a:solidFill>
                      <a:schemeClr val="accent1"/>
                    </a:solidFill>
                  </a:tcPr>
                </a:tc>
                <a:tc>
                  <a:txBody>
                    <a:bodyPr/>
                    <a:lstStyle/>
                    <a:p>
                      <a:r>
                        <a:rPr sz="1000">
                          <a:solidFill>
                            <a:schemeClr val="tx1"/>
                          </a:solidFill>
                        </a:rPr>
                        <a:t>86.6</a:t>
                      </a:r>
                    </a:p>
                  </a:txBody>
                  <a:tcPr>
                    <a:solidFill>
                      <a:schemeClr val="accent1"/>
                    </a:solidFill>
                  </a:tcPr>
                </a:tc>
                <a:extLst>
                  <a:ext uri="{0D108BD9-81ED-4DB2-BD59-A6C34878D82A}">
                    <a16:rowId xmlns:a16="http://schemas.microsoft.com/office/drawing/2014/main" val="10004"/>
                  </a:ext>
                </a:extLst>
              </a:tr>
              <a:tr h="400000">
                <a:tc>
                  <a:txBody>
                    <a:bodyPr/>
                    <a:lstStyle/>
                    <a:p>
                      <a:r>
                        <a:rPr sz="1000">
                          <a:solidFill>
                            <a:schemeClr val="tx1"/>
                          </a:solidFill>
                        </a:rPr>
                        <a:t>NinjaFirewall</a:t>
                      </a:r>
                    </a:p>
                  </a:txBody>
                  <a:tcPr>
                    <a:solidFill>
                      <a:schemeClr val="accent1"/>
                    </a:solidFill>
                  </a:tcPr>
                </a:tc>
                <a:tc>
                  <a:txBody>
                    <a:bodyPr/>
                    <a:lstStyle/>
                    <a:p>
                      <a:r>
                        <a:rPr sz="1000">
                          <a:solidFill>
                            <a:schemeClr val="tx1"/>
                          </a:solidFill>
                        </a:rPr>
                        <a:t>40 / 51</a:t>
                      </a:r>
                    </a:p>
                  </a:txBody>
                  <a:tcPr>
                    <a:solidFill>
                      <a:schemeClr val="accent1"/>
                    </a:solidFill>
                  </a:tcPr>
                </a:tc>
                <a:tc>
                  <a:txBody>
                    <a:bodyPr/>
                    <a:lstStyle/>
                    <a:p>
                      <a:r>
                        <a:rPr sz="1000" dirty="0">
                          <a:solidFill>
                            <a:schemeClr val="tx1"/>
                          </a:solidFill>
                        </a:rPr>
                        <a:t>78.4</a:t>
                      </a:r>
                    </a:p>
                  </a:txBody>
                  <a:tcPr>
                    <a:solidFill>
                      <a:schemeClr val="accent1"/>
                    </a:solidFill>
                  </a:tcPr>
                </a:tc>
                <a:tc>
                  <a:txBody>
                    <a:bodyPr/>
                    <a:lstStyle/>
                    <a:p>
                      <a:r>
                        <a:rPr sz="1000" dirty="0">
                          <a:solidFill>
                            <a:schemeClr val="tx1"/>
                          </a:solidFill>
                        </a:rPr>
                        <a:t>1.5</a:t>
                      </a:r>
                    </a:p>
                  </a:txBody>
                  <a:tcPr>
                    <a:solidFill>
                      <a:schemeClr val="accent1"/>
                    </a:solidFill>
                  </a:tcPr>
                </a:tc>
                <a:tc>
                  <a:txBody>
                    <a:bodyPr/>
                    <a:lstStyle/>
                    <a:p>
                      <a:r>
                        <a:rPr sz="1000" dirty="0">
                          <a:solidFill>
                            <a:schemeClr val="tx1"/>
                          </a:solidFill>
                        </a:rPr>
                        <a:t>87.4</a:t>
                      </a:r>
                    </a:p>
                  </a:txBody>
                  <a:tcPr>
                    <a:solidFill>
                      <a:schemeClr val="accent1"/>
                    </a:solidFill>
                  </a:tcPr>
                </a:tc>
                <a:extLst>
                  <a:ext uri="{0D108BD9-81ED-4DB2-BD59-A6C34878D82A}">
                    <a16:rowId xmlns:a16="http://schemas.microsoft.com/office/drawing/2014/main" val="10005"/>
                  </a:ext>
                </a:extLst>
              </a:tr>
              <a:tr h="400000">
                <a:tc>
                  <a:txBody>
                    <a:bodyPr/>
                    <a:lstStyle/>
                    <a:p>
                      <a:r>
                        <a:rPr sz="1000">
                          <a:solidFill>
                            <a:schemeClr val="tx1"/>
                          </a:solidFill>
                        </a:rPr>
                        <a:t>Solid Security</a:t>
                      </a:r>
                    </a:p>
                  </a:txBody>
                  <a:tcPr>
                    <a:solidFill>
                      <a:schemeClr val="accent1"/>
                    </a:solidFill>
                  </a:tcPr>
                </a:tc>
                <a:tc>
                  <a:txBody>
                    <a:bodyPr/>
                    <a:lstStyle/>
                    <a:p>
                      <a:r>
                        <a:rPr sz="1000">
                          <a:solidFill>
                            <a:schemeClr val="tx1"/>
                          </a:solidFill>
                        </a:rPr>
                        <a:t>32 / 51</a:t>
                      </a:r>
                    </a:p>
                  </a:txBody>
                  <a:tcPr>
                    <a:solidFill>
                      <a:schemeClr val="accent1"/>
                    </a:solidFill>
                  </a:tcPr>
                </a:tc>
                <a:tc>
                  <a:txBody>
                    <a:bodyPr/>
                    <a:lstStyle/>
                    <a:p>
                      <a:r>
                        <a:rPr sz="1000">
                          <a:solidFill>
                            <a:schemeClr val="tx1"/>
                          </a:solidFill>
                        </a:rPr>
                        <a:t>62.7</a:t>
                      </a:r>
                    </a:p>
                  </a:txBody>
                  <a:tcPr>
                    <a:solidFill>
                      <a:schemeClr val="accent1"/>
                    </a:solidFill>
                  </a:tcPr>
                </a:tc>
                <a:tc>
                  <a:txBody>
                    <a:bodyPr/>
                    <a:lstStyle/>
                    <a:p>
                      <a:r>
                        <a:rPr sz="1000" dirty="0">
                          <a:solidFill>
                            <a:schemeClr val="tx1"/>
                          </a:solidFill>
                        </a:rPr>
                        <a:t>3.4</a:t>
                      </a:r>
                    </a:p>
                  </a:txBody>
                  <a:tcPr>
                    <a:solidFill>
                      <a:schemeClr val="accent1"/>
                    </a:solidFill>
                  </a:tcPr>
                </a:tc>
                <a:tc>
                  <a:txBody>
                    <a:bodyPr/>
                    <a:lstStyle/>
                    <a:p>
                      <a:r>
                        <a:rPr sz="1000" dirty="0">
                          <a:solidFill>
                            <a:schemeClr val="tx1"/>
                          </a:solidFill>
                        </a:rPr>
                        <a:t>76.2</a:t>
                      </a:r>
                    </a:p>
                  </a:txBody>
                  <a:tcPr>
                    <a:solidFill>
                      <a:schemeClr val="accent1"/>
                    </a:solidFill>
                  </a:tcPr>
                </a:tc>
                <a:extLst>
                  <a:ext uri="{0D108BD9-81ED-4DB2-BD59-A6C34878D82A}">
                    <a16:rowId xmlns:a16="http://schemas.microsoft.com/office/drawing/2014/main" val="10006"/>
                  </a:ext>
                </a:extLst>
              </a:tr>
            </a:tbl>
          </a:graphicData>
        </a:graphic>
      </p:graphicFrame>
      <p:sp>
        <p:nvSpPr>
          <p:cNvPr id="5" name="Номер слайда 4">
            <a:extLst>
              <a:ext uri="{FF2B5EF4-FFF2-40B4-BE49-F238E27FC236}">
                <a16:creationId xmlns:a16="http://schemas.microsoft.com/office/drawing/2014/main" id="{4E60F5AA-4DA6-BC0E-A7B9-284248280D31}"/>
              </a:ext>
            </a:extLst>
          </p:cNvPr>
          <p:cNvSpPr>
            <a:spLocks noGrp="1"/>
          </p:cNvSpPr>
          <p:nvPr>
            <p:ph type="sldNum" sz="quarter" idx="12"/>
          </p:nvPr>
        </p:nvSpPr>
        <p:spPr/>
        <p:txBody>
          <a:bodyPr/>
          <a:lstStyle/>
          <a:p>
            <a:fld id="{C1FF6DA9-008F-8B48-92A6-B652298478BF}" type="slidenum">
              <a:rPr lang="en-US" smtClean="0"/>
              <a:t>23</a:t>
            </a:fld>
            <a:endParaRPr lang="en-US" dirty="0"/>
          </a:p>
        </p:txBody>
      </p:sp>
    </p:spTree>
    <p:extLst>
      <p:ext uri="{BB962C8B-B14F-4D97-AF65-F5344CB8AC3E}">
        <p14:creationId xmlns:p14="http://schemas.microsoft.com/office/powerpoint/2010/main" val="2524310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381B148-DE47-4090-9E4B-6067B0405D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solidFill>
            <a:schemeClr val="accent6">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8" name="Rectangle 27">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6976244"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0" name="Rectangle 29">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TextBox 31">
            <a:extLst>
              <a:ext uri="{FF2B5EF4-FFF2-40B4-BE49-F238E27FC236}">
                <a16:creationId xmlns:a16="http://schemas.microsoft.com/office/drawing/2014/main" id="{DA332DFF-5C76-4E16-8CF9-99C316004AB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4053" y="2105202"/>
            <a:ext cx="637306" cy="461665"/>
          </a:xfrm>
          <a:prstGeom prst="rect">
            <a:avLst/>
          </a:prstGeom>
          <a:noFill/>
        </p:spPr>
        <p:txBody>
          <a:bodyPr wrap="square" rtlCol="0">
            <a:spAutoFit/>
          </a:bodyPr>
          <a:lstStyle/>
          <a:p>
            <a:pPr algn="r"/>
            <a:endParaRPr lang="en-US" sz="2400" dirty="0">
              <a:latin typeface="MS Shell Dlg 2" panose="020B0604030504040204" pitchFamily="34" charset="0"/>
            </a:endParaRPr>
          </a:p>
        </p:txBody>
      </p:sp>
      <p:sp>
        <p:nvSpPr>
          <p:cNvPr id="34" name="TextBox 33">
            <a:extLst>
              <a:ext uri="{FF2B5EF4-FFF2-40B4-BE49-F238E27FC236}">
                <a16:creationId xmlns:a16="http://schemas.microsoft.com/office/drawing/2014/main" id="{CE8DDCB6-CB7F-4357-B284-774DFD05F75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1511" y="2118596"/>
            <a:ext cx="637306" cy="461665"/>
          </a:xfrm>
          <a:prstGeom prst="rect">
            <a:avLst/>
          </a:prstGeom>
          <a:noFill/>
        </p:spPr>
        <p:txBody>
          <a:bodyPr wrap="square" rtlCol="0">
            <a:spAutoFit/>
          </a:bodyPr>
          <a:lstStyle/>
          <a:p>
            <a:pPr algn="r"/>
            <a:endParaRPr lang="en-US" sz="2400" dirty="0">
              <a:latin typeface="MS Shell Dlg 2" panose="020B0604030504040204" pitchFamily="34" charset="0"/>
            </a:endParaRPr>
          </a:p>
        </p:txBody>
      </p:sp>
      <p:sp>
        <p:nvSpPr>
          <p:cNvPr id="2" name="Title 1"/>
          <p:cNvSpPr>
            <a:spLocks noGrp="1"/>
          </p:cNvSpPr>
          <p:nvPr>
            <p:ph type="title"/>
          </p:nvPr>
        </p:nvSpPr>
        <p:spPr>
          <a:xfrm>
            <a:off x="772897" y="251525"/>
            <a:ext cx="6883918" cy="369332"/>
          </a:xfrm>
        </p:spPr>
        <p:txBody>
          <a:bodyPr vert="horz" lIns="91440" tIns="45720" rIns="91440" bIns="45720" rtlCol="0" anchor="t">
            <a:noAutofit/>
          </a:bodyPr>
          <a:lstStyle/>
          <a:p>
            <a:pPr algn="l" defTabSz="914400">
              <a:defRPr sz="3400" b="1"/>
            </a:pPr>
            <a:r>
              <a:rPr lang="en-US" dirty="0" err="1"/>
              <a:t>Оцінювання</a:t>
            </a:r>
            <a:r>
              <a:rPr lang="en-US" dirty="0"/>
              <a:t> </a:t>
            </a:r>
            <a:r>
              <a:rPr lang="en-US" dirty="0" err="1"/>
              <a:t>продуктивності</a:t>
            </a:r>
            <a:endParaRPr lang="en-US" dirty="0"/>
          </a:p>
        </p:txBody>
      </p:sp>
      <p:sp>
        <p:nvSpPr>
          <p:cNvPr id="3" name="TextBox 2"/>
          <p:cNvSpPr txBox="1"/>
          <p:nvPr/>
        </p:nvSpPr>
        <p:spPr>
          <a:xfrm>
            <a:off x="762195" y="1301332"/>
            <a:ext cx="6822334" cy="2554200"/>
          </a:xfrm>
          <a:prstGeom prst="rect">
            <a:avLst/>
          </a:prstGeom>
        </p:spPr>
        <p:txBody>
          <a:bodyPr vert="horz" lIns="91440" tIns="45720" rIns="91440" bIns="45720" rtlCol="0" anchor="t">
            <a:noAutofit/>
          </a:bodyPr>
          <a:lstStyle/>
          <a:p>
            <a:pPr algn="just" defTabSz="914400">
              <a:lnSpc>
                <a:spcPct val="120000"/>
              </a:lnSpc>
              <a:spcBef>
                <a:spcPts val="500"/>
              </a:spcBef>
              <a:spcAft>
                <a:spcPts val="600"/>
              </a:spcAft>
              <a:buClr>
                <a:schemeClr val="accent6"/>
              </a:buClr>
              <a:buSzPct val="90000"/>
              <a:defRPr sz="1800"/>
            </a:pPr>
            <a:r>
              <a:rPr lang="en-US" sz="1400" dirty="0" err="1"/>
              <a:t>Окремим</a:t>
            </a:r>
            <a:r>
              <a:rPr lang="en-US" sz="1400" dirty="0"/>
              <a:t> </a:t>
            </a:r>
            <a:r>
              <a:rPr lang="en-US" sz="1400" dirty="0" err="1"/>
              <a:t>напрямом</a:t>
            </a:r>
            <a:r>
              <a:rPr lang="en-US" sz="1400" dirty="0"/>
              <a:t> </a:t>
            </a:r>
            <a:r>
              <a:rPr lang="en-US" sz="1400" dirty="0" err="1"/>
              <a:t>дослідження</a:t>
            </a:r>
            <a:r>
              <a:rPr lang="en-US" sz="1400" dirty="0"/>
              <a:t> </a:t>
            </a:r>
            <a:r>
              <a:rPr lang="en-US" sz="1400" dirty="0" err="1"/>
              <a:t>є</a:t>
            </a:r>
            <a:r>
              <a:rPr lang="en-US" sz="1400" dirty="0"/>
              <a:t> </a:t>
            </a:r>
            <a:r>
              <a:rPr lang="en-US" sz="1400" dirty="0" err="1"/>
              <a:t>вплив</a:t>
            </a:r>
            <a:r>
              <a:rPr lang="en-US" sz="1400" dirty="0"/>
              <a:t> </a:t>
            </a:r>
            <a:r>
              <a:rPr lang="en-US" sz="1400" dirty="0" err="1"/>
              <a:t>плагінів</a:t>
            </a:r>
            <a:r>
              <a:rPr lang="en-US" sz="1400" dirty="0"/>
              <a:t> </a:t>
            </a:r>
            <a:r>
              <a:rPr lang="en-US" sz="1400" dirty="0" err="1"/>
              <a:t>безпеки</a:t>
            </a:r>
            <a:r>
              <a:rPr lang="en-US" sz="1400" dirty="0"/>
              <a:t> </a:t>
            </a:r>
            <a:r>
              <a:rPr lang="en-US" sz="1400" dirty="0" err="1"/>
              <a:t>на</a:t>
            </a:r>
            <a:r>
              <a:rPr lang="en-US" sz="1400" dirty="0"/>
              <a:t> </a:t>
            </a:r>
            <a:r>
              <a:rPr lang="en-US" sz="1400" dirty="0" err="1"/>
              <a:t>продуктивність</a:t>
            </a:r>
            <a:r>
              <a:rPr lang="en-US" sz="1400" dirty="0"/>
              <a:t> </a:t>
            </a:r>
            <a:r>
              <a:rPr lang="en-US" sz="1400" dirty="0" err="1"/>
              <a:t>сайту</a:t>
            </a:r>
            <a:r>
              <a:rPr lang="en-US" sz="1400" dirty="0"/>
              <a:t>. </a:t>
            </a:r>
            <a:r>
              <a:rPr lang="en-US" sz="1400" dirty="0" err="1"/>
              <a:t>Оцінюються</a:t>
            </a:r>
            <a:r>
              <a:rPr lang="en-US" sz="1400" dirty="0"/>
              <a:t> </a:t>
            </a:r>
            <a:r>
              <a:rPr lang="en-US" sz="1400" dirty="0" err="1"/>
              <a:t>параметри</a:t>
            </a:r>
            <a:r>
              <a:rPr lang="en-US" sz="1400" dirty="0"/>
              <a:t> </a:t>
            </a:r>
            <a:r>
              <a:rPr lang="en-US" sz="1400" dirty="0" err="1"/>
              <a:t>часу</a:t>
            </a:r>
            <a:r>
              <a:rPr lang="en-US" sz="1400" dirty="0"/>
              <a:t> </a:t>
            </a:r>
            <a:r>
              <a:rPr lang="en-US" sz="1400" dirty="0" err="1"/>
              <a:t>відповіді</a:t>
            </a:r>
            <a:r>
              <a:rPr lang="en-US" sz="1400" dirty="0"/>
              <a:t>, </a:t>
            </a:r>
            <a:r>
              <a:rPr lang="en-US" sz="1400" dirty="0" err="1"/>
              <a:t>використання</a:t>
            </a:r>
            <a:r>
              <a:rPr lang="en-US" sz="1400" dirty="0"/>
              <a:t> </a:t>
            </a:r>
            <a:r>
              <a:rPr lang="en-US" sz="1400" dirty="0" err="1"/>
              <a:t>процесора</a:t>
            </a:r>
            <a:r>
              <a:rPr lang="en-US" sz="1400" dirty="0"/>
              <a:t>, </a:t>
            </a:r>
            <a:r>
              <a:rPr lang="en-US" sz="1400" dirty="0" err="1"/>
              <a:t>обсягу</a:t>
            </a:r>
            <a:r>
              <a:rPr lang="en-US" sz="1400" dirty="0"/>
              <a:t> </a:t>
            </a:r>
            <a:r>
              <a:rPr lang="en-US" sz="1400" dirty="0" err="1"/>
              <a:t>пам’яті</a:t>
            </a:r>
            <a:r>
              <a:rPr lang="en-US" sz="1400" dirty="0"/>
              <a:t> </a:t>
            </a:r>
            <a:r>
              <a:rPr lang="en-US" sz="1400" dirty="0" err="1"/>
              <a:t>та</a:t>
            </a:r>
            <a:r>
              <a:rPr lang="en-US" sz="1400" dirty="0"/>
              <a:t> </a:t>
            </a:r>
            <a:r>
              <a:rPr lang="en-US" sz="1400" dirty="0" err="1"/>
              <a:t>кількості</a:t>
            </a:r>
            <a:r>
              <a:rPr lang="en-US" sz="1400" dirty="0"/>
              <a:t> SQL‑</a:t>
            </a:r>
            <a:r>
              <a:rPr lang="en-US" sz="1400" dirty="0" err="1"/>
              <a:t>запитів</a:t>
            </a:r>
            <a:r>
              <a:rPr lang="en-US" sz="1400" dirty="0"/>
              <a:t>, </a:t>
            </a:r>
            <a:r>
              <a:rPr lang="en-US" sz="1400" dirty="0" err="1"/>
              <a:t>що</a:t>
            </a:r>
            <a:r>
              <a:rPr lang="en-US" sz="1400" dirty="0"/>
              <a:t> </a:t>
            </a:r>
            <a:r>
              <a:rPr lang="en-US" sz="1400" dirty="0" err="1"/>
              <a:t>генеруються</a:t>
            </a:r>
            <a:r>
              <a:rPr lang="en-US" sz="1400" dirty="0"/>
              <a:t> </a:t>
            </a:r>
            <a:r>
              <a:rPr lang="en-US" sz="1400" dirty="0" err="1"/>
              <a:t>під</a:t>
            </a:r>
            <a:r>
              <a:rPr lang="en-US" sz="1400" dirty="0"/>
              <a:t> </a:t>
            </a:r>
            <a:r>
              <a:rPr lang="en-US" sz="1400" dirty="0" err="1"/>
              <a:t>час</a:t>
            </a:r>
            <a:r>
              <a:rPr lang="en-US" sz="1400" dirty="0"/>
              <a:t> </a:t>
            </a:r>
            <a:r>
              <a:rPr lang="en-US" sz="1400" dirty="0" err="1"/>
              <a:t>роботи</a:t>
            </a:r>
            <a:r>
              <a:rPr lang="en-US" sz="1400" dirty="0"/>
              <a:t> </a:t>
            </a:r>
            <a:r>
              <a:rPr lang="en-US" sz="1400" dirty="0" err="1"/>
              <a:t>сайту</a:t>
            </a:r>
            <a:r>
              <a:rPr lang="en-US" sz="1400" dirty="0"/>
              <a:t>. </a:t>
            </a:r>
            <a:r>
              <a:rPr lang="en-US" sz="1400" dirty="0" err="1"/>
              <a:t>Для</a:t>
            </a:r>
            <a:r>
              <a:rPr lang="en-US" sz="1400" dirty="0"/>
              <a:t> e‑commerce </a:t>
            </a:r>
            <a:r>
              <a:rPr lang="en-US" sz="1400" dirty="0" err="1"/>
              <a:t>систем</a:t>
            </a:r>
            <a:r>
              <a:rPr lang="en-US" sz="1400" dirty="0"/>
              <a:t> </a:t>
            </a:r>
            <a:r>
              <a:rPr lang="en-US" sz="1400" dirty="0" err="1"/>
              <a:t>навіть</a:t>
            </a:r>
            <a:r>
              <a:rPr lang="en-US" sz="1400" dirty="0"/>
              <a:t> </a:t>
            </a:r>
            <a:r>
              <a:rPr lang="en-US" sz="1400" dirty="0" err="1"/>
              <a:t>невелике</a:t>
            </a:r>
            <a:r>
              <a:rPr lang="en-US" sz="1400" dirty="0"/>
              <a:t> </a:t>
            </a:r>
            <a:r>
              <a:rPr lang="en-US" sz="1400" dirty="0" err="1"/>
              <a:t>збільшення</a:t>
            </a:r>
            <a:r>
              <a:rPr lang="en-US" sz="1400" dirty="0"/>
              <a:t> </a:t>
            </a:r>
            <a:r>
              <a:rPr lang="en-US" sz="1400" dirty="0" err="1"/>
              <a:t>затримок</a:t>
            </a:r>
            <a:r>
              <a:rPr lang="en-US" sz="1400" dirty="0"/>
              <a:t> </a:t>
            </a:r>
            <a:r>
              <a:rPr lang="en-US" sz="1400" dirty="0" err="1"/>
              <a:t>може</a:t>
            </a:r>
            <a:r>
              <a:rPr lang="en-US" sz="1400" dirty="0"/>
              <a:t> </a:t>
            </a:r>
            <a:r>
              <a:rPr lang="en-US" sz="1400" dirty="0" err="1"/>
              <a:t>знижувати</a:t>
            </a:r>
            <a:r>
              <a:rPr lang="en-US" sz="1400" dirty="0"/>
              <a:t> </a:t>
            </a:r>
            <a:r>
              <a:rPr lang="en-US" sz="1400" dirty="0" err="1"/>
              <a:t>конверсію</a:t>
            </a:r>
            <a:r>
              <a:rPr lang="en-US" sz="1400" dirty="0"/>
              <a:t> </a:t>
            </a:r>
            <a:r>
              <a:rPr lang="en-US" sz="1400" dirty="0" err="1"/>
              <a:t>та</a:t>
            </a:r>
            <a:r>
              <a:rPr lang="en-US" sz="1400" dirty="0"/>
              <a:t> </a:t>
            </a:r>
            <a:r>
              <a:rPr lang="en-US" sz="1400" dirty="0" err="1"/>
              <a:t>погіршувати</a:t>
            </a:r>
            <a:r>
              <a:rPr lang="en-US" sz="1400" dirty="0"/>
              <a:t> </a:t>
            </a:r>
            <a:r>
              <a:rPr lang="en-US" sz="1400" dirty="0" err="1"/>
              <a:t>користувацький</a:t>
            </a:r>
            <a:r>
              <a:rPr lang="en-US" sz="1400" dirty="0"/>
              <a:t> </a:t>
            </a:r>
            <a:r>
              <a:rPr lang="en-US" sz="1400" dirty="0" err="1"/>
              <a:t>досвід</a:t>
            </a:r>
            <a:r>
              <a:rPr lang="en-US" sz="1400" dirty="0"/>
              <a:t>, </a:t>
            </a:r>
            <a:r>
              <a:rPr lang="en-US" sz="1400" dirty="0" err="1"/>
              <a:t>тому</a:t>
            </a:r>
            <a:r>
              <a:rPr lang="en-US" sz="1400" dirty="0"/>
              <a:t> </a:t>
            </a:r>
            <a:r>
              <a:rPr lang="en-US" sz="1400" dirty="0" err="1"/>
              <a:t>безпека</a:t>
            </a:r>
            <a:r>
              <a:rPr lang="en-US" sz="1400" dirty="0"/>
              <a:t> </a:t>
            </a:r>
            <a:r>
              <a:rPr lang="en-US" sz="1400" dirty="0" err="1"/>
              <a:t>має</a:t>
            </a:r>
            <a:r>
              <a:rPr lang="en-US" sz="1400" dirty="0"/>
              <a:t> </a:t>
            </a:r>
            <a:r>
              <a:rPr lang="en-US" sz="1400" dirty="0" err="1"/>
              <a:t>впроваджуватися</a:t>
            </a:r>
            <a:r>
              <a:rPr lang="en-US" sz="1400" dirty="0"/>
              <a:t> </a:t>
            </a:r>
            <a:r>
              <a:rPr lang="en-US" sz="1400" dirty="0" err="1"/>
              <a:t>з</a:t>
            </a:r>
            <a:r>
              <a:rPr lang="en-US" sz="1400" dirty="0"/>
              <a:t> </a:t>
            </a:r>
            <a:r>
              <a:rPr lang="en-US" sz="1400" dirty="0" err="1"/>
              <a:t>урахуванням</a:t>
            </a:r>
            <a:r>
              <a:rPr lang="en-US" sz="1400" dirty="0"/>
              <a:t> </a:t>
            </a:r>
            <a:r>
              <a:rPr lang="en-US" sz="1400" dirty="0" err="1"/>
              <a:t>допустимого</a:t>
            </a:r>
            <a:r>
              <a:rPr lang="en-US" sz="1400" dirty="0"/>
              <a:t> </a:t>
            </a:r>
            <a:r>
              <a:rPr lang="en-US" sz="1400" dirty="0" err="1"/>
              <a:t>рівня</a:t>
            </a:r>
            <a:r>
              <a:rPr lang="en-US" sz="1400" dirty="0"/>
              <a:t> </a:t>
            </a:r>
            <a:r>
              <a:rPr lang="en-US" sz="1400" dirty="0" err="1"/>
              <a:t>накладних</a:t>
            </a:r>
            <a:r>
              <a:rPr lang="en-US" sz="1400" dirty="0"/>
              <a:t> </a:t>
            </a:r>
            <a:r>
              <a:rPr lang="en-US" sz="1400" dirty="0" err="1"/>
              <a:t>витрат</a:t>
            </a:r>
            <a:r>
              <a:rPr lang="en-US" sz="1400" dirty="0"/>
              <a:t>. </a:t>
            </a:r>
            <a:r>
              <a:rPr lang="en-US" sz="1400" dirty="0" err="1"/>
              <a:t>Результати</a:t>
            </a:r>
            <a:r>
              <a:rPr lang="en-US" sz="1400" dirty="0"/>
              <a:t> </a:t>
            </a:r>
            <a:r>
              <a:rPr lang="en-US" sz="1400" dirty="0" err="1"/>
              <a:t>такого</a:t>
            </a:r>
            <a:r>
              <a:rPr lang="en-US" sz="1400" dirty="0"/>
              <a:t> </a:t>
            </a:r>
            <a:r>
              <a:rPr lang="en-US" sz="1400" dirty="0" err="1"/>
              <a:t>аналізу</a:t>
            </a:r>
            <a:r>
              <a:rPr lang="en-US" sz="1400" dirty="0"/>
              <a:t> </a:t>
            </a:r>
            <a:r>
              <a:rPr lang="en-US" sz="1400" dirty="0" err="1"/>
              <a:t>дозволяють</a:t>
            </a:r>
            <a:r>
              <a:rPr lang="en-US" sz="1400" dirty="0"/>
              <a:t> </a:t>
            </a:r>
            <a:r>
              <a:rPr lang="en-US" sz="1400" dirty="0" err="1"/>
              <a:t>обрати</a:t>
            </a:r>
            <a:r>
              <a:rPr lang="en-US" sz="1400" dirty="0"/>
              <a:t> </a:t>
            </a:r>
            <a:r>
              <a:rPr lang="en-US" sz="1400" dirty="0" err="1"/>
              <a:t>інструмент</a:t>
            </a:r>
            <a:r>
              <a:rPr lang="en-US" sz="1400" dirty="0"/>
              <a:t> </a:t>
            </a:r>
            <a:r>
              <a:rPr lang="en-US" sz="1400" dirty="0" err="1"/>
              <a:t>із</a:t>
            </a:r>
            <a:r>
              <a:rPr lang="en-US" sz="1400" dirty="0"/>
              <a:t> </a:t>
            </a:r>
            <a:r>
              <a:rPr lang="en-US" sz="1400" dirty="0" err="1"/>
              <a:t>прийнятним</a:t>
            </a:r>
            <a:r>
              <a:rPr lang="en-US" sz="1400" dirty="0"/>
              <a:t> </a:t>
            </a:r>
            <a:r>
              <a:rPr lang="en-US" sz="1400" dirty="0" err="1"/>
              <a:t>балансом</a:t>
            </a:r>
            <a:r>
              <a:rPr lang="en-US" sz="1400" dirty="0"/>
              <a:t> </a:t>
            </a:r>
            <a:r>
              <a:rPr lang="en-US" sz="1400" dirty="0" err="1"/>
              <a:t>між</a:t>
            </a:r>
            <a:r>
              <a:rPr lang="en-US" sz="1400" dirty="0"/>
              <a:t> </a:t>
            </a:r>
            <a:r>
              <a:rPr lang="en-US" sz="1400" dirty="0" err="1"/>
              <a:t>рівнем</a:t>
            </a:r>
            <a:r>
              <a:rPr lang="en-US" sz="1400" dirty="0"/>
              <a:t> </a:t>
            </a:r>
            <a:r>
              <a:rPr lang="en-US" sz="1400" dirty="0" err="1"/>
              <a:t>захисту</a:t>
            </a:r>
            <a:r>
              <a:rPr lang="en-US" sz="1400" dirty="0"/>
              <a:t> </a:t>
            </a:r>
            <a:r>
              <a:rPr lang="en-US" sz="1400" dirty="0" err="1"/>
              <a:t>та</a:t>
            </a:r>
            <a:r>
              <a:rPr lang="en-US" sz="1400" dirty="0"/>
              <a:t> </a:t>
            </a:r>
            <a:r>
              <a:rPr lang="en-US" sz="1400" dirty="0" err="1"/>
              <a:t>швидкодією</a:t>
            </a:r>
            <a:r>
              <a:rPr lang="en-US" sz="1400" dirty="0"/>
              <a:t>.</a:t>
            </a:r>
          </a:p>
        </p:txBody>
      </p:sp>
      <p:sp>
        <p:nvSpPr>
          <p:cNvPr id="36" name="Rectangle 35">
            <a:extLst>
              <a:ext uri="{FF2B5EF4-FFF2-40B4-BE49-F238E27FC236}">
                <a16:creationId xmlns:a16="http://schemas.microsoft.com/office/drawing/2014/main" id="{7E1CAA8C-D8F1-4D3B-87B4-4B17F3E28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803" y="0"/>
            <a:ext cx="20574" cy="6858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3" name="TextBox 12">
            <a:extLst>
              <a:ext uri="{FF2B5EF4-FFF2-40B4-BE49-F238E27FC236}">
                <a16:creationId xmlns:a16="http://schemas.microsoft.com/office/drawing/2014/main" id="{E58122DD-38FC-7585-72EB-F5FBC2157154}"/>
              </a:ext>
            </a:extLst>
          </p:cNvPr>
          <p:cNvSpPr txBox="1"/>
          <p:nvPr/>
        </p:nvSpPr>
        <p:spPr>
          <a:xfrm>
            <a:off x="798428" y="3958576"/>
            <a:ext cx="6908631" cy="954107"/>
          </a:xfrm>
          <a:prstGeom prst="rect">
            <a:avLst/>
          </a:prstGeom>
          <a:noFill/>
        </p:spPr>
        <p:txBody>
          <a:bodyPr wrap="square">
            <a:spAutoFit/>
          </a:bodyPr>
          <a:lstStyle/>
          <a:p>
            <a:r>
              <a:rPr lang="en" sz="1400" dirty="0"/>
              <a:t>K4 (Performance Impact / Overhead, w₄ = 0.10).</a:t>
            </a:r>
            <a:endParaRPr lang="uk-UA" sz="1400" dirty="0"/>
          </a:p>
          <a:p>
            <a:br>
              <a:rPr lang="en" sz="1400" dirty="0"/>
            </a:br>
            <a:r>
              <a:rPr lang="ru-RU" sz="1400" dirty="0" err="1"/>
              <a:t>Нормалізація</a:t>
            </a:r>
            <a:r>
              <a:rPr lang="ru-RU" sz="1400" dirty="0"/>
              <a:t>: </a:t>
            </a:r>
          </a:p>
          <a:p>
            <a:endParaRPr lang="ru-RU" sz="1400" dirty="0"/>
          </a:p>
        </p:txBody>
      </p:sp>
      <p:sp>
        <p:nvSpPr>
          <p:cNvPr id="5" name="Номер слайда 4">
            <a:extLst>
              <a:ext uri="{FF2B5EF4-FFF2-40B4-BE49-F238E27FC236}">
                <a16:creationId xmlns:a16="http://schemas.microsoft.com/office/drawing/2014/main" id="{B06A08FE-E35A-D06D-FCF1-02AE30227791}"/>
              </a:ext>
            </a:extLst>
          </p:cNvPr>
          <p:cNvSpPr>
            <a:spLocks noGrp="1"/>
          </p:cNvSpPr>
          <p:nvPr>
            <p:ph type="sldNum" sz="quarter" idx="12"/>
          </p:nvPr>
        </p:nvSpPr>
        <p:spPr/>
        <p:txBody>
          <a:bodyPr/>
          <a:lstStyle/>
          <a:p>
            <a:fld id="{C1FF6DA9-008F-8B48-92A6-B652298478BF}" type="slidenum">
              <a:rPr lang="en-US" smtClean="0"/>
              <a:t>24</a:t>
            </a:fld>
            <a:endParaRPr lang="en-US" dirty="0"/>
          </a:p>
        </p:txBody>
      </p:sp>
      <p:pic>
        <p:nvPicPr>
          <p:cNvPr id="6" name="Рисунок 5" descr="Изображение выглядит как текст, Шрифт, снимок экрана, Графика&#10;&#10;Автоматически созданное описание">
            <a:extLst>
              <a:ext uri="{FF2B5EF4-FFF2-40B4-BE49-F238E27FC236}">
                <a16:creationId xmlns:a16="http://schemas.microsoft.com/office/drawing/2014/main" id="{264E5EEE-5CD8-A7BF-C351-A90B9D12F497}"/>
              </a:ext>
            </a:extLst>
          </p:cNvPr>
          <p:cNvPicPr>
            <a:picLocks noChangeAspect="1"/>
          </p:cNvPicPr>
          <p:nvPr/>
        </p:nvPicPr>
        <p:blipFill>
          <a:blip r:embed="rId5"/>
          <a:stretch>
            <a:fillRect/>
          </a:stretch>
        </p:blipFill>
        <p:spPr>
          <a:xfrm>
            <a:off x="693385" y="4481601"/>
            <a:ext cx="4775662" cy="1720020"/>
          </a:xfrm>
          <a:prstGeom prst="rect">
            <a:avLst/>
          </a:prstGeom>
        </p:spPr>
      </p:pic>
      <p:sp>
        <p:nvSpPr>
          <p:cNvPr id="11" name="TextBox 10">
            <a:extLst>
              <a:ext uri="{FF2B5EF4-FFF2-40B4-BE49-F238E27FC236}">
                <a16:creationId xmlns:a16="http://schemas.microsoft.com/office/drawing/2014/main" id="{F59DBF64-5054-3FEC-39A5-428034B6D6EB}"/>
              </a:ext>
            </a:extLst>
          </p:cNvPr>
          <p:cNvSpPr txBox="1"/>
          <p:nvPr/>
        </p:nvSpPr>
        <p:spPr>
          <a:xfrm>
            <a:off x="5667744" y="5233295"/>
            <a:ext cx="1937359" cy="461665"/>
          </a:xfrm>
          <a:prstGeom prst="rect">
            <a:avLst/>
          </a:prstGeom>
          <a:noFill/>
        </p:spPr>
        <p:txBody>
          <a:bodyPr wrap="square">
            <a:spAutoFit/>
          </a:bodyPr>
          <a:lstStyle/>
          <a:p>
            <a:r>
              <a:rPr lang="ru-RU" sz="1200" dirty="0"/>
              <a:t>для </a:t>
            </a:r>
            <a:r>
              <a:rPr lang="ru-RU" sz="1200" dirty="0" err="1"/>
              <a:t>витратних</a:t>
            </a:r>
            <a:r>
              <a:rPr lang="ru-RU" sz="1200" dirty="0"/>
              <a:t> </a:t>
            </a:r>
            <a:r>
              <a:rPr lang="ru-RU" sz="1200" dirty="0" err="1"/>
              <a:t>критеріїв</a:t>
            </a:r>
            <a:r>
              <a:rPr lang="ru-RU" sz="1200" dirty="0"/>
              <a:t>, </a:t>
            </a:r>
            <a:r>
              <a:rPr lang="ru-RU" sz="1200" dirty="0" err="1"/>
              <a:t>менше</a:t>
            </a:r>
            <a:r>
              <a:rPr lang="ru-RU" sz="1200" dirty="0"/>
              <a:t> - </a:t>
            </a:r>
            <a:r>
              <a:rPr lang="ru-RU" sz="1200" dirty="0" err="1"/>
              <a:t>краще</a:t>
            </a:r>
            <a:endParaRPr lang="ru-UA"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381B148-DE47-4090-9E4B-6067B0405D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solidFill>
            <a:schemeClr val="accent6">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8" name="Rectangle 27">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6976244"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0" name="Rectangle 29">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TextBox 31">
            <a:extLst>
              <a:ext uri="{FF2B5EF4-FFF2-40B4-BE49-F238E27FC236}">
                <a16:creationId xmlns:a16="http://schemas.microsoft.com/office/drawing/2014/main" id="{DA332DFF-5C76-4E16-8CF9-99C316004AB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4053" y="2105202"/>
            <a:ext cx="637306" cy="461665"/>
          </a:xfrm>
          <a:prstGeom prst="rect">
            <a:avLst/>
          </a:prstGeom>
          <a:noFill/>
        </p:spPr>
        <p:txBody>
          <a:bodyPr wrap="square" rtlCol="0">
            <a:spAutoFit/>
          </a:bodyPr>
          <a:lstStyle/>
          <a:p>
            <a:pPr algn="r"/>
            <a:endParaRPr lang="en-US" sz="2400" dirty="0">
              <a:latin typeface="MS Shell Dlg 2" panose="020B0604030504040204" pitchFamily="34" charset="0"/>
            </a:endParaRPr>
          </a:p>
        </p:txBody>
      </p:sp>
      <p:sp>
        <p:nvSpPr>
          <p:cNvPr id="34" name="TextBox 33">
            <a:extLst>
              <a:ext uri="{FF2B5EF4-FFF2-40B4-BE49-F238E27FC236}">
                <a16:creationId xmlns:a16="http://schemas.microsoft.com/office/drawing/2014/main" id="{CE8DDCB6-CB7F-4357-B284-774DFD05F75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1511" y="2118596"/>
            <a:ext cx="637306" cy="461665"/>
          </a:xfrm>
          <a:prstGeom prst="rect">
            <a:avLst/>
          </a:prstGeom>
          <a:noFill/>
        </p:spPr>
        <p:txBody>
          <a:bodyPr wrap="square" rtlCol="0">
            <a:spAutoFit/>
          </a:bodyPr>
          <a:lstStyle/>
          <a:p>
            <a:pPr algn="r"/>
            <a:endParaRPr lang="en-US" sz="2400" dirty="0">
              <a:latin typeface="MS Shell Dlg 2" panose="020B0604030504040204" pitchFamily="34" charset="0"/>
            </a:endParaRPr>
          </a:p>
        </p:txBody>
      </p:sp>
      <p:sp>
        <p:nvSpPr>
          <p:cNvPr id="2" name="Title 1"/>
          <p:cNvSpPr>
            <a:spLocks noGrp="1"/>
          </p:cNvSpPr>
          <p:nvPr>
            <p:ph type="title"/>
          </p:nvPr>
        </p:nvSpPr>
        <p:spPr>
          <a:xfrm>
            <a:off x="772897" y="251525"/>
            <a:ext cx="6883918" cy="369332"/>
          </a:xfrm>
        </p:spPr>
        <p:txBody>
          <a:bodyPr vert="horz" lIns="91440" tIns="45720" rIns="91440" bIns="45720" rtlCol="0" anchor="t">
            <a:noAutofit/>
          </a:bodyPr>
          <a:lstStyle/>
          <a:p>
            <a:pPr algn="l" defTabSz="914400">
              <a:defRPr sz="3400" b="1"/>
            </a:pPr>
            <a:r>
              <a:rPr lang="en-US" dirty="0" err="1"/>
              <a:t>Оцінювання</a:t>
            </a:r>
            <a:r>
              <a:rPr lang="en-US" dirty="0"/>
              <a:t> </a:t>
            </a:r>
            <a:r>
              <a:rPr lang="en-US" dirty="0" err="1"/>
              <a:t>продуктивності</a:t>
            </a:r>
            <a:endParaRPr lang="en-US" dirty="0"/>
          </a:p>
        </p:txBody>
      </p:sp>
      <p:sp>
        <p:nvSpPr>
          <p:cNvPr id="36" name="Rectangle 35">
            <a:extLst>
              <a:ext uri="{FF2B5EF4-FFF2-40B4-BE49-F238E27FC236}">
                <a16:creationId xmlns:a16="http://schemas.microsoft.com/office/drawing/2014/main" id="{7E1CAA8C-D8F1-4D3B-87B4-4B17F3E28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803" y="0"/>
            <a:ext cx="20574" cy="6858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graphicFrame>
        <p:nvGraphicFramePr>
          <p:cNvPr id="9" name="Table 36">
            <a:extLst>
              <a:ext uri="{FF2B5EF4-FFF2-40B4-BE49-F238E27FC236}">
                <a16:creationId xmlns:a16="http://schemas.microsoft.com/office/drawing/2014/main" id="{46FCBA19-9373-E945-5B6E-B2A12EF21D89}"/>
              </a:ext>
            </a:extLst>
          </p:cNvPr>
          <p:cNvGraphicFramePr>
            <a:graphicFrameLocks noGrp="1"/>
          </p:cNvGraphicFramePr>
          <p:nvPr>
            <p:extLst>
              <p:ext uri="{D42A27DB-BD31-4B8C-83A1-F6EECF244321}">
                <p14:modId xmlns:p14="http://schemas.microsoft.com/office/powerpoint/2010/main" val="1753615373"/>
              </p:ext>
            </p:extLst>
          </p:nvPr>
        </p:nvGraphicFramePr>
        <p:xfrm>
          <a:off x="789717" y="2415467"/>
          <a:ext cx="6732515" cy="2627662"/>
        </p:xfrm>
        <a:graphic>
          <a:graphicData uri="http://schemas.openxmlformats.org/drawingml/2006/table">
            <a:tbl>
              <a:tblPr firstRow="1" bandRow="1">
                <a:tableStyleId>{5C22544A-7EE6-4342-B048-85BDC9FD1C3A}</a:tableStyleId>
              </a:tblPr>
              <a:tblGrid>
                <a:gridCol w="1346503">
                  <a:extLst>
                    <a:ext uri="{9D8B030D-6E8A-4147-A177-3AD203B41FA5}">
                      <a16:colId xmlns:a16="http://schemas.microsoft.com/office/drawing/2014/main" val="20000"/>
                    </a:ext>
                  </a:extLst>
                </a:gridCol>
                <a:gridCol w="1346503">
                  <a:extLst>
                    <a:ext uri="{9D8B030D-6E8A-4147-A177-3AD203B41FA5}">
                      <a16:colId xmlns:a16="http://schemas.microsoft.com/office/drawing/2014/main" val="20001"/>
                    </a:ext>
                  </a:extLst>
                </a:gridCol>
                <a:gridCol w="1346503">
                  <a:extLst>
                    <a:ext uri="{9D8B030D-6E8A-4147-A177-3AD203B41FA5}">
                      <a16:colId xmlns:a16="http://schemas.microsoft.com/office/drawing/2014/main" val="20002"/>
                    </a:ext>
                  </a:extLst>
                </a:gridCol>
                <a:gridCol w="1346503">
                  <a:extLst>
                    <a:ext uri="{9D8B030D-6E8A-4147-A177-3AD203B41FA5}">
                      <a16:colId xmlns:a16="http://schemas.microsoft.com/office/drawing/2014/main" val="20003"/>
                    </a:ext>
                  </a:extLst>
                </a:gridCol>
                <a:gridCol w="1346503">
                  <a:extLst>
                    <a:ext uri="{9D8B030D-6E8A-4147-A177-3AD203B41FA5}">
                      <a16:colId xmlns:a16="http://schemas.microsoft.com/office/drawing/2014/main" val="20004"/>
                    </a:ext>
                  </a:extLst>
                </a:gridCol>
              </a:tblGrid>
              <a:tr h="477820">
                <a:tc>
                  <a:txBody>
                    <a:bodyPr/>
                    <a:lstStyle/>
                    <a:p>
                      <a:r>
                        <a:rPr sz="1400" b="1" dirty="0" err="1"/>
                        <a:t>Плагін</a:t>
                      </a:r>
                      <a:endParaRPr sz="1400" b="1" dirty="0"/>
                    </a:p>
                  </a:txBody>
                  <a:tcPr/>
                </a:tc>
                <a:tc>
                  <a:txBody>
                    <a:bodyPr/>
                    <a:lstStyle/>
                    <a:p>
                      <a:r>
                        <a:rPr sz="1400" b="1" dirty="0" err="1"/>
                        <a:t>Δ</a:t>
                      </a:r>
                      <a:r>
                        <a:rPr sz="1400" b="1" dirty="0"/>
                        <a:t> TTFB, </a:t>
                      </a:r>
                      <a:r>
                        <a:rPr sz="1400" b="1" dirty="0" err="1"/>
                        <a:t>с</a:t>
                      </a:r>
                      <a:endParaRPr sz="1400" b="1" dirty="0"/>
                    </a:p>
                  </a:txBody>
                  <a:tcPr/>
                </a:tc>
                <a:tc>
                  <a:txBody>
                    <a:bodyPr/>
                    <a:lstStyle/>
                    <a:p>
                      <a:r>
                        <a:rPr sz="1400" b="1"/>
                        <a:t>CPU, %</a:t>
                      </a:r>
                    </a:p>
                  </a:txBody>
                  <a:tcPr/>
                </a:tc>
                <a:tc>
                  <a:txBody>
                    <a:bodyPr/>
                    <a:lstStyle/>
                    <a:p>
                      <a:r>
                        <a:rPr sz="1400" b="1"/>
                        <a:t>RAM, МБ</a:t>
                      </a:r>
                    </a:p>
                  </a:txBody>
                  <a:tcPr/>
                </a:tc>
                <a:tc>
                  <a:txBody>
                    <a:bodyPr/>
                    <a:lstStyle/>
                    <a:p>
                      <a:r>
                        <a:rPr sz="1400" b="1"/>
                        <a:t>SQL-запити/стор.</a:t>
                      </a:r>
                    </a:p>
                  </a:txBody>
                  <a:tcPr/>
                </a:tc>
                <a:extLst>
                  <a:ext uri="{0D108BD9-81ED-4DB2-BD59-A6C34878D82A}">
                    <a16:rowId xmlns:a16="http://schemas.microsoft.com/office/drawing/2014/main" val="10000"/>
                  </a:ext>
                </a:extLst>
              </a:tr>
              <a:tr h="323231">
                <a:tc>
                  <a:txBody>
                    <a:bodyPr/>
                    <a:lstStyle/>
                    <a:p>
                      <a:r>
                        <a:rPr sz="1300"/>
                        <a:t>Sucuri (A2)</a:t>
                      </a:r>
                    </a:p>
                  </a:txBody>
                  <a:tcPr/>
                </a:tc>
                <a:tc>
                  <a:txBody>
                    <a:bodyPr/>
                    <a:lstStyle/>
                    <a:p>
                      <a:r>
                        <a:rPr sz="1300" dirty="0"/>
                        <a:t>+0.00</a:t>
                      </a:r>
                    </a:p>
                  </a:txBody>
                  <a:tcPr/>
                </a:tc>
                <a:tc>
                  <a:txBody>
                    <a:bodyPr/>
                    <a:lstStyle/>
                    <a:p>
                      <a:r>
                        <a:rPr sz="1300" dirty="0"/>
                        <a:t>~2–3</a:t>
                      </a:r>
                    </a:p>
                  </a:txBody>
                  <a:tcPr/>
                </a:tc>
                <a:tc>
                  <a:txBody>
                    <a:bodyPr/>
                    <a:lstStyle/>
                    <a:p>
                      <a:r>
                        <a:rPr sz="1300"/>
                        <a:t>~20</a:t>
                      </a:r>
                    </a:p>
                  </a:txBody>
                  <a:tcPr/>
                </a:tc>
                <a:tc>
                  <a:txBody>
                    <a:bodyPr/>
                    <a:lstStyle/>
                    <a:p>
                      <a:r>
                        <a:rPr sz="1300"/>
                        <a:t>0–2</a:t>
                      </a:r>
                    </a:p>
                  </a:txBody>
                  <a:tcPr/>
                </a:tc>
                <a:extLst>
                  <a:ext uri="{0D108BD9-81ED-4DB2-BD59-A6C34878D82A}">
                    <a16:rowId xmlns:a16="http://schemas.microsoft.com/office/drawing/2014/main" val="10001"/>
                  </a:ext>
                </a:extLst>
              </a:tr>
              <a:tr h="449713">
                <a:tc>
                  <a:txBody>
                    <a:bodyPr/>
                    <a:lstStyle/>
                    <a:p>
                      <a:r>
                        <a:rPr sz="1300" dirty="0"/>
                        <a:t>Solid Security (A3)</a:t>
                      </a:r>
                    </a:p>
                  </a:txBody>
                  <a:tcPr/>
                </a:tc>
                <a:tc>
                  <a:txBody>
                    <a:bodyPr/>
                    <a:lstStyle/>
                    <a:p>
                      <a:r>
                        <a:rPr sz="1300"/>
                        <a:t>+0.25</a:t>
                      </a:r>
                    </a:p>
                  </a:txBody>
                  <a:tcPr/>
                </a:tc>
                <a:tc>
                  <a:txBody>
                    <a:bodyPr/>
                    <a:lstStyle/>
                    <a:p>
                      <a:r>
                        <a:rPr sz="1300" dirty="0"/>
                        <a:t>~2–3</a:t>
                      </a:r>
                    </a:p>
                  </a:txBody>
                  <a:tcPr/>
                </a:tc>
                <a:tc>
                  <a:txBody>
                    <a:bodyPr/>
                    <a:lstStyle/>
                    <a:p>
                      <a:r>
                        <a:rPr sz="1300"/>
                        <a:t>~20</a:t>
                      </a:r>
                    </a:p>
                  </a:txBody>
                  <a:tcPr/>
                </a:tc>
                <a:tc>
                  <a:txBody>
                    <a:bodyPr/>
                    <a:lstStyle/>
                    <a:p>
                      <a:r>
                        <a:rPr sz="1300"/>
                        <a:t>≤15</a:t>
                      </a:r>
                    </a:p>
                  </a:txBody>
                  <a:tcPr/>
                </a:tc>
                <a:extLst>
                  <a:ext uri="{0D108BD9-81ED-4DB2-BD59-A6C34878D82A}">
                    <a16:rowId xmlns:a16="http://schemas.microsoft.com/office/drawing/2014/main" val="10002"/>
                  </a:ext>
                </a:extLst>
              </a:tr>
              <a:tr h="323231">
                <a:tc>
                  <a:txBody>
                    <a:bodyPr/>
                    <a:lstStyle/>
                    <a:p>
                      <a:r>
                        <a:rPr sz="1300"/>
                        <a:t>Wordfence (A1)</a:t>
                      </a:r>
                    </a:p>
                  </a:txBody>
                  <a:tcPr/>
                </a:tc>
                <a:tc>
                  <a:txBody>
                    <a:bodyPr/>
                    <a:lstStyle/>
                    <a:p>
                      <a:r>
                        <a:rPr sz="1300"/>
                        <a:t>+0.20</a:t>
                      </a:r>
                    </a:p>
                  </a:txBody>
                  <a:tcPr/>
                </a:tc>
                <a:tc>
                  <a:txBody>
                    <a:bodyPr/>
                    <a:lstStyle/>
                    <a:p>
                      <a:r>
                        <a:rPr sz="1300"/>
                        <a:t>~5</a:t>
                      </a:r>
                    </a:p>
                  </a:txBody>
                  <a:tcPr/>
                </a:tc>
                <a:tc>
                  <a:txBody>
                    <a:bodyPr/>
                    <a:lstStyle/>
                    <a:p>
                      <a:r>
                        <a:rPr sz="1300"/>
                        <a:t>~60–80</a:t>
                      </a:r>
                    </a:p>
                  </a:txBody>
                  <a:tcPr/>
                </a:tc>
                <a:tc>
                  <a:txBody>
                    <a:bodyPr/>
                    <a:lstStyle/>
                    <a:p>
                      <a:r>
                        <a:rPr sz="1300"/>
                        <a:t>15–20</a:t>
                      </a:r>
                    </a:p>
                  </a:txBody>
                  <a:tcPr/>
                </a:tc>
                <a:extLst>
                  <a:ext uri="{0D108BD9-81ED-4DB2-BD59-A6C34878D82A}">
                    <a16:rowId xmlns:a16="http://schemas.microsoft.com/office/drawing/2014/main" val="10003"/>
                  </a:ext>
                </a:extLst>
              </a:tr>
              <a:tr h="323231">
                <a:tc>
                  <a:txBody>
                    <a:bodyPr/>
                    <a:lstStyle/>
                    <a:p>
                      <a:r>
                        <a:rPr sz="1300"/>
                        <a:t>WP Cerber (A4)</a:t>
                      </a:r>
                    </a:p>
                  </a:txBody>
                  <a:tcPr/>
                </a:tc>
                <a:tc>
                  <a:txBody>
                    <a:bodyPr/>
                    <a:lstStyle/>
                    <a:p>
                      <a:r>
                        <a:rPr sz="1300"/>
                        <a:t>+0.15</a:t>
                      </a:r>
                    </a:p>
                  </a:txBody>
                  <a:tcPr/>
                </a:tc>
                <a:tc>
                  <a:txBody>
                    <a:bodyPr/>
                    <a:lstStyle/>
                    <a:p>
                      <a:r>
                        <a:rPr sz="1300"/>
                        <a:t>~2–3</a:t>
                      </a:r>
                    </a:p>
                  </a:txBody>
                  <a:tcPr/>
                </a:tc>
                <a:tc>
                  <a:txBody>
                    <a:bodyPr/>
                    <a:lstStyle/>
                    <a:p>
                      <a:r>
                        <a:rPr sz="1300"/>
                        <a:t>~40–60</a:t>
                      </a:r>
                    </a:p>
                  </a:txBody>
                  <a:tcPr/>
                </a:tc>
                <a:tc>
                  <a:txBody>
                    <a:bodyPr/>
                    <a:lstStyle/>
                    <a:p>
                      <a:r>
                        <a:rPr sz="1300"/>
                        <a:t>~10</a:t>
                      </a:r>
                    </a:p>
                  </a:txBody>
                  <a:tcPr/>
                </a:tc>
                <a:extLst>
                  <a:ext uri="{0D108BD9-81ED-4DB2-BD59-A6C34878D82A}">
                    <a16:rowId xmlns:a16="http://schemas.microsoft.com/office/drawing/2014/main" val="10004"/>
                  </a:ext>
                </a:extLst>
              </a:tr>
              <a:tr h="449713">
                <a:tc>
                  <a:txBody>
                    <a:bodyPr/>
                    <a:lstStyle/>
                    <a:p>
                      <a:r>
                        <a:rPr sz="1300" dirty="0"/>
                        <a:t>AIOWPS (</a:t>
                      </a:r>
                      <a:r>
                        <a:rPr sz="1300" dirty="0" err="1"/>
                        <a:t>довідково</a:t>
                      </a:r>
                      <a:r>
                        <a:rPr sz="1300" dirty="0"/>
                        <a:t>)</a:t>
                      </a:r>
                    </a:p>
                  </a:txBody>
                  <a:tcPr/>
                </a:tc>
                <a:tc>
                  <a:txBody>
                    <a:bodyPr/>
                    <a:lstStyle/>
                    <a:p>
                      <a:r>
                        <a:rPr sz="1300"/>
                        <a:t>+0.10</a:t>
                      </a:r>
                    </a:p>
                  </a:txBody>
                  <a:tcPr/>
                </a:tc>
                <a:tc>
                  <a:txBody>
                    <a:bodyPr/>
                    <a:lstStyle/>
                    <a:p>
                      <a:r>
                        <a:rPr sz="1300"/>
                        <a:t>~2–3</a:t>
                      </a:r>
                    </a:p>
                  </a:txBody>
                  <a:tcPr/>
                </a:tc>
                <a:tc>
                  <a:txBody>
                    <a:bodyPr/>
                    <a:lstStyle/>
                    <a:p>
                      <a:r>
                        <a:rPr sz="1300"/>
                        <a:t>~20–40</a:t>
                      </a:r>
                    </a:p>
                  </a:txBody>
                  <a:tcPr/>
                </a:tc>
                <a:tc>
                  <a:txBody>
                    <a:bodyPr/>
                    <a:lstStyle/>
                    <a:p>
                      <a:r>
                        <a:rPr sz="1300" dirty="0"/>
                        <a:t>5–8</a:t>
                      </a:r>
                    </a:p>
                  </a:txBody>
                  <a:tcPr/>
                </a:tc>
                <a:extLst>
                  <a:ext uri="{0D108BD9-81ED-4DB2-BD59-A6C34878D82A}">
                    <a16:rowId xmlns:a16="http://schemas.microsoft.com/office/drawing/2014/main" val="10005"/>
                  </a:ext>
                </a:extLst>
              </a:tr>
            </a:tbl>
          </a:graphicData>
        </a:graphic>
      </p:graphicFrame>
      <p:sp>
        <p:nvSpPr>
          <p:cNvPr id="5" name="Номер слайда 4">
            <a:extLst>
              <a:ext uri="{FF2B5EF4-FFF2-40B4-BE49-F238E27FC236}">
                <a16:creationId xmlns:a16="http://schemas.microsoft.com/office/drawing/2014/main" id="{B06A08FE-E35A-D06D-FCF1-02AE30227791}"/>
              </a:ext>
            </a:extLst>
          </p:cNvPr>
          <p:cNvSpPr>
            <a:spLocks noGrp="1"/>
          </p:cNvSpPr>
          <p:nvPr>
            <p:ph type="sldNum" sz="quarter" idx="12"/>
          </p:nvPr>
        </p:nvSpPr>
        <p:spPr/>
        <p:txBody>
          <a:bodyPr/>
          <a:lstStyle/>
          <a:p>
            <a:fld id="{C1FF6DA9-008F-8B48-92A6-B652298478BF}" type="slidenum">
              <a:rPr lang="en-US" smtClean="0"/>
              <a:t>25</a:t>
            </a:fld>
            <a:endParaRPr lang="en-US" dirty="0"/>
          </a:p>
        </p:txBody>
      </p:sp>
      <p:sp>
        <p:nvSpPr>
          <p:cNvPr id="6" name="TextBox 5">
            <a:extLst>
              <a:ext uri="{FF2B5EF4-FFF2-40B4-BE49-F238E27FC236}">
                <a16:creationId xmlns:a16="http://schemas.microsoft.com/office/drawing/2014/main" id="{7E2765C8-2D99-964D-286D-D516AB83FB89}"/>
              </a:ext>
            </a:extLst>
          </p:cNvPr>
          <p:cNvSpPr txBox="1"/>
          <p:nvPr/>
        </p:nvSpPr>
        <p:spPr>
          <a:xfrm>
            <a:off x="751759" y="1056497"/>
            <a:ext cx="6732515" cy="923330"/>
          </a:xfrm>
          <a:prstGeom prst="rect">
            <a:avLst/>
          </a:prstGeom>
          <a:noFill/>
        </p:spPr>
        <p:txBody>
          <a:bodyPr wrap="square">
            <a:spAutoFit/>
          </a:bodyPr>
          <a:lstStyle/>
          <a:p>
            <a:r>
              <a:rPr lang="ru-RU" dirty="0" err="1"/>
              <a:t>Виміри</a:t>
            </a:r>
            <a:r>
              <a:rPr lang="ru-RU" dirty="0"/>
              <a:t> </a:t>
            </a:r>
            <a:r>
              <a:rPr lang="ru-RU" dirty="0" err="1"/>
              <a:t>приростів</a:t>
            </a:r>
            <a:r>
              <a:rPr lang="ru-RU" dirty="0"/>
              <a:t> </a:t>
            </a:r>
            <a:r>
              <a:rPr lang="ru-RU" dirty="0" err="1"/>
              <a:t>основних</a:t>
            </a:r>
            <a:r>
              <a:rPr lang="ru-RU" dirty="0"/>
              <a:t> </a:t>
            </a:r>
            <a:r>
              <a:rPr lang="ru-RU" dirty="0" err="1"/>
              <a:t>параметрів</a:t>
            </a:r>
            <a:r>
              <a:rPr lang="ru-RU" dirty="0"/>
              <a:t> сайту </a:t>
            </a:r>
            <a:r>
              <a:rPr lang="ru-RU" dirty="0" err="1"/>
              <a:t>під</a:t>
            </a:r>
            <a:r>
              <a:rPr lang="ru-RU" dirty="0"/>
              <a:t> час </a:t>
            </a:r>
            <a:r>
              <a:rPr lang="ru-RU" dirty="0" err="1"/>
              <a:t>активації</a:t>
            </a:r>
            <a:r>
              <a:rPr lang="ru-RU" dirty="0"/>
              <a:t> кожного з </a:t>
            </a:r>
            <a:r>
              <a:rPr lang="ru-RU" dirty="0" err="1"/>
              <a:t>плагінів</a:t>
            </a:r>
            <a:r>
              <a:rPr lang="ru-RU" dirty="0"/>
              <a:t> </a:t>
            </a:r>
            <a:r>
              <a:rPr lang="ru-RU" dirty="0" err="1"/>
              <a:t>безпеки</a:t>
            </a:r>
            <a:r>
              <a:rPr lang="ru-RU" dirty="0"/>
              <a:t> </a:t>
            </a:r>
            <a:r>
              <a:rPr lang="ru-RU" dirty="0" err="1"/>
              <a:t>відносно</a:t>
            </a:r>
            <a:r>
              <a:rPr lang="ru-RU" dirty="0"/>
              <a:t> базового стану </a:t>
            </a:r>
            <a:r>
              <a:rPr lang="ru-RU" dirty="0" err="1"/>
              <a:t>системи</a:t>
            </a:r>
            <a:r>
              <a:rPr lang="ru-RU" dirty="0"/>
              <a:t>:</a:t>
            </a:r>
            <a:endParaRPr lang="ru-UA" dirty="0"/>
          </a:p>
        </p:txBody>
      </p:sp>
    </p:spTree>
    <p:extLst>
      <p:ext uri="{BB962C8B-B14F-4D97-AF65-F5344CB8AC3E}">
        <p14:creationId xmlns:p14="http://schemas.microsoft.com/office/powerpoint/2010/main" val="1356795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lumMod val="5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28" name="Freeform: Shape 27">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30" name="Picture 29">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2" name="Rectangle 31">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590693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6" name="Rectangle 3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8" name="Oval 37">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421698"/>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35949" y="455407"/>
            <a:ext cx="7270502" cy="664900"/>
          </a:xfrm>
        </p:spPr>
        <p:txBody>
          <a:bodyPr vert="horz" lIns="91440" tIns="45720" rIns="91440" bIns="45720" rtlCol="0" anchor="t">
            <a:normAutofit/>
          </a:bodyPr>
          <a:lstStyle/>
          <a:p>
            <a:pPr algn="l" defTabSz="914400">
              <a:defRPr sz="3400" b="1"/>
            </a:pPr>
            <a:r>
              <a:rPr lang="en-US" sz="3300" dirty="0" err="1"/>
              <a:t>Порівняльний</a:t>
            </a:r>
            <a:r>
              <a:rPr lang="en-US" sz="3300" dirty="0"/>
              <a:t> </a:t>
            </a:r>
            <a:r>
              <a:rPr lang="en-US" sz="3300" dirty="0" err="1"/>
              <a:t>аналіз</a:t>
            </a:r>
            <a:r>
              <a:rPr lang="en-US" sz="3300" dirty="0"/>
              <a:t> </a:t>
            </a:r>
            <a:r>
              <a:rPr lang="en-US" sz="3300" dirty="0" err="1"/>
              <a:t>результатів</a:t>
            </a:r>
            <a:endParaRPr lang="en-US" sz="3300" dirty="0"/>
          </a:p>
        </p:txBody>
      </p:sp>
      <p:sp>
        <p:nvSpPr>
          <p:cNvPr id="3" name="TextBox 2"/>
          <p:cNvSpPr txBox="1"/>
          <p:nvPr/>
        </p:nvSpPr>
        <p:spPr>
          <a:xfrm>
            <a:off x="934349" y="1136305"/>
            <a:ext cx="7952476" cy="2474871"/>
          </a:xfrm>
          <a:prstGeom prst="rect">
            <a:avLst/>
          </a:prstGeom>
        </p:spPr>
        <p:txBody>
          <a:bodyPr vert="horz" lIns="91440" tIns="45720" rIns="91440" bIns="45720" rtlCol="0" anchor="t">
            <a:normAutofit/>
          </a:bodyPr>
          <a:lstStyle/>
          <a:p>
            <a:pPr algn="just" defTabSz="914400">
              <a:lnSpc>
                <a:spcPct val="120000"/>
              </a:lnSpc>
              <a:spcBef>
                <a:spcPts val="500"/>
              </a:spcBef>
              <a:spcAft>
                <a:spcPts val="600"/>
              </a:spcAft>
              <a:buClr>
                <a:schemeClr val="accent6"/>
              </a:buClr>
              <a:buSzPct val="90000"/>
              <a:defRPr sz="1800"/>
            </a:pPr>
            <a:r>
              <a:rPr lang="en-US" sz="1400" dirty="0" err="1"/>
              <a:t>Порівняння</a:t>
            </a:r>
            <a:r>
              <a:rPr lang="en-US" sz="1400" dirty="0"/>
              <a:t> </a:t>
            </a:r>
            <a:r>
              <a:rPr lang="en-US" sz="1400" dirty="0" err="1"/>
              <a:t>плагінів</a:t>
            </a:r>
            <a:r>
              <a:rPr lang="en-US" sz="1400" dirty="0"/>
              <a:t> </a:t>
            </a:r>
            <a:r>
              <a:rPr lang="en-US" sz="1400" dirty="0" err="1"/>
              <a:t>виконується</a:t>
            </a:r>
            <a:r>
              <a:rPr lang="en-US" sz="1400" dirty="0"/>
              <a:t> </a:t>
            </a:r>
            <a:r>
              <a:rPr lang="en-US" sz="1400" dirty="0" err="1"/>
              <a:t>на</a:t>
            </a:r>
            <a:r>
              <a:rPr lang="en-US" sz="1400" dirty="0"/>
              <a:t> </a:t>
            </a:r>
            <a:r>
              <a:rPr lang="en-US" sz="1400" dirty="0" err="1"/>
              <a:t>основі</a:t>
            </a:r>
            <a:r>
              <a:rPr lang="en-US" sz="1400" dirty="0"/>
              <a:t> </a:t>
            </a:r>
            <a:r>
              <a:rPr lang="en-US" sz="1400" dirty="0" err="1"/>
              <a:t>значень</a:t>
            </a:r>
            <a:r>
              <a:rPr lang="en-US" sz="1400" dirty="0"/>
              <a:t> </a:t>
            </a:r>
            <a:r>
              <a:rPr lang="en-US" sz="1400" dirty="0" err="1"/>
              <a:t>метрик</a:t>
            </a:r>
            <a:r>
              <a:rPr lang="en-US" sz="1400" dirty="0"/>
              <a:t> </a:t>
            </a:r>
            <a:r>
              <a:rPr lang="en-US" sz="1400" dirty="0" err="1"/>
              <a:t>детектування</a:t>
            </a:r>
            <a:r>
              <a:rPr lang="en-US" sz="1400" dirty="0"/>
              <a:t> </a:t>
            </a:r>
            <a:r>
              <a:rPr lang="en-US" sz="1400" dirty="0" err="1"/>
              <a:t>та</a:t>
            </a:r>
            <a:r>
              <a:rPr lang="en-US" sz="1400" dirty="0"/>
              <a:t> </a:t>
            </a:r>
            <a:r>
              <a:rPr lang="en-US" sz="1400" dirty="0" err="1"/>
              <a:t>показників</a:t>
            </a:r>
            <a:r>
              <a:rPr lang="en-US" sz="1400" dirty="0"/>
              <a:t> </a:t>
            </a:r>
            <a:r>
              <a:rPr lang="en-US" sz="1400" dirty="0" err="1"/>
              <a:t>продуктивності</a:t>
            </a:r>
            <a:r>
              <a:rPr lang="en-US" sz="1400" dirty="0"/>
              <a:t>. </a:t>
            </a:r>
            <a:r>
              <a:rPr lang="en-US" sz="1400" dirty="0" err="1"/>
              <a:t>Частина</a:t>
            </a:r>
            <a:r>
              <a:rPr lang="en-US" sz="1400" dirty="0"/>
              <a:t> </a:t>
            </a:r>
            <a:r>
              <a:rPr lang="en-US" sz="1400" dirty="0" err="1"/>
              <a:t>інструментів</a:t>
            </a:r>
            <a:r>
              <a:rPr lang="en-US" sz="1400" dirty="0"/>
              <a:t> </a:t>
            </a:r>
            <a:r>
              <a:rPr lang="en-US" sz="1400" dirty="0" err="1"/>
              <a:t>демонструє</a:t>
            </a:r>
            <a:r>
              <a:rPr lang="en-US" sz="1400" dirty="0"/>
              <a:t> </a:t>
            </a:r>
            <a:r>
              <a:rPr lang="en-US" sz="1400" dirty="0" err="1"/>
              <a:t>високу</a:t>
            </a:r>
            <a:r>
              <a:rPr lang="en-US" sz="1400" dirty="0"/>
              <a:t> </a:t>
            </a:r>
            <a:r>
              <a:rPr lang="en-US" sz="1400" dirty="0" err="1"/>
              <a:t>повноту</a:t>
            </a:r>
            <a:r>
              <a:rPr lang="en-US" sz="1400" dirty="0"/>
              <a:t> </a:t>
            </a:r>
            <a:r>
              <a:rPr lang="en-US" sz="1400" dirty="0" err="1"/>
              <a:t>виявлення</a:t>
            </a:r>
            <a:r>
              <a:rPr lang="en-US" sz="1400" dirty="0"/>
              <a:t> </a:t>
            </a:r>
            <a:r>
              <a:rPr lang="en-US" sz="1400" dirty="0" err="1"/>
              <a:t>завдяки</a:t>
            </a:r>
            <a:r>
              <a:rPr lang="en-US" sz="1400" dirty="0"/>
              <a:t> </a:t>
            </a:r>
            <a:r>
              <a:rPr lang="en-US" sz="1400" dirty="0" err="1"/>
              <a:t>агресивному</a:t>
            </a:r>
            <a:r>
              <a:rPr lang="en-US" sz="1400" dirty="0"/>
              <a:t> </a:t>
            </a:r>
            <a:r>
              <a:rPr lang="en-US" sz="1400" dirty="0" err="1"/>
              <a:t>підходу</a:t>
            </a:r>
            <a:r>
              <a:rPr lang="en-US" sz="1400" dirty="0"/>
              <a:t> </a:t>
            </a:r>
            <a:r>
              <a:rPr lang="en-US" sz="1400" dirty="0" err="1"/>
              <a:t>до</a:t>
            </a:r>
            <a:r>
              <a:rPr lang="en-US" sz="1400" dirty="0"/>
              <a:t> </a:t>
            </a:r>
            <a:r>
              <a:rPr lang="en-US" sz="1400" dirty="0" err="1"/>
              <a:t>маркування</a:t>
            </a:r>
            <a:r>
              <a:rPr lang="en-US" sz="1400" dirty="0"/>
              <a:t> </a:t>
            </a:r>
            <a:r>
              <a:rPr lang="en-US" sz="1400" dirty="0" err="1"/>
              <a:t>ризиків</a:t>
            </a:r>
            <a:r>
              <a:rPr lang="en-US" sz="1400" dirty="0"/>
              <a:t>, </a:t>
            </a:r>
            <a:r>
              <a:rPr lang="en-US" sz="1400" dirty="0" err="1"/>
              <a:t>однак</a:t>
            </a:r>
            <a:r>
              <a:rPr lang="en-US" sz="1400" dirty="0"/>
              <a:t> </a:t>
            </a:r>
            <a:r>
              <a:rPr lang="en-US" sz="1400" dirty="0" err="1"/>
              <a:t>це</a:t>
            </a:r>
            <a:r>
              <a:rPr lang="en-US" sz="1400" dirty="0"/>
              <a:t> </a:t>
            </a:r>
            <a:r>
              <a:rPr lang="en-US" sz="1400" dirty="0" err="1"/>
              <a:t>може</a:t>
            </a:r>
            <a:r>
              <a:rPr lang="en-US" sz="1400" dirty="0"/>
              <a:t> </a:t>
            </a:r>
            <a:r>
              <a:rPr lang="en-US" sz="1400" dirty="0" err="1"/>
              <a:t>супроводжуватися</a:t>
            </a:r>
            <a:r>
              <a:rPr lang="en-US" sz="1400" dirty="0"/>
              <a:t> </a:t>
            </a:r>
            <a:r>
              <a:rPr lang="en-US" sz="1400" dirty="0" err="1"/>
              <a:t>підвищеною</a:t>
            </a:r>
            <a:r>
              <a:rPr lang="en-US" sz="1400" dirty="0"/>
              <a:t> </a:t>
            </a:r>
            <a:r>
              <a:rPr lang="en-US" sz="1400" dirty="0" err="1"/>
              <a:t>кількістю</a:t>
            </a:r>
            <a:r>
              <a:rPr lang="en-US" sz="1400" dirty="0"/>
              <a:t> </a:t>
            </a:r>
            <a:r>
              <a:rPr lang="en-US" sz="1400" dirty="0" err="1"/>
              <a:t>хибних</a:t>
            </a:r>
            <a:r>
              <a:rPr lang="en-US" sz="1400" dirty="0"/>
              <a:t> </a:t>
            </a:r>
            <a:r>
              <a:rPr lang="en-US" sz="1400" dirty="0" err="1"/>
              <a:t>спрацювань</a:t>
            </a:r>
            <a:r>
              <a:rPr lang="en-US" sz="1400" dirty="0"/>
              <a:t> </a:t>
            </a:r>
            <a:r>
              <a:rPr lang="en-US" sz="1400" dirty="0" err="1"/>
              <a:t>або</a:t>
            </a:r>
            <a:r>
              <a:rPr lang="en-US" sz="1400" dirty="0"/>
              <a:t> </a:t>
            </a:r>
            <a:r>
              <a:rPr lang="en-US" sz="1400" dirty="0" err="1"/>
              <a:t>більшими</a:t>
            </a:r>
            <a:r>
              <a:rPr lang="en-US" sz="1400" dirty="0"/>
              <a:t> </a:t>
            </a:r>
            <a:r>
              <a:rPr lang="en-US" sz="1400" dirty="0" err="1"/>
              <a:t>накладними</a:t>
            </a:r>
            <a:r>
              <a:rPr lang="en-US" sz="1400" dirty="0"/>
              <a:t> </a:t>
            </a:r>
            <a:r>
              <a:rPr lang="en-US" sz="1400" dirty="0" err="1"/>
              <a:t>витратами</a:t>
            </a:r>
            <a:r>
              <a:rPr lang="en-US" sz="1400" dirty="0"/>
              <a:t>. </a:t>
            </a:r>
            <a:r>
              <a:rPr lang="en-US" sz="1400" dirty="0" err="1"/>
              <a:t>Інші</a:t>
            </a:r>
            <a:r>
              <a:rPr lang="en-US" sz="1400" dirty="0"/>
              <a:t> </a:t>
            </a:r>
            <a:r>
              <a:rPr lang="en-US" sz="1400" dirty="0" err="1"/>
              <a:t>плагіни</a:t>
            </a:r>
            <a:r>
              <a:rPr lang="en-US" sz="1400" dirty="0"/>
              <a:t> </a:t>
            </a:r>
            <a:r>
              <a:rPr lang="en-US" sz="1400" dirty="0" err="1"/>
              <a:t>дають</a:t>
            </a:r>
            <a:r>
              <a:rPr lang="en-US" sz="1400" dirty="0"/>
              <a:t> </a:t>
            </a:r>
            <a:r>
              <a:rPr lang="en-US" sz="1400" dirty="0" err="1"/>
              <a:t>більш</a:t>
            </a:r>
            <a:r>
              <a:rPr lang="en-US" sz="1400" dirty="0"/>
              <a:t> </a:t>
            </a:r>
            <a:r>
              <a:rPr lang="en-US" sz="1400" dirty="0" err="1"/>
              <a:t>консервативні</a:t>
            </a:r>
            <a:r>
              <a:rPr lang="en-US" sz="1400" dirty="0"/>
              <a:t> </a:t>
            </a:r>
            <a:r>
              <a:rPr lang="en-US" sz="1400" dirty="0" err="1"/>
              <a:t>результати</a:t>
            </a:r>
            <a:r>
              <a:rPr lang="en-US" sz="1400" dirty="0"/>
              <a:t>, </a:t>
            </a:r>
            <a:r>
              <a:rPr lang="en-US" sz="1400" dirty="0" err="1"/>
              <a:t>зменшуючи</a:t>
            </a:r>
            <a:r>
              <a:rPr lang="en-US" sz="1400" dirty="0"/>
              <a:t> </a:t>
            </a:r>
            <a:r>
              <a:rPr lang="en-US" sz="1400" dirty="0" err="1"/>
              <a:t>кількість</a:t>
            </a:r>
            <a:r>
              <a:rPr lang="en-US" sz="1400" dirty="0"/>
              <a:t> false positive, </a:t>
            </a:r>
            <a:r>
              <a:rPr lang="en-US" sz="1400" dirty="0" err="1"/>
              <a:t>але</a:t>
            </a:r>
            <a:r>
              <a:rPr lang="en-US" sz="1400" dirty="0"/>
              <a:t> </a:t>
            </a:r>
            <a:r>
              <a:rPr lang="en-US" sz="1400" dirty="0" err="1"/>
              <a:t>інколи</a:t>
            </a:r>
            <a:r>
              <a:rPr lang="en-US" sz="1400" dirty="0"/>
              <a:t> </a:t>
            </a:r>
            <a:r>
              <a:rPr lang="en-US" sz="1400" dirty="0" err="1"/>
              <a:t>пропускають</a:t>
            </a:r>
            <a:r>
              <a:rPr lang="en-US" sz="1400" dirty="0"/>
              <a:t> </a:t>
            </a:r>
            <a:r>
              <a:rPr lang="en-US" sz="1400" dirty="0" err="1"/>
              <a:t>ризикові</a:t>
            </a:r>
            <a:r>
              <a:rPr lang="en-US" sz="1400" dirty="0"/>
              <a:t> </a:t>
            </a:r>
            <a:r>
              <a:rPr lang="en-US" sz="1400" dirty="0" err="1"/>
              <a:t>компоненти</a:t>
            </a:r>
            <a:r>
              <a:rPr lang="en-US" sz="1400" dirty="0"/>
              <a:t>. </a:t>
            </a:r>
            <a:r>
              <a:rPr lang="en-US" sz="1400" dirty="0" err="1"/>
              <a:t>Таке</a:t>
            </a:r>
            <a:r>
              <a:rPr lang="en-US" sz="1400" dirty="0"/>
              <a:t> </a:t>
            </a:r>
            <a:r>
              <a:rPr lang="en-US" sz="1400" dirty="0" err="1"/>
              <a:t>порівняння</a:t>
            </a:r>
            <a:r>
              <a:rPr lang="en-US" sz="1400" dirty="0"/>
              <a:t> </a:t>
            </a:r>
            <a:r>
              <a:rPr lang="en-US" sz="1400" dirty="0" err="1"/>
              <a:t>важливе</a:t>
            </a:r>
            <a:r>
              <a:rPr lang="en-US" sz="1400" dirty="0"/>
              <a:t> </a:t>
            </a:r>
            <a:r>
              <a:rPr lang="en-US" sz="1400" dirty="0" err="1"/>
              <a:t>для</a:t>
            </a:r>
            <a:r>
              <a:rPr lang="en-US" sz="1400" dirty="0"/>
              <a:t> </a:t>
            </a:r>
            <a:r>
              <a:rPr lang="en-US" sz="1400" dirty="0" err="1"/>
              <a:t>вибору</a:t>
            </a:r>
            <a:r>
              <a:rPr lang="en-US" sz="1400" dirty="0"/>
              <a:t> </a:t>
            </a:r>
            <a:r>
              <a:rPr lang="en-US" sz="1400" dirty="0" err="1"/>
              <a:t>інструменту</a:t>
            </a:r>
            <a:r>
              <a:rPr lang="en-US" sz="1400" dirty="0"/>
              <a:t> </a:t>
            </a:r>
            <a:r>
              <a:rPr lang="en-US" sz="1400" dirty="0" err="1"/>
              <a:t>залежно</a:t>
            </a:r>
            <a:r>
              <a:rPr lang="en-US" sz="1400" dirty="0"/>
              <a:t> </a:t>
            </a:r>
            <a:r>
              <a:rPr lang="en-US" sz="1400" dirty="0" err="1"/>
              <a:t>від</a:t>
            </a:r>
            <a:r>
              <a:rPr lang="en-US" sz="1400" dirty="0"/>
              <a:t> </a:t>
            </a:r>
            <a:r>
              <a:rPr lang="en-US" sz="1400" dirty="0" err="1"/>
              <a:t>контексту</a:t>
            </a:r>
            <a:r>
              <a:rPr lang="en-US" sz="1400" dirty="0"/>
              <a:t>: </a:t>
            </a:r>
            <a:r>
              <a:rPr lang="en-US" sz="1400" dirty="0" err="1"/>
              <a:t>інтернет‑магазин</a:t>
            </a:r>
            <a:r>
              <a:rPr lang="en-US" sz="1400" dirty="0"/>
              <a:t>, </a:t>
            </a:r>
            <a:r>
              <a:rPr lang="en-US" sz="1400" dirty="0" err="1"/>
              <a:t>корпоративний</a:t>
            </a:r>
            <a:r>
              <a:rPr lang="en-US" sz="1400" dirty="0"/>
              <a:t> </a:t>
            </a:r>
            <a:r>
              <a:rPr lang="en-US" sz="1400" dirty="0" err="1"/>
              <a:t>сайт</a:t>
            </a:r>
            <a:r>
              <a:rPr lang="en-US" sz="1400" dirty="0"/>
              <a:t> </a:t>
            </a:r>
            <a:r>
              <a:rPr lang="en-US" sz="1400" dirty="0" err="1"/>
              <a:t>чи</a:t>
            </a:r>
            <a:r>
              <a:rPr lang="en-US" sz="1400" dirty="0"/>
              <a:t> </a:t>
            </a:r>
            <a:r>
              <a:rPr lang="en-US" sz="1400" dirty="0" err="1"/>
              <a:t>блог</a:t>
            </a:r>
            <a:r>
              <a:rPr lang="en-US" sz="1400" dirty="0"/>
              <a:t> </a:t>
            </a:r>
            <a:r>
              <a:rPr lang="en-US" sz="1400" dirty="0" err="1"/>
              <a:t>мають</a:t>
            </a:r>
            <a:r>
              <a:rPr lang="en-US" sz="1400" dirty="0"/>
              <a:t> </a:t>
            </a:r>
            <a:r>
              <a:rPr lang="en-US" sz="1400" dirty="0" err="1"/>
              <a:t>різні</a:t>
            </a:r>
            <a:r>
              <a:rPr lang="en-US" sz="1400" dirty="0"/>
              <a:t> </a:t>
            </a:r>
            <a:r>
              <a:rPr lang="en-US" sz="1400" dirty="0" err="1"/>
              <a:t>вимоги</a:t>
            </a:r>
            <a:r>
              <a:rPr lang="en-US" sz="1400" dirty="0"/>
              <a:t> </a:t>
            </a:r>
            <a:r>
              <a:rPr lang="en-US" sz="1400" dirty="0" err="1"/>
              <a:t>до</a:t>
            </a:r>
            <a:r>
              <a:rPr lang="en-US" sz="1400" dirty="0"/>
              <a:t> </a:t>
            </a:r>
            <a:r>
              <a:rPr lang="en-US" sz="1400" dirty="0" err="1"/>
              <a:t>доступності</a:t>
            </a:r>
            <a:r>
              <a:rPr lang="en-US" sz="1400" dirty="0"/>
              <a:t> </a:t>
            </a:r>
            <a:r>
              <a:rPr lang="en-US" sz="1400" dirty="0" err="1"/>
              <a:t>та</a:t>
            </a:r>
            <a:r>
              <a:rPr lang="en-US" sz="1400" dirty="0"/>
              <a:t> </a:t>
            </a:r>
            <a:r>
              <a:rPr lang="en-US" sz="1400" dirty="0" err="1"/>
              <a:t>рівня</a:t>
            </a:r>
            <a:r>
              <a:rPr lang="en-US" sz="1400" dirty="0"/>
              <a:t> </a:t>
            </a:r>
            <a:r>
              <a:rPr lang="en-US" sz="1400" dirty="0" err="1"/>
              <a:t>ризику</a:t>
            </a:r>
            <a:r>
              <a:rPr lang="en-US" sz="1400" dirty="0"/>
              <a:t>.</a:t>
            </a:r>
          </a:p>
        </p:txBody>
      </p:sp>
      <p:sp>
        <p:nvSpPr>
          <p:cNvPr id="5" name="TextBox 4">
            <a:extLst>
              <a:ext uri="{FF2B5EF4-FFF2-40B4-BE49-F238E27FC236}">
                <a16:creationId xmlns:a16="http://schemas.microsoft.com/office/drawing/2014/main" id="{B745B504-EC18-ED53-D519-D33C417B727D}"/>
              </a:ext>
            </a:extLst>
          </p:cNvPr>
          <p:cNvSpPr txBox="1"/>
          <p:nvPr/>
        </p:nvSpPr>
        <p:spPr>
          <a:xfrm>
            <a:off x="960910" y="3592166"/>
            <a:ext cx="3833630" cy="738664"/>
          </a:xfrm>
          <a:prstGeom prst="rect">
            <a:avLst/>
          </a:prstGeom>
          <a:noFill/>
        </p:spPr>
        <p:txBody>
          <a:bodyPr wrap="square">
            <a:spAutoFit/>
          </a:bodyPr>
          <a:lstStyle/>
          <a:p>
            <a:r>
              <a:rPr lang="ru-RU" sz="1400" dirty="0" err="1"/>
              <a:t>Інтегральна</a:t>
            </a:r>
            <a:r>
              <a:rPr lang="ru-RU" sz="1400" dirty="0"/>
              <a:t> </a:t>
            </a:r>
            <a:r>
              <a:rPr lang="ru-RU" sz="1400" dirty="0" err="1"/>
              <a:t>оцінка</a:t>
            </a:r>
            <a:r>
              <a:rPr lang="ru-RU" sz="1400" dirty="0"/>
              <a:t>: </a:t>
            </a:r>
          </a:p>
          <a:p>
            <a:endParaRPr lang="ru-RU" sz="1400" dirty="0"/>
          </a:p>
          <a:p>
            <a:endParaRPr lang="uk-UA" sz="1400" dirty="0"/>
          </a:p>
        </p:txBody>
      </p:sp>
      <p:pic>
        <p:nvPicPr>
          <p:cNvPr id="6" name="Рисунок 5" descr="Изображение выглядит как снимок экрана, текст, Параллельный, линия&#10;&#10;Автоматически созданное описание">
            <a:extLst>
              <a:ext uri="{FF2B5EF4-FFF2-40B4-BE49-F238E27FC236}">
                <a16:creationId xmlns:a16="http://schemas.microsoft.com/office/drawing/2014/main" id="{C8382FB1-BFBF-122E-6507-034668E0250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89679" y="4177194"/>
            <a:ext cx="4267382" cy="2707706"/>
          </a:xfrm>
          <a:prstGeom prst="rect">
            <a:avLst/>
          </a:prstGeom>
        </p:spPr>
      </p:pic>
      <p:sp>
        <p:nvSpPr>
          <p:cNvPr id="7" name="Номер слайда 6">
            <a:extLst>
              <a:ext uri="{FF2B5EF4-FFF2-40B4-BE49-F238E27FC236}">
                <a16:creationId xmlns:a16="http://schemas.microsoft.com/office/drawing/2014/main" id="{7CB59344-948F-3221-6798-CF6FFE30E5B9}"/>
              </a:ext>
            </a:extLst>
          </p:cNvPr>
          <p:cNvSpPr>
            <a:spLocks noGrp="1"/>
          </p:cNvSpPr>
          <p:nvPr>
            <p:ph type="sldNum" sz="quarter" idx="12"/>
          </p:nvPr>
        </p:nvSpPr>
        <p:spPr/>
        <p:txBody>
          <a:bodyPr/>
          <a:lstStyle/>
          <a:p>
            <a:fld id="{C1FF6DA9-008F-8B48-92A6-B652298478BF}" type="slidenum">
              <a:rPr lang="en-US" smtClean="0"/>
              <a:t>26</a:t>
            </a:fld>
            <a:endParaRPr lang="en-US" dirty="0"/>
          </a:p>
        </p:txBody>
      </p:sp>
      <p:sp>
        <p:nvSpPr>
          <p:cNvPr id="9" name="TextBox 8">
            <a:extLst>
              <a:ext uri="{FF2B5EF4-FFF2-40B4-BE49-F238E27FC236}">
                <a16:creationId xmlns:a16="http://schemas.microsoft.com/office/drawing/2014/main" id="{9C659A04-C831-006B-7D64-D518E15F5DEE}"/>
              </a:ext>
            </a:extLst>
          </p:cNvPr>
          <p:cNvSpPr txBox="1"/>
          <p:nvPr/>
        </p:nvSpPr>
        <p:spPr>
          <a:xfrm>
            <a:off x="5383816" y="3609095"/>
            <a:ext cx="3833630" cy="307777"/>
          </a:xfrm>
          <a:prstGeom prst="rect">
            <a:avLst/>
          </a:prstGeom>
          <a:noFill/>
        </p:spPr>
        <p:txBody>
          <a:bodyPr wrap="square">
            <a:spAutoFit/>
          </a:bodyPr>
          <a:lstStyle/>
          <a:p>
            <a:r>
              <a:rPr lang="ru-RU" sz="1400" dirty="0"/>
              <a:t>де </a:t>
            </a:r>
            <a:r>
              <a:rPr lang="en" sz="1400" dirty="0"/>
              <a:t>N(·) — </a:t>
            </a:r>
            <a:r>
              <a:rPr lang="ru-RU" sz="1400" dirty="0" err="1"/>
              <a:t>нормалізовані</a:t>
            </a:r>
            <a:r>
              <a:rPr lang="ru-RU" sz="1400" dirty="0"/>
              <a:t> </a:t>
            </a:r>
            <a:r>
              <a:rPr lang="ru-RU" sz="1400" dirty="0" err="1"/>
              <a:t>значення</a:t>
            </a:r>
            <a:r>
              <a:rPr lang="ru-RU" sz="1400" dirty="0"/>
              <a:t> </a:t>
            </a:r>
            <a:r>
              <a:rPr lang="ru-RU" sz="1400" dirty="0" err="1"/>
              <a:t>критеріїв</a:t>
            </a:r>
            <a:r>
              <a:rPr lang="ru-RU" sz="1400" dirty="0"/>
              <a:t>.</a:t>
            </a:r>
          </a:p>
        </p:txBody>
      </p:sp>
      <p:pic>
        <p:nvPicPr>
          <p:cNvPr id="13" name="Рисунок 12" descr="Изображение выглядит как Шрифт, Графика, рукописный текст, типография&#10;&#10;Автоматически созданное описание">
            <a:extLst>
              <a:ext uri="{FF2B5EF4-FFF2-40B4-BE49-F238E27FC236}">
                <a16:creationId xmlns:a16="http://schemas.microsoft.com/office/drawing/2014/main" id="{CCA3FAF4-A39B-B339-6FA7-8F067DAFA596}"/>
              </a:ext>
            </a:extLst>
          </p:cNvPr>
          <p:cNvPicPr>
            <a:picLocks noChangeAspect="1"/>
          </p:cNvPicPr>
          <p:nvPr/>
        </p:nvPicPr>
        <p:blipFill>
          <a:blip r:embed="rId6"/>
          <a:stretch>
            <a:fillRect/>
          </a:stretch>
        </p:blipFill>
        <p:spPr>
          <a:xfrm>
            <a:off x="2702178" y="3395644"/>
            <a:ext cx="2681638" cy="967148"/>
          </a:xfrm>
          <a:prstGeom prst="rect">
            <a:avLst/>
          </a:prstGeom>
        </p:spPr>
      </p:pic>
      <p:sp>
        <p:nvSpPr>
          <p:cNvPr id="17" name="TextBox 16">
            <a:extLst>
              <a:ext uri="{FF2B5EF4-FFF2-40B4-BE49-F238E27FC236}">
                <a16:creationId xmlns:a16="http://schemas.microsoft.com/office/drawing/2014/main" id="{1BC87C1D-62A0-F345-AD66-6238A58A08B8}"/>
              </a:ext>
            </a:extLst>
          </p:cNvPr>
          <p:cNvSpPr txBox="1"/>
          <p:nvPr/>
        </p:nvSpPr>
        <p:spPr>
          <a:xfrm>
            <a:off x="959310" y="4170053"/>
            <a:ext cx="3501384" cy="954107"/>
          </a:xfrm>
          <a:prstGeom prst="rect">
            <a:avLst/>
          </a:prstGeom>
          <a:noFill/>
        </p:spPr>
        <p:txBody>
          <a:bodyPr wrap="square">
            <a:spAutoFit/>
          </a:bodyPr>
          <a:lstStyle/>
          <a:p>
            <a:r>
              <a:rPr lang="ru-RU" sz="1400" dirty="0"/>
              <a:t>Рейтинг за </a:t>
            </a:r>
            <a:r>
              <a:rPr lang="en" sz="1400" dirty="0"/>
              <a:t>Uᵢ: </a:t>
            </a:r>
          </a:p>
          <a:p>
            <a:endParaRPr lang="en" sz="1400" dirty="0"/>
          </a:p>
          <a:p>
            <a:r>
              <a:rPr lang="en" sz="1400" dirty="0"/>
              <a:t>A5 (</a:t>
            </a:r>
            <a:r>
              <a:rPr lang="en" sz="1400" dirty="0" err="1"/>
              <a:t>MalCare</a:t>
            </a:r>
            <a:r>
              <a:rPr lang="en" sz="1400" dirty="0"/>
              <a:t>) &gt; A2 (</a:t>
            </a:r>
            <a:r>
              <a:rPr lang="en" sz="1400" dirty="0" err="1"/>
              <a:t>Sucuri</a:t>
            </a:r>
            <a:r>
              <a:rPr lang="en" sz="1400" dirty="0"/>
              <a:t>) ≈ A3 (Solid) &gt; A4 (</a:t>
            </a:r>
            <a:r>
              <a:rPr lang="en" sz="1400" dirty="0" err="1"/>
              <a:t>Cerber</a:t>
            </a:r>
            <a:r>
              <a:rPr lang="en" sz="1400" dirty="0"/>
              <a:t>) &gt; A1 (</a:t>
            </a:r>
            <a:r>
              <a:rPr lang="en" sz="1400" dirty="0" err="1"/>
              <a:t>Wordfence</a:t>
            </a:r>
            <a:r>
              <a:rPr lang="en" sz="1400" dirty="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2" name="Rectangle 21">
            <a:extLst>
              <a:ext uri="{FF2B5EF4-FFF2-40B4-BE49-F238E27FC236}">
                <a16:creationId xmlns:a16="http://schemas.microsoft.com/office/drawing/2014/main" id="{E5C12349-62E6-4BD7-9794-8785CD02D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24" name="Picture 23">
            <a:extLst>
              <a:ext uri="{FF2B5EF4-FFF2-40B4-BE49-F238E27FC236}">
                <a16:creationId xmlns:a16="http://schemas.microsoft.com/office/drawing/2014/main" id="{DF2C9459-3C4B-453D-B2C2-AD0679BF0DC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65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a:ln>
            <a:noFill/>
          </a:ln>
        </p:spPr>
      </p:pic>
      <p:pic>
        <p:nvPicPr>
          <p:cNvPr id="26" name="Picture 25">
            <a:extLst>
              <a:ext uri="{FF2B5EF4-FFF2-40B4-BE49-F238E27FC236}">
                <a16:creationId xmlns:a16="http://schemas.microsoft.com/office/drawing/2014/main" id="{4DB48376-A646-4B75-9776-453930C41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8" name="Rectangle 27">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719933" cy="6858001"/>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7DC7507-73EB-407D-8824-E418315CC0D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041526" y="499054"/>
            <a:ext cx="415636" cy="392415"/>
          </a:xfrm>
          <a:prstGeom prst="rect">
            <a:avLst/>
          </a:prstGeom>
          <a:noFill/>
        </p:spPr>
        <p:txBody>
          <a:bodyPr wrap="square" rtlCol="0">
            <a:spAutoFit/>
          </a:bodyPr>
          <a:lstStyle/>
          <a:p>
            <a:pPr algn="r"/>
            <a:endParaRPr lang="en-US" sz="28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019032" y="364465"/>
            <a:ext cx="6925134" cy="1077229"/>
          </a:xfrm>
        </p:spPr>
        <p:txBody>
          <a:bodyPr vert="horz" lIns="91440" tIns="45720" rIns="91440" bIns="45720" rtlCol="0" anchor="t">
            <a:normAutofit/>
          </a:bodyPr>
          <a:lstStyle/>
          <a:p>
            <a:pPr algn="l" defTabSz="914400">
              <a:defRPr sz="3400" b="1"/>
            </a:pPr>
            <a:r>
              <a:rPr lang="en-US" sz="3300" dirty="0" err="1"/>
              <a:t>Інтерпретація</a:t>
            </a:r>
            <a:r>
              <a:rPr lang="en-US" sz="3300" dirty="0"/>
              <a:t> </a:t>
            </a:r>
            <a:r>
              <a:rPr lang="en-US" sz="3300" dirty="0" err="1"/>
              <a:t>та</a:t>
            </a:r>
            <a:r>
              <a:rPr lang="en-US" sz="3300" dirty="0"/>
              <a:t> </a:t>
            </a:r>
            <a:r>
              <a:rPr lang="en-US" sz="3300" dirty="0" err="1"/>
              <a:t>практичні</a:t>
            </a:r>
            <a:r>
              <a:rPr lang="en-US" sz="3300" dirty="0"/>
              <a:t> </a:t>
            </a:r>
            <a:r>
              <a:rPr lang="en-US" sz="3300" dirty="0" err="1"/>
              <a:t>рекомендації</a:t>
            </a:r>
            <a:endParaRPr lang="en-US" sz="3300" dirty="0"/>
          </a:p>
        </p:txBody>
      </p:sp>
      <p:sp>
        <p:nvSpPr>
          <p:cNvPr id="3" name="TextBox 2"/>
          <p:cNvSpPr txBox="1"/>
          <p:nvPr/>
        </p:nvSpPr>
        <p:spPr>
          <a:xfrm>
            <a:off x="1041332" y="1436962"/>
            <a:ext cx="7754475" cy="775717"/>
          </a:xfrm>
          <a:prstGeom prst="rect">
            <a:avLst/>
          </a:prstGeom>
        </p:spPr>
        <p:txBody>
          <a:bodyPr vert="horz" lIns="91440" tIns="45720" rIns="91440" bIns="45720" rtlCol="0" anchor="ctr">
            <a:noAutofit/>
          </a:bodyPr>
          <a:lstStyle/>
          <a:p>
            <a:pPr algn="just" defTabSz="914400">
              <a:lnSpc>
                <a:spcPct val="110000"/>
              </a:lnSpc>
              <a:spcBef>
                <a:spcPts val="500"/>
              </a:spcBef>
              <a:spcAft>
                <a:spcPts val="600"/>
              </a:spcAft>
              <a:buClr>
                <a:schemeClr val="accent6"/>
              </a:buClr>
              <a:buSzPct val="90000"/>
              <a:defRPr sz="1800"/>
            </a:pPr>
            <a:r>
              <a:rPr lang="ru-RU" dirty="0"/>
              <a:t>На </a:t>
            </a:r>
            <a:r>
              <a:rPr lang="ru-RU" dirty="0" err="1"/>
              <a:t>основі</a:t>
            </a:r>
            <a:r>
              <a:rPr lang="ru-RU" dirty="0"/>
              <a:t> </a:t>
            </a:r>
            <a:r>
              <a:rPr lang="ru-RU" dirty="0" err="1"/>
              <a:t>отриманих</a:t>
            </a:r>
            <a:r>
              <a:rPr lang="ru-RU" dirty="0"/>
              <a:t> </a:t>
            </a:r>
            <a:r>
              <a:rPr lang="ru-RU" dirty="0" err="1"/>
              <a:t>результатів</a:t>
            </a:r>
            <a:r>
              <a:rPr lang="ru-RU" dirty="0"/>
              <a:t> сформовано </a:t>
            </a:r>
            <a:r>
              <a:rPr lang="ru-RU" dirty="0" err="1"/>
              <a:t>практичні</a:t>
            </a:r>
            <a:r>
              <a:rPr lang="ru-RU" dirty="0"/>
              <a:t> </a:t>
            </a:r>
            <a:r>
              <a:rPr lang="ru-RU" dirty="0" err="1"/>
              <a:t>рекомендації</a:t>
            </a:r>
            <a:r>
              <a:rPr lang="ru-RU" dirty="0"/>
              <a:t> </a:t>
            </a:r>
            <a:r>
              <a:rPr lang="ru-RU" dirty="0" err="1"/>
              <a:t>щодо</a:t>
            </a:r>
            <a:r>
              <a:rPr lang="ru-RU" dirty="0"/>
              <a:t> </a:t>
            </a:r>
            <a:r>
              <a:rPr lang="ru-RU" dirty="0" err="1"/>
              <a:t>вибору</a:t>
            </a:r>
            <a:r>
              <a:rPr lang="ru-RU" dirty="0"/>
              <a:t> </a:t>
            </a:r>
            <a:r>
              <a:rPr lang="ru-RU" dirty="0" err="1"/>
              <a:t>плагінів</a:t>
            </a:r>
            <a:r>
              <a:rPr lang="ru-RU" dirty="0"/>
              <a:t> </a:t>
            </a:r>
            <a:r>
              <a:rPr lang="ru-RU" dirty="0" err="1"/>
              <a:t>безпеки</a:t>
            </a:r>
            <a:r>
              <a:rPr lang="ru-RU" dirty="0"/>
              <a:t> для </a:t>
            </a:r>
            <a:r>
              <a:rPr lang="ru-RU" dirty="0" err="1"/>
              <a:t>різних</a:t>
            </a:r>
            <a:r>
              <a:rPr lang="ru-RU" dirty="0"/>
              <a:t> </a:t>
            </a:r>
            <a:r>
              <a:rPr lang="ru-RU" dirty="0" err="1"/>
              <a:t>типів</a:t>
            </a:r>
            <a:r>
              <a:rPr lang="ru-RU" dirty="0"/>
              <a:t> </a:t>
            </a:r>
            <a:r>
              <a:rPr lang="en" dirty="0"/>
              <a:t>WordPress-</a:t>
            </a:r>
            <a:r>
              <a:rPr lang="ru-RU" dirty="0" err="1"/>
              <a:t>сайтів</a:t>
            </a:r>
            <a:r>
              <a:rPr lang="ru-RU" dirty="0"/>
              <a:t>:</a:t>
            </a:r>
            <a:endParaRPr lang="en-US" dirty="0"/>
          </a:p>
        </p:txBody>
      </p:sp>
      <p:sp>
        <p:nvSpPr>
          <p:cNvPr id="5" name="Номер слайда 4">
            <a:extLst>
              <a:ext uri="{FF2B5EF4-FFF2-40B4-BE49-F238E27FC236}">
                <a16:creationId xmlns:a16="http://schemas.microsoft.com/office/drawing/2014/main" id="{2E14EC98-1CC4-13CA-B6EA-AF8F0799A616}"/>
              </a:ext>
            </a:extLst>
          </p:cNvPr>
          <p:cNvSpPr>
            <a:spLocks noGrp="1"/>
          </p:cNvSpPr>
          <p:nvPr>
            <p:ph type="sldNum" sz="quarter" idx="12"/>
          </p:nvPr>
        </p:nvSpPr>
        <p:spPr/>
        <p:txBody>
          <a:bodyPr/>
          <a:lstStyle/>
          <a:p>
            <a:fld id="{C1FF6DA9-008F-8B48-92A6-B652298478BF}" type="slidenum">
              <a:rPr lang="en-US" smtClean="0"/>
              <a:t>27</a:t>
            </a:fld>
            <a:endParaRPr lang="en-US" dirty="0"/>
          </a:p>
        </p:txBody>
      </p:sp>
      <p:sp>
        <p:nvSpPr>
          <p:cNvPr id="6" name="TextBox 5">
            <a:extLst>
              <a:ext uri="{FF2B5EF4-FFF2-40B4-BE49-F238E27FC236}">
                <a16:creationId xmlns:a16="http://schemas.microsoft.com/office/drawing/2014/main" id="{E07520D9-D79F-C250-B080-88A4B62D814D}"/>
              </a:ext>
            </a:extLst>
          </p:cNvPr>
          <p:cNvSpPr txBox="1"/>
          <p:nvPr/>
        </p:nvSpPr>
        <p:spPr>
          <a:xfrm>
            <a:off x="1044476" y="2340042"/>
            <a:ext cx="8350714" cy="4247317"/>
          </a:xfrm>
          <a:prstGeom prst="rect">
            <a:avLst/>
          </a:prstGeom>
          <a:noFill/>
        </p:spPr>
        <p:txBody>
          <a:bodyPr wrap="square">
            <a:spAutoFit/>
          </a:bodyPr>
          <a:lstStyle/>
          <a:p>
            <a:pPr algn="just"/>
            <a:r>
              <a:rPr lang="ru-UA" dirty="0"/>
              <a:t>1. Для e-commerce проєктів (WooCommerce)</a:t>
            </a:r>
          </a:p>
          <a:p>
            <a:pPr algn="just"/>
            <a:r>
              <a:rPr lang="ru-UA" dirty="0"/>
              <a:t>   Пріоритет - якісне сканування + активний захист</a:t>
            </a:r>
          </a:p>
          <a:p>
            <a:pPr algn="just"/>
            <a:r>
              <a:rPr lang="ru-UA" dirty="0"/>
              <a:t>   Рекомендовано: MalCare (A5) або Sucuri (A2)</a:t>
            </a:r>
          </a:p>
          <a:p>
            <a:pPr algn="just"/>
            <a:endParaRPr lang="ru-UA" dirty="0"/>
          </a:p>
          <a:p>
            <a:pPr algn="just"/>
            <a:r>
              <a:rPr lang="ru-UA" dirty="0"/>
              <a:t>2. Для корпоративних сайтів</a:t>
            </a:r>
          </a:p>
          <a:p>
            <a:pPr algn="just"/>
            <a:r>
              <a:rPr lang="ru-UA" dirty="0"/>
              <a:t>   Пріоритет - збалансованість захисту та продуктивності</a:t>
            </a:r>
          </a:p>
          <a:p>
            <a:pPr algn="just"/>
            <a:r>
              <a:rPr lang="ru-UA" dirty="0"/>
              <a:t>   Рекомендовано: SecuPress (A6) або NinjaFirewall (A11)</a:t>
            </a:r>
          </a:p>
          <a:p>
            <a:pPr algn="just"/>
            <a:endParaRPr lang="ru-UA" dirty="0"/>
          </a:p>
          <a:p>
            <a:pPr algn="just"/>
            <a:r>
              <a:rPr lang="ru-UA" dirty="0"/>
              <a:t>3. Для невеликих блогів</a:t>
            </a:r>
          </a:p>
          <a:p>
            <a:pPr algn="just"/>
            <a:r>
              <a:rPr lang="ru-UA" dirty="0"/>
              <a:t>   Пріоритет - мінімум навантаження на ресурси</a:t>
            </a:r>
          </a:p>
          <a:p>
            <a:pPr algn="just"/>
            <a:r>
              <a:rPr lang="ru-UA" dirty="0"/>
              <a:t>   Рекомендовано: All-In-One Security (A9) або Solid Security (A3)</a:t>
            </a:r>
          </a:p>
          <a:p>
            <a:pPr algn="just"/>
            <a:endParaRPr lang="ru-UA" dirty="0"/>
          </a:p>
          <a:p>
            <a:pPr algn="just"/>
            <a:r>
              <a:rPr lang="ru-UA" dirty="0"/>
              <a:t>4. Для сайтів з підвищеним ризиком (фінансові, медичні)</a:t>
            </a:r>
          </a:p>
          <a:p>
            <a:pPr algn="just"/>
            <a:r>
              <a:rPr lang="ru-UA" dirty="0"/>
              <a:t>   Пріоритет - максимальна повнота детекції</a:t>
            </a:r>
          </a:p>
          <a:p>
            <a:pPr algn="just"/>
            <a:r>
              <a:rPr lang="ru-UA" dirty="0"/>
              <a:t>   Рекомендовано: MalCare (A5) у комбінації з зовнішнім WAF</a:t>
            </a:r>
          </a:p>
        </p:txBody>
      </p:sp>
      <p:sp>
        <p:nvSpPr>
          <p:cNvPr id="9" name="TextBox 8">
            <a:extLst>
              <a:ext uri="{FF2B5EF4-FFF2-40B4-BE49-F238E27FC236}">
                <a16:creationId xmlns:a16="http://schemas.microsoft.com/office/drawing/2014/main" id="{F0F2CA51-B2C2-66D7-174E-BBBF7B3A2832}"/>
              </a:ext>
            </a:extLst>
          </p:cNvPr>
          <p:cNvSpPr txBox="1"/>
          <p:nvPr/>
        </p:nvSpPr>
        <p:spPr>
          <a:xfrm>
            <a:off x="511122" y="8113504"/>
            <a:ext cx="8545997" cy="3139321"/>
          </a:xfrm>
          <a:prstGeom prst="rect">
            <a:avLst/>
          </a:prstGeom>
          <a:noFill/>
        </p:spPr>
        <p:txBody>
          <a:bodyPr wrap="square">
            <a:spAutoFit/>
          </a:bodyPr>
          <a:lstStyle/>
          <a:p>
            <a:pPr marL="285750" indent="-285750">
              <a:buFont typeface="Arial" panose="020B0604020202020204" pitchFamily="34" charset="0"/>
              <a:buChar char="•"/>
            </a:pPr>
            <a:r>
              <a:rPr lang="ru-UA" dirty="0"/>
              <a:t>Плагін безпеки - НЕ єдиний захист сайту, а складова багаторівневої системи безпеки</a:t>
            </a:r>
          </a:p>
          <a:p>
            <a:endParaRPr lang="ru-UA" dirty="0"/>
          </a:p>
          <a:p>
            <a:pPr marL="285750" indent="-285750">
              <a:buFont typeface="Arial" panose="020B0604020202020204" pitchFamily="34" charset="0"/>
              <a:buChar char="•"/>
            </a:pPr>
            <a:r>
              <a:rPr lang="ru-UA" dirty="0"/>
              <a:t>Поєднувати з: регулярними оновленнями ядра і плагінів, CDN з WAF, резервним копіюванням, моніторингом логів</a:t>
            </a:r>
          </a:p>
          <a:p>
            <a:endParaRPr lang="ru-UA" dirty="0"/>
          </a:p>
          <a:p>
            <a:pPr marL="285750" indent="-285750">
              <a:buFont typeface="Arial" panose="020B0604020202020204" pitchFamily="34" charset="0"/>
              <a:buChar char="•"/>
            </a:pPr>
            <a:r>
              <a:rPr lang="ru-UA" dirty="0"/>
              <a:t>Не використовувати декілька плагінів безпеки одночасно — це призводить до конфліктів та зниження продуктивності</a:t>
            </a:r>
          </a:p>
          <a:p>
            <a:endParaRPr lang="ru-UA" dirty="0"/>
          </a:p>
          <a:p>
            <a:pPr marL="285750" indent="-285750">
              <a:buFont typeface="Arial" panose="020B0604020202020204" pitchFamily="34" charset="0"/>
              <a:buChar char="•"/>
            </a:pPr>
            <a:r>
              <a:rPr lang="ru-UA" dirty="0"/>
              <a:t>Періодично переглядати ефективність обраного інструменту (бази вразливостей постійно оновлюються)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2" name="Rectangle 21">
            <a:extLst>
              <a:ext uri="{FF2B5EF4-FFF2-40B4-BE49-F238E27FC236}">
                <a16:creationId xmlns:a16="http://schemas.microsoft.com/office/drawing/2014/main" id="{E5C12349-62E6-4BD7-9794-8785CD02D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24" name="Picture 23">
            <a:extLst>
              <a:ext uri="{FF2B5EF4-FFF2-40B4-BE49-F238E27FC236}">
                <a16:creationId xmlns:a16="http://schemas.microsoft.com/office/drawing/2014/main" id="{DF2C9459-3C4B-453D-B2C2-AD0679BF0DC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65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a:ln>
            <a:noFill/>
          </a:ln>
        </p:spPr>
      </p:pic>
      <p:pic>
        <p:nvPicPr>
          <p:cNvPr id="26" name="Picture 25">
            <a:extLst>
              <a:ext uri="{FF2B5EF4-FFF2-40B4-BE49-F238E27FC236}">
                <a16:creationId xmlns:a16="http://schemas.microsoft.com/office/drawing/2014/main" id="{4DB48376-A646-4B75-9776-453930C41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8" name="Rectangle 27">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719933" cy="6858001"/>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7DC7507-73EB-407D-8824-E418315CC0D0}"/>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041526" y="499054"/>
            <a:ext cx="415636" cy="392415"/>
          </a:xfrm>
          <a:prstGeom prst="rect">
            <a:avLst/>
          </a:prstGeom>
          <a:noFill/>
        </p:spPr>
        <p:txBody>
          <a:bodyPr wrap="square" rtlCol="0">
            <a:spAutoFit/>
          </a:bodyPr>
          <a:lstStyle/>
          <a:p>
            <a:pPr algn="r"/>
            <a:endParaRPr lang="en-US" sz="28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019032" y="364465"/>
            <a:ext cx="6925134" cy="1077229"/>
          </a:xfrm>
        </p:spPr>
        <p:txBody>
          <a:bodyPr vert="horz" lIns="91440" tIns="45720" rIns="91440" bIns="45720" rtlCol="0" anchor="t">
            <a:normAutofit/>
          </a:bodyPr>
          <a:lstStyle/>
          <a:p>
            <a:pPr algn="l" defTabSz="914400">
              <a:defRPr sz="3400" b="1"/>
            </a:pPr>
            <a:r>
              <a:rPr lang="en-US" sz="3300" dirty="0" err="1"/>
              <a:t>Інтерпретація</a:t>
            </a:r>
            <a:r>
              <a:rPr lang="en-US" sz="3300" dirty="0"/>
              <a:t> </a:t>
            </a:r>
            <a:r>
              <a:rPr lang="en-US" sz="3300" dirty="0" err="1"/>
              <a:t>та</a:t>
            </a:r>
            <a:r>
              <a:rPr lang="en-US" sz="3300" dirty="0"/>
              <a:t> </a:t>
            </a:r>
            <a:r>
              <a:rPr lang="en-US" sz="3300" dirty="0" err="1"/>
              <a:t>практичні</a:t>
            </a:r>
            <a:r>
              <a:rPr lang="en-US" sz="3300" dirty="0"/>
              <a:t> </a:t>
            </a:r>
            <a:r>
              <a:rPr lang="en-US" sz="3300" dirty="0" err="1"/>
              <a:t>рекомендації</a:t>
            </a:r>
            <a:endParaRPr lang="en-US" sz="3300" dirty="0"/>
          </a:p>
        </p:txBody>
      </p:sp>
      <p:sp>
        <p:nvSpPr>
          <p:cNvPr id="3" name="TextBox 2"/>
          <p:cNvSpPr txBox="1"/>
          <p:nvPr/>
        </p:nvSpPr>
        <p:spPr>
          <a:xfrm>
            <a:off x="1041332" y="1436962"/>
            <a:ext cx="7754475" cy="775717"/>
          </a:xfrm>
          <a:prstGeom prst="rect">
            <a:avLst/>
          </a:prstGeom>
        </p:spPr>
        <p:txBody>
          <a:bodyPr vert="horz" lIns="91440" tIns="45720" rIns="91440" bIns="45720" rtlCol="0" anchor="ctr">
            <a:noAutofit/>
          </a:bodyPr>
          <a:lstStyle/>
          <a:p>
            <a:pPr algn="just" defTabSz="914400">
              <a:lnSpc>
                <a:spcPct val="110000"/>
              </a:lnSpc>
              <a:spcBef>
                <a:spcPts val="500"/>
              </a:spcBef>
              <a:spcAft>
                <a:spcPts val="600"/>
              </a:spcAft>
              <a:buClr>
                <a:schemeClr val="accent6"/>
              </a:buClr>
              <a:buSzPct val="90000"/>
              <a:defRPr sz="1800"/>
            </a:pPr>
            <a:r>
              <a:rPr lang="ru-RU" dirty="0" err="1"/>
              <a:t>Ключові</a:t>
            </a:r>
            <a:r>
              <a:rPr lang="ru-RU" dirty="0"/>
              <a:t> </a:t>
            </a:r>
            <a:r>
              <a:rPr lang="ru-RU" dirty="0" err="1"/>
              <a:t>принципи</a:t>
            </a:r>
            <a:r>
              <a:rPr lang="ru-RU" dirty="0"/>
              <a:t>:</a:t>
            </a:r>
            <a:endParaRPr lang="en-US" dirty="0"/>
          </a:p>
        </p:txBody>
      </p:sp>
      <p:sp>
        <p:nvSpPr>
          <p:cNvPr id="5" name="Номер слайда 4">
            <a:extLst>
              <a:ext uri="{FF2B5EF4-FFF2-40B4-BE49-F238E27FC236}">
                <a16:creationId xmlns:a16="http://schemas.microsoft.com/office/drawing/2014/main" id="{2E14EC98-1CC4-13CA-B6EA-AF8F0799A616}"/>
              </a:ext>
            </a:extLst>
          </p:cNvPr>
          <p:cNvSpPr>
            <a:spLocks noGrp="1"/>
          </p:cNvSpPr>
          <p:nvPr>
            <p:ph type="sldNum" sz="quarter" idx="12"/>
          </p:nvPr>
        </p:nvSpPr>
        <p:spPr/>
        <p:txBody>
          <a:bodyPr/>
          <a:lstStyle/>
          <a:p>
            <a:fld id="{C1FF6DA9-008F-8B48-92A6-B652298478BF}" type="slidenum">
              <a:rPr lang="en-US" smtClean="0"/>
              <a:t>28</a:t>
            </a:fld>
            <a:endParaRPr lang="en-US" dirty="0"/>
          </a:p>
        </p:txBody>
      </p:sp>
      <p:sp>
        <p:nvSpPr>
          <p:cNvPr id="6" name="TextBox 5">
            <a:extLst>
              <a:ext uri="{FF2B5EF4-FFF2-40B4-BE49-F238E27FC236}">
                <a16:creationId xmlns:a16="http://schemas.microsoft.com/office/drawing/2014/main" id="{E07520D9-D79F-C250-B080-88A4B62D814D}"/>
              </a:ext>
            </a:extLst>
          </p:cNvPr>
          <p:cNvSpPr txBox="1"/>
          <p:nvPr/>
        </p:nvSpPr>
        <p:spPr>
          <a:xfrm>
            <a:off x="1041331" y="2315789"/>
            <a:ext cx="7791201" cy="3139321"/>
          </a:xfrm>
          <a:prstGeom prst="rect">
            <a:avLst/>
          </a:prstGeom>
          <a:noFill/>
        </p:spPr>
        <p:txBody>
          <a:bodyPr wrap="square">
            <a:spAutoFit/>
          </a:bodyPr>
          <a:lstStyle/>
          <a:p>
            <a:pPr marL="285750" indent="-285750" algn="just">
              <a:buFont typeface="Arial" panose="020B0604020202020204" pitchFamily="34" charset="0"/>
              <a:buChar char="•"/>
            </a:pPr>
            <a:r>
              <a:rPr lang="ru-RU" dirty="0" err="1"/>
              <a:t>Плагін</a:t>
            </a:r>
            <a:r>
              <a:rPr lang="ru-RU" dirty="0"/>
              <a:t> </a:t>
            </a:r>
            <a:r>
              <a:rPr lang="ru-RU" dirty="0" err="1"/>
              <a:t>безпеки</a:t>
            </a:r>
            <a:r>
              <a:rPr lang="ru-RU" dirty="0"/>
              <a:t> - НЕ </a:t>
            </a:r>
            <a:r>
              <a:rPr lang="ru-RU" dirty="0" err="1"/>
              <a:t>єдиний</a:t>
            </a:r>
            <a:r>
              <a:rPr lang="ru-RU" dirty="0"/>
              <a:t> </a:t>
            </a:r>
            <a:r>
              <a:rPr lang="ru-RU" dirty="0" err="1"/>
              <a:t>захист</a:t>
            </a:r>
            <a:r>
              <a:rPr lang="ru-RU" dirty="0"/>
              <a:t> сайту, а </a:t>
            </a:r>
            <a:r>
              <a:rPr lang="ru-RU" dirty="0" err="1"/>
              <a:t>складова</a:t>
            </a:r>
            <a:r>
              <a:rPr lang="ru-RU" dirty="0"/>
              <a:t> </a:t>
            </a:r>
            <a:r>
              <a:rPr lang="ru-RU" dirty="0" err="1"/>
              <a:t>багаторівневої</a:t>
            </a:r>
            <a:r>
              <a:rPr lang="ru-RU" dirty="0"/>
              <a:t> </a:t>
            </a:r>
            <a:r>
              <a:rPr lang="ru-RU" dirty="0" err="1"/>
              <a:t>системи</a:t>
            </a:r>
            <a:r>
              <a:rPr lang="ru-RU" dirty="0"/>
              <a:t> </a:t>
            </a:r>
            <a:r>
              <a:rPr lang="ru-RU" dirty="0" err="1"/>
              <a:t>безпеки</a:t>
            </a:r>
            <a:endParaRPr lang="ru-RU" dirty="0"/>
          </a:p>
          <a:p>
            <a:pPr algn="just"/>
            <a:endParaRPr lang="ru-RU" dirty="0"/>
          </a:p>
          <a:p>
            <a:pPr marL="285750" indent="-285750" algn="just">
              <a:buFont typeface="Arial" panose="020B0604020202020204" pitchFamily="34" charset="0"/>
              <a:buChar char="•"/>
            </a:pPr>
            <a:r>
              <a:rPr lang="ru-RU" dirty="0" err="1"/>
              <a:t>Поєднувати</a:t>
            </a:r>
            <a:r>
              <a:rPr lang="ru-RU" dirty="0"/>
              <a:t> з: </a:t>
            </a:r>
            <a:r>
              <a:rPr lang="ru-RU" dirty="0" err="1"/>
              <a:t>регулярними</a:t>
            </a:r>
            <a:r>
              <a:rPr lang="ru-RU" dirty="0"/>
              <a:t> </a:t>
            </a:r>
            <a:r>
              <a:rPr lang="ru-RU" dirty="0" err="1"/>
              <a:t>оновленнями</a:t>
            </a:r>
            <a:r>
              <a:rPr lang="ru-RU" dirty="0"/>
              <a:t> ядра і </a:t>
            </a:r>
            <a:r>
              <a:rPr lang="ru-RU" dirty="0" err="1"/>
              <a:t>плагінів</a:t>
            </a:r>
            <a:r>
              <a:rPr lang="ru-RU" dirty="0"/>
              <a:t>, </a:t>
            </a:r>
            <a:r>
              <a:rPr lang="en" dirty="0"/>
              <a:t>CDN </a:t>
            </a:r>
            <a:r>
              <a:rPr lang="ru-RU" dirty="0"/>
              <a:t>з </a:t>
            </a:r>
            <a:r>
              <a:rPr lang="en" dirty="0"/>
              <a:t>WAF, </a:t>
            </a:r>
            <a:r>
              <a:rPr lang="ru-RU" dirty="0" err="1"/>
              <a:t>резервним</a:t>
            </a:r>
            <a:r>
              <a:rPr lang="ru-RU" dirty="0"/>
              <a:t> </a:t>
            </a:r>
            <a:r>
              <a:rPr lang="ru-RU" dirty="0" err="1"/>
              <a:t>копіюванням</a:t>
            </a:r>
            <a:r>
              <a:rPr lang="ru-RU" dirty="0"/>
              <a:t>, </a:t>
            </a:r>
            <a:r>
              <a:rPr lang="ru-RU" dirty="0" err="1"/>
              <a:t>моніторингом</a:t>
            </a:r>
            <a:r>
              <a:rPr lang="ru-RU" dirty="0"/>
              <a:t> </a:t>
            </a:r>
            <a:r>
              <a:rPr lang="ru-RU" dirty="0" err="1"/>
              <a:t>логів</a:t>
            </a:r>
            <a:endParaRPr lang="ru-RU" dirty="0"/>
          </a:p>
          <a:p>
            <a:pPr algn="just"/>
            <a:endParaRPr lang="ru-RU" dirty="0"/>
          </a:p>
          <a:p>
            <a:pPr marL="285750" indent="-285750" algn="just">
              <a:buFont typeface="Arial" panose="020B0604020202020204" pitchFamily="34" charset="0"/>
              <a:buChar char="•"/>
            </a:pPr>
            <a:r>
              <a:rPr lang="ru-RU" dirty="0"/>
              <a:t>Не </a:t>
            </a:r>
            <a:r>
              <a:rPr lang="ru-RU" dirty="0" err="1"/>
              <a:t>використовувати</a:t>
            </a:r>
            <a:r>
              <a:rPr lang="ru-RU" dirty="0"/>
              <a:t> </a:t>
            </a:r>
            <a:r>
              <a:rPr lang="ru-RU" dirty="0" err="1"/>
              <a:t>декілька</a:t>
            </a:r>
            <a:r>
              <a:rPr lang="ru-RU" dirty="0"/>
              <a:t> </a:t>
            </a:r>
            <a:r>
              <a:rPr lang="ru-RU" dirty="0" err="1"/>
              <a:t>плагінів</a:t>
            </a:r>
            <a:r>
              <a:rPr lang="ru-RU" dirty="0"/>
              <a:t> </a:t>
            </a:r>
            <a:r>
              <a:rPr lang="ru-RU" dirty="0" err="1"/>
              <a:t>безпеки</a:t>
            </a:r>
            <a:r>
              <a:rPr lang="ru-RU" dirty="0"/>
              <a:t> </a:t>
            </a:r>
            <a:r>
              <a:rPr lang="ru-RU" dirty="0" err="1"/>
              <a:t>одночасно</a:t>
            </a:r>
            <a:r>
              <a:rPr lang="ru-RU" dirty="0"/>
              <a:t> - </a:t>
            </a:r>
            <a:r>
              <a:rPr lang="ru-RU" dirty="0" err="1"/>
              <a:t>це</a:t>
            </a:r>
            <a:r>
              <a:rPr lang="ru-RU" dirty="0"/>
              <a:t> </a:t>
            </a:r>
            <a:r>
              <a:rPr lang="ru-RU" dirty="0" err="1"/>
              <a:t>призводить</a:t>
            </a:r>
            <a:r>
              <a:rPr lang="ru-RU" dirty="0"/>
              <a:t> до </a:t>
            </a:r>
            <a:r>
              <a:rPr lang="ru-RU" dirty="0" err="1"/>
              <a:t>конфліктів</a:t>
            </a:r>
            <a:r>
              <a:rPr lang="ru-RU" dirty="0"/>
              <a:t> та </a:t>
            </a:r>
            <a:r>
              <a:rPr lang="ru-RU" dirty="0" err="1"/>
              <a:t>зниження</a:t>
            </a:r>
            <a:r>
              <a:rPr lang="ru-RU" dirty="0"/>
              <a:t> </a:t>
            </a:r>
            <a:r>
              <a:rPr lang="ru-RU" dirty="0" err="1"/>
              <a:t>продуктивності</a:t>
            </a:r>
            <a:endParaRPr lang="ru-RU" dirty="0"/>
          </a:p>
          <a:p>
            <a:pPr algn="just"/>
            <a:endParaRPr lang="ru-RU" dirty="0"/>
          </a:p>
          <a:p>
            <a:pPr marL="285750" indent="-285750" algn="just">
              <a:buFont typeface="Arial" panose="020B0604020202020204" pitchFamily="34" charset="0"/>
              <a:buChar char="•"/>
            </a:pPr>
            <a:r>
              <a:rPr lang="ru-RU" dirty="0" err="1"/>
              <a:t>Періодично</a:t>
            </a:r>
            <a:r>
              <a:rPr lang="ru-RU" dirty="0"/>
              <a:t> </a:t>
            </a:r>
            <a:r>
              <a:rPr lang="ru-RU" dirty="0" err="1"/>
              <a:t>переглядати</a:t>
            </a:r>
            <a:r>
              <a:rPr lang="ru-RU" dirty="0"/>
              <a:t> </a:t>
            </a:r>
            <a:r>
              <a:rPr lang="ru-RU" dirty="0" err="1"/>
              <a:t>ефективність</a:t>
            </a:r>
            <a:r>
              <a:rPr lang="ru-RU" dirty="0"/>
              <a:t> </a:t>
            </a:r>
            <a:r>
              <a:rPr lang="ru-RU" dirty="0" err="1"/>
              <a:t>обраного</a:t>
            </a:r>
            <a:r>
              <a:rPr lang="ru-RU" dirty="0"/>
              <a:t> </a:t>
            </a:r>
            <a:r>
              <a:rPr lang="ru-RU" dirty="0" err="1"/>
              <a:t>інструменту</a:t>
            </a:r>
            <a:r>
              <a:rPr lang="ru-RU" dirty="0"/>
              <a:t> (</a:t>
            </a:r>
            <a:r>
              <a:rPr lang="ru-RU" dirty="0" err="1"/>
              <a:t>бази</a:t>
            </a:r>
            <a:r>
              <a:rPr lang="ru-RU" dirty="0"/>
              <a:t> </a:t>
            </a:r>
            <a:r>
              <a:rPr lang="ru-RU" dirty="0" err="1"/>
              <a:t>вразливостей</a:t>
            </a:r>
            <a:r>
              <a:rPr lang="ru-RU" dirty="0"/>
              <a:t> </a:t>
            </a:r>
            <a:r>
              <a:rPr lang="ru-RU" dirty="0" err="1"/>
              <a:t>постійно</a:t>
            </a:r>
            <a:r>
              <a:rPr lang="ru-RU" dirty="0"/>
              <a:t> </a:t>
            </a:r>
            <a:r>
              <a:rPr lang="ru-RU" dirty="0" err="1"/>
              <a:t>оновлюються</a:t>
            </a:r>
            <a:r>
              <a:rPr lang="ru-RU" dirty="0"/>
              <a:t>)</a:t>
            </a:r>
            <a:endParaRPr lang="ru-UA" dirty="0"/>
          </a:p>
        </p:txBody>
      </p:sp>
      <p:sp>
        <p:nvSpPr>
          <p:cNvPr id="9" name="TextBox 8">
            <a:extLst>
              <a:ext uri="{FF2B5EF4-FFF2-40B4-BE49-F238E27FC236}">
                <a16:creationId xmlns:a16="http://schemas.microsoft.com/office/drawing/2014/main" id="{F0F2CA51-B2C2-66D7-174E-BBBF7B3A2832}"/>
              </a:ext>
            </a:extLst>
          </p:cNvPr>
          <p:cNvSpPr txBox="1"/>
          <p:nvPr/>
        </p:nvSpPr>
        <p:spPr>
          <a:xfrm>
            <a:off x="511122" y="8113504"/>
            <a:ext cx="8545997" cy="3139321"/>
          </a:xfrm>
          <a:prstGeom prst="rect">
            <a:avLst/>
          </a:prstGeom>
          <a:noFill/>
        </p:spPr>
        <p:txBody>
          <a:bodyPr wrap="square">
            <a:spAutoFit/>
          </a:bodyPr>
          <a:lstStyle/>
          <a:p>
            <a:pPr marL="285750" indent="-285750">
              <a:buFont typeface="Arial" panose="020B0604020202020204" pitchFamily="34" charset="0"/>
              <a:buChar char="•"/>
            </a:pPr>
            <a:r>
              <a:rPr lang="ru-UA" dirty="0"/>
              <a:t>Плагін безпеки - НЕ єдиний захист сайту, а складова багаторівневої системи безпеки</a:t>
            </a:r>
          </a:p>
          <a:p>
            <a:endParaRPr lang="ru-UA" dirty="0"/>
          </a:p>
          <a:p>
            <a:pPr marL="285750" indent="-285750">
              <a:buFont typeface="Arial" panose="020B0604020202020204" pitchFamily="34" charset="0"/>
              <a:buChar char="•"/>
            </a:pPr>
            <a:r>
              <a:rPr lang="ru-UA" dirty="0"/>
              <a:t>Поєднувати з: регулярними оновленнями ядра і плагінів, CDN з WAF, резервним копіюванням, моніторингом логів</a:t>
            </a:r>
          </a:p>
          <a:p>
            <a:endParaRPr lang="ru-UA" dirty="0"/>
          </a:p>
          <a:p>
            <a:pPr marL="285750" indent="-285750">
              <a:buFont typeface="Arial" panose="020B0604020202020204" pitchFamily="34" charset="0"/>
              <a:buChar char="•"/>
            </a:pPr>
            <a:r>
              <a:rPr lang="ru-UA" dirty="0"/>
              <a:t>Не використовувати декілька плагінів безпеки одночасно — це призводить до конфліктів та зниження продуктивності</a:t>
            </a:r>
          </a:p>
          <a:p>
            <a:endParaRPr lang="ru-UA" dirty="0"/>
          </a:p>
          <a:p>
            <a:pPr marL="285750" indent="-285750">
              <a:buFont typeface="Arial" panose="020B0604020202020204" pitchFamily="34" charset="0"/>
              <a:buChar char="•"/>
            </a:pPr>
            <a:r>
              <a:rPr lang="ru-UA" dirty="0"/>
              <a:t>Періодично переглядати ефективність обраного інструменту (бази вразливостей постійно оновлюються)</a:t>
            </a:r>
          </a:p>
        </p:txBody>
      </p:sp>
    </p:spTree>
    <p:extLst>
      <p:ext uri="{BB962C8B-B14F-4D97-AF65-F5344CB8AC3E}">
        <p14:creationId xmlns:p14="http://schemas.microsoft.com/office/powerpoint/2010/main" val="4081245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3C38C329-05C1-44E0-942C-D7A60A7F2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381B148-DE47-4090-9E4B-6067B0405D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solidFill>
            <a:schemeClr val="accent6">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A40E99DB-69B1-42D9-9A2E-A196302E0C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28" name="Rectangle 27">
            <a:extLst>
              <a:ext uri="{FF2B5EF4-FFF2-40B4-BE49-F238E27FC236}">
                <a16:creationId xmlns:a16="http://schemas.microsoft.com/office/drawing/2014/main" id="{27A1367E-049C-45E5-9C32-CC32DCEA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6976244"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0" name="Rectangle 29">
            <a:extLst>
              <a:ext uri="{FF2B5EF4-FFF2-40B4-BE49-F238E27FC236}">
                <a16:creationId xmlns:a16="http://schemas.microsoft.com/office/drawing/2014/main" id="{DA98F3A3-687B-4002-93F2-58E8590D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TextBox 31">
            <a:extLst>
              <a:ext uri="{FF2B5EF4-FFF2-40B4-BE49-F238E27FC236}">
                <a16:creationId xmlns:a16="http://schemas.microsoft.com/office/drawing/2014/main" id="{DA332DFF-5C76-4E16-8CF9-99C316004AB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4053" y="2105202"/>
            <a:ext cx="637306" cy="461665"/>
          </a:xfrm>
          <a:prstGeom prst="rect">
            <a:avLst/>
          </a:prstGeom>
          <a:noFill/>
        </p:spPr>
        <p:txBody>
          <a:bodyPr wrap="square" rtlCol="0">
            <a:spAutoFit/>
          </a:bodyPr>
          <a:lstStyle/>
          <a:p>
            <a:pPr algn="r"/>
            <a:endParaRPr lang="en-US" sz="2400" dirty="0">
              <a:latin typeface="MS Shell Dlg 2" panose="020B0604030504040204" pitchFamily="34" charset="0"/>
            </a:endParaRPr>
          </a:p>
        </p:txBody>
      </p:sp>
      <p:sp>
        <p:nvSpPr>
          <p:cNvPr id="34" name="TextBox 33">
            <a:extLst>
              <a:ext uri="{FF2B5EF4-FFF2-40B4-BE49-F238E27FC236}">
                <a16:creationId xmlns:a16="http://schemas.microsoft.com/office/drawing/2014/main" id="{CE8DDCB6-CB7F-4357-B284-774DFD05F75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51511" y="2118596"/>
            <a:ext cx="637306" cy="461665"/>
          </a:xfrm>
          <a:prstGeom prst="rect">
            <a:avLst/>
          </a:prstGeom>
          <a:noFill/>
        </p:spPr>
        <p:txBody>
          <a:bodyPr wrap="square" rtlCol="0">
            <a:spAutoFit/>
          </a:bodyPr>
          <a:lstStyle/>
          <a:p>
            <a:pPr algn="r"/>
            <a:endParaRPr lang="en-US" sz="2400" dirty="0">
              <a:latin typeface="MS Shell Dlg 2" panose="020B0604030504040204" pitchFamily="34" charset="0"/>
            </a:endParaRPr>
          </a:p>
        </p:txBody>
      </p:sp>
      <p:sp>
        <p:nvSpPr>
          <p:cNvPr id="2" name="Title 1"/>
          <p:cNvSpPr>
            <a:spLocks noGrp="1"/>
          </p:cNvSpPr>
          <p:nvPr>
            <p:ph type="title"/>
          </p:nvPr>
        </p:nvSpPr>
        <p:spPr>
          <a:xfrm>
            <a:off x="786908" y="593837"/>
            <a:ext cx="6883918" cy="369332"/>
          </a:xfrm>
        </p:spPr>
        <p:txBody>
          <a:bodyPr vert="horz" lIns="91440" tIns="45720" rIns="91440" bIns="45720" rtlCol="0" anchor="t">
            <a:noAutofit/>
          </a:bodyPr>
          <a:lstStyle/>
          <a:p>
            <a:pPr algn="l"/>
            <a:r>
              <a:rPr lang="ru-RU" dirty="0" err="1"/>
              <a:t>Ефекти</a:t>
            </a:r>
            <a:r>
              <a:rPr lang="ru-RU" dirty="0"/>
              <a:t> </a:t>
            </a:r>
            <a:r>
              <a:rPr lang="ru-RU" dirty="0" err="1"/>
              <a:t>від</a:t>
            </a:r>
            <a:r>
              <a:rPr lang="ru-RU" dirty="0"/>
              <a:t> </a:t>
            </a:r>
            <a:r>
              <a:rPr lang="ru-RU" dirty="0" err="1"/>
              <a:t>дослідження</a:t>
            </a:r>
            <a:endParaRPr lang="ru-RU" dirty="0"/>
          </a:p>
        </p:txBody>
      </p:sp>
      <p:sp>
        <p:nvSpPr>
          <p:cNvPr id="3" name="TextBox 2"/>
          <p:cNvSpPr txBox="1"/>
          <p:nvPr/>
        </p:nvSpPr>
        <p:spPr>
          <a:xfrm>
            <a:off x="786617" y="1209302"/>
            <a:ext cx="6626157" cy="711234"/>
          </a:xfrm>
          <a:prstGeom prst="rect">
            <a:avLst/>
          </a:prstGeom>
        </p:spPr>
        <p:txBody>
          <a:bodyPr vert="horz" lIns="91440" tIns="45720" rIns="91440" bIns="45720" rtlCol="0" anchor="t">
            <a:noAutofit/>
          </a:bodyPr>
          <a:lstStyle/>
          <a:p>
            <a:pPr algn="just" defTabSz="914400">
              <a:lnSpc>
                <a:spcPct val="120000"/>
              </a:lnSpc>
              <a:spcBef>
                <a:spcPts val="500"/>
              </a:spcBef>
              <a:spcAft>
                <a:spcPts val="600"/>
              </a:spcAft>
              <a:buClr>
                <a:schemeClr val="accent6"/>
              </a:buClr>
              <a:buSzPct val="90000"/>
              <a:defRPr sz="1800"/>
            </a:pPr>
            <a:r>
              <a:rPr lang="ru-RU" dirty="0" err="1"/>
              <a:t>Практичну</a:t>
            </a:r>
            <a:r>
              <a:rPr lang="ru-RU" dirty="0"/>
              <a:t> </a:t>
            </a:r>
            <a:r>
              <a:rPr lang="ru-RU" dirty="0" err="1"/>
              <a:t>цінність</a:t>
            </a:r>
            <a:r>
              <a:rPr lang="ru-RU" dirty="0"/>
              <a:t> </a:t>
            </a:r>
            <a:r>
              <a:rPr lang="ru-RU" dirty="0" err="1"/>
              <a:t>дослідження</a:t>
            </a:r>
            <a:r>
              <a:rPr lang="ru-RU" dirty="0"/>
              <a:t> </a:t>
            </a:r>
            <a:r>
              <a:rPr lang="ru-RU" dirty="0" err="1"/>
              <a:t>визначають</a:t>
            </a:r>
            <a:r>
              <a:rPr lang="ru-RU" dirty="0"/>
              <a:t> три </a:t>
            </a:r>
            <a:r>
              <a:rPr lang="ru-RU" dirty="0" err="1"/>
              <a:t>ключових</a:t>
            </a:r>
            <a:r>
              <a:rPr lang="ru-RU" dirty="0"/>
              <a:t> типи </a:t>
            </a:r>
            <a:r>
              <a:rPr lang="ru-RU" dirty="0" err="1"/>
              <a:t>ефектів</a:t>
            </a:r>
            <a:r>
              <a:rPr lang="ru-RU" dirty="0"/>
              <a:t>:</a:t>
            </a:r>
            <a:endParaRPr lang="en-US" dirty="0"/>
          </a:p>
        </p:txBody>
      </p:sp>
      <p:sp>
        <p:nvSpPr>
          <p:cNvPr id="36" name="Rectangle 35">
            <a:extLst>
              <a:ext uri="{FF2B5EF4-FFF2-40B4-BE49-F238E27FC236}">
                <a16:creationId xmlns:a16="http://schemas.microsoft.com/office/drawing/2014/main" id="{7E1CAA8C-D8F1-4D3B-87B4-4B17F3E28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803" y="0"/>
            <a:ext cx="20574" cy="6858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5" name="Номер слайда 4">
            <a:extLst>
              <a:ext uri="{FF2B5EF4-FFF2-40B4-BE49-F238E27FC236}">
                <a16:creationId xmlns:a16="http://schemas.microsoft.com/office/drawing/2014/main" id="{B06A08FE-E35A-D06D-FCF1-02AE30227791}"/>
              </a:ext>
            </a:extLst>
          </p:cNvPr>
          <p:cNvSpPr>
            <a:spLocks noGrp="1"/>
          </p:cNvSpPr>
          <p:nvPr>
            <p:ph type="sldNum" sz="quarter" idx="12"/>
          </p:nvPr>
        </p:nvSpPr>
        <p:spPr/>
        <p:txBody>
          <a:bodyPr/>
          <a:lstStyle/>
          <a:p>
            <a:fld id="{C1FF6DA9-008F-8B48-92A6-B652298478BF}" type="slidenum">
              <a:rPr lang="en-US" smtClean="0"/>
              <a:t>29</a:t>
            </a:fld>
            <a:endParaRPr lang="en-US" dirty="0"/>
          </a:p>
        </p:txBody>
      </p:sp>
      <p:sp>
        <p:nvSpPr>
          <p:cNvPr id="7" name="TextBox 6">
            <a:extLst>
              <a:ext uri="{FF2B5EF4-FFF2-40B4-BE49-F238E27FC236}">
                <a16:creationId xmlns:a16="http://schemas.microsoft.com/office/drawing/2014/main" id="{606C0F88-73B6-0B5F-DD49-8BFE574E0656}"/>
              </a:ext>
            </a:extLst>
          </p:cNvPr>
          <p:cNvSpPr txBox="1"/>
          <p:nvPr/>
        </p:nvSpPr>
        <p:spPr>
          <a:xfrm>
            <a:off x="784233" y="2408989"/>
            <a:ext cx="4572000" cy="369332"/>
          </a:xfrm>
          <a:prstGeom prst="rect">
            <a:avLst/>
          </a:prstGeom>
          <a:noFill/>
        </p:spPr>
        <p:txBody>
          <a:bodyPr wrap="square">
            <a:spAutoFit/>
          </a:bodyPr>
          <a:lstStyle/>
          <a:p>
            <a:r>
              <a:rPr lang="ru-RU" b="1" dirty="0" err="1">
                <a:solidFill>
                  <a:schemeClr val="accent6"/>
                </a:solidFill>
              </a:rPr>
              <a:t>Технічний</a:t>
            </a:r>
            <a:r>
              <a:rPr lang="ru-RU" b="1" dirty="0">
                <a:solidFill>
                  <a:schemeClr val="accent6"/>
                </a:solidFill>
              </a:rPr>
              <a:t> </a:t>
            </a:r>
            <a:r>
              <a:rPr lang="ru-RU" b="1" dirty="0" err="1">
                <a:solidFill>
                  <a:schemeClr val="accent6"/>
                </a:solidFill>
              </a:rPr>
              <a:t>ефект</a:t>
            </a:r>
            <a:endParaRPr lang="ru-UA" b="1" dirty="0">
              <a:solidFill>
                <a:schemeClr val="accent6"/>
              </a:solidFill>
            </a:endParaRPr>
          </a:p>
        </p:txBody>
      </p:sp>
      <p:sp>
        <p:nvSpPr>
          <p:cNvPr id="15" name="TextBox 14">
            <a:extLst>
              <a:ext uri="{FF2B5EF4-FFF2-40B4-BE49-F238E27FC236}">
                <a16:creationId xmlns:a16="http://schemas.microsoft.com/office/drawing/2014/main" id="{1D6976D1-CA39-3DA7-5640-5AB4B48D9C9B}"/>
              </a:ext>
            </a:extLst>
          </p:cNvPr>
          <p:cNvSpPr txBox="1"/>
          <p:nvPr/>
        </p:nvSpPr>
        <p:spPr>
          <a:xfrm>
            <a:off x="772882" y="3013333"/>
            <a:ext cx="3197983" cy="1384995"/>
          </a:xfrm>
          <a:prstGeom prst="rect">
            <a:avLst/>
          </a:prstGeom>
          <a:noFill/>
        </p:spPr>
        <p:txBody>
          <a:bodyPr wrap="square">
            <a:spAutoFit/>
          </a:bodyPr>
          <a:lstStyle/>
          <a:p>
            <a:pPr marL="285750" indent="-285750">
              <a:buFontTx/>
              <a:buChar char="-"/>
            </a:pPr>
            <a:r>
              <a:rPr lang="ru-RU" sz="1400" dirty="0" err="1"/>
              <a:t>Вищий</a:t>
            </a:r>
            <a:r>
              <a:rPr lang="ru-RU" sz="1400" dirty="0"/>
              <a:t> </a:t>
            </a:r>
            <a:r>
              <a:rPr lang="en" sz="1400" dirty="0"/>
              <a:t>Recall </a:t>
            </a:r>
            <a:r>
              <a:rPr lang="ru-RU" sz="1400" dirty="0" err="1"/>
              <a:t>детекції</a:t>
            </a:r>
            <a:r>
              <a:rPr lang="ru-RU" sz="1400" dirty="0"/>
              <a:t> </a:t>
            </a:r>
            <a:r>
              <a:rPr lang="ru-RU" sz="1400" dirty="0" err="1"/>
              <a:t>загроз</a:t>
            </a:r>
            <a:r>
              <a:rPr lang="ru-RU" sz="1400" dirty="0"/>
              <a:t> </a:t>
            </a:r>
          </a:p>
          <a:p>
            <a:pPr marL="285750" indent="-285750">
              <a:buFontTx/>
              <a:buChar char="-"/>
            </a:pPr>
            <a:r>
              <a:rPr lang="ru-RU" sz="1400" dirty="0" err="1"/>
              <a:t>Скорочений</a:t>
            </a:r>
            <a:r>
              <a:rPr lang="ru-RU" sz="1400" dirty="0"/>
              <a:t> час </a:t>
            </a:r>
            <a:r>
              <a:rPr lang="ru-RU" sz="1400" dirty="0" err="1"/>
              <a:t>реакції</a:t>
            </a:r>
            <a:r>
              <a:rPr lang="ru-RU" sz="1400" dirty="0"/>
              <a:t> на </a:t>
            </a:r>
            <a:r>
              <a:rPr lang="ru-RU" sz="1400" dirty="0" err="1"/>
              <a:t>інциденти</a:t>
            </a:r>
            <a:r>
              <a:rPr lang="ru-RU" sz="1400" dirty="0"/>
              <a:t> </a:t>
            </a:r>
          </a:p>
          <a:p>
            <a:pPr marL="285750" indent="-285750">
              <a:buFontTx/>
              <a:buChar char="-"/>
            </a:pPr>
            <a:r>
              <a:rPr lang="ru-RU" sz="1400" dirty="0" err="1"/>
              <a:t>Менше</a:t>
            </a:r>
            <a:r>
              <a:rPr lang="ru-RU" sz="1400" dirty="0"/>
              <a:t> </a:t>
            </a:r>
            <a:r>
              <a:rPr lang="ru-RU" sz="1400" dirty="0" err="1"/>
              <a:t>пропущених</a:t>
            </a:r>
            <a:r>
              <a:rPr lang="ru-RU" sz="1400" dirty="0"/>
              <a:t> </a:t>
            </a:r>
            <a:r>
              <a:rPr lang="ru-RU" sz="1400" dirty="0" err="1"/>
              <a:t>загроз</a:t>
            </a:r>
            <a:r>
              <a:rPr lang="ru-RU" sz="1400" dirty="0"/>
              <a:t> (</a:t>
            </a:r>
            <a:r>
              <a:rPr lang="en" sz="1400" dirty="0"/>
              <a:t>FN) </a:t>
            </a:r>
            <a:endParaRPr lang="uk-UA" sz="1400" dirty="0"/>
          </a:p>
          <a:p>
            <a:pPr marL="285750" indent="-285750">
              <a:buFontTx/>
              <a:buChar char="-"/>
            </a:pPr>
            <a:r>
              <a:rPr lang="ru-RU" sz="1400" dirty="0" err="1"/>
              <a:t>Обґрунтований</a:t>
            </a:r>
            <a:r>
              <a:rPr lang="ru-RU" sz="1400" dirty="0"/>
              <a:t> </a:t>
            </a:r>
            <a:r>
              <a:rPr lang="ru-RU" sz="1400" dirty="0" err="1"/>
              <a:t>вибір</a:t>
            </a:r>
            <a:r>
              <a:rPr lang="ru-RU" sz="1400" dirty="0"/>
              <a:t> </a:t>
            </a:r>
            <a:r>
              <a:rPr lang="ru-RU" sz="1400" dirty="0" err="1"/>
              <a:t>плагіна</a:t>
            </a:r>
            <a:r>
              <a:rPr lang="ru-RU" sz="1400" dirty="0"/>
              <a:t> на </a:t>
            </a:r>
            <a:r>
              <a:rPr lang="ru-RU" sz="1400" dirty="0" err="1"/>
              <a:t>основі</a:t>
            </a:r>
            <a:r>
              <a:rPr lang="ru-RU" sz="1400" dirty="0"/>
              <a:t> </a:t>
            </a:r>
            <a:r>
              <a:rPr lang="ru-RU" sz="1400" dirty="0" err="1"/>
              <a:t>об'єктивних</a:t>
            </a:r>
            <a:r>
              <a:rPr lang="ru-RU" sz="1400" dirty="0"/>
              <a:t> метрик</a:t>
            </a:r>
            <a:endParaRPr lang="ru-UA" sz="1400" dirty="0"/>
          </a:p>
        </p:txBody>
      </p:sp>
      <p:sp>
        <p:nvSpPr>
          <p:cNvPr id="19" name="TextBox 18">
            <a:extLst>
              <a:ext uri="{FF2B5EF4-FFF2-40B4-BE49-F238E27FC236}">
                <a16:creationId xmlns:a16="http://schemas.microsoft.com/office/drawing/2014/main" id="{13AC0A30-7816-296F-8352-BA57E0E7490F}"/>
              </a:ext>
            </a:extLst>
          </p:cNvPr>
          <p:cNvSpPr txBox="1"/>
          <p:nvPr/>
        </p:nvSpPr>
        <p:spPr>
          <a:xfrm>
            <a:off x="3970865" y="2382043"/>
            <a:ext cx="4572000" cy="369332"/>
          </a:xfrm>
          <a:prstGeom prst="rect">
            <a:avLst/>
          </a:prstGeom>
          <a:noFill/>
        </p:spPr>
        <p:txBody>
          <a:bodyPr wrap="square">
            <a:spAutoFit/>
          </a:bodyPr>
          <a:lstStyle/>
          <a:p>
            <a:r>
              <a:rPr lang="ru-RU" b="1" dirty="0" err="1">
                <a:solidFill>
                  <a:schemeClr val="accent6"/>
                </a:solidFill>
              </a:rPr>
              <a:t>Фінансовий</a:t>
            </a:r>
            <a:r>
              <a:rPr lang="ru-RU" b="1" dirty="0">
                <a:solidFill>
                  <a:schemeClr val="accent6"/>
                </a:solidFill>
              </a:rPr>
              <a:t> </a:t>
            </a:r>
            <a:r>
              <a:rPr lang="ru-RU" b="1" dirty="0" err="1">
                <a:solidFill>
                  <a:schemeClr val="accent6"/>
                </a:solidFill>
              </a:rPr>
              <a:t>ефект</a:t>
            </a:r>
            <a:endParaRPr lang="ru-UA" b="1" dirty="0">
              <a:solidFill>
                <a:schemeClr val="accent6"/>
              </a:solidFill>
            </a:endParaRPr>
          </a:p>
        </p:txBody>
      </p:sp>
      <p:sp>
        <p:nvSpPr>
          <p:cNvPr id="23" name="TextBox 22">
            <a:extLst>
              <a:ext uri="{FF2B5EF4-FFF2-40B4-BE49-F238E27FC236}">
                <a16:creationId xmlns:a16="http://schemas.microsoft.com/office/drawing/2014/main" id="{46B1A981-2680-21ED-ACE7-192B015CB01E}"/>
              </a:ext>
            </a:extLst>
          </p:cNvPr>
          <p:cNvSpPr txBox="1"/>
          <p:nvPr/>
        </p:nvSpPr>
        <p:spPr>
          <a:xfrm>
            <a:off x="3959683" y="3013333"/>
            <a:ext cx="3792820" cy="1600438"/>
          </a:xfrm>
          <a:prstGeom prst="rect">
            <a:avLst/>
          </a:prstGeom>
          <a:noFill/>
        </p:spPr>
        <p:txBody>
          <a:bodyPr wrap="square">
            <a:spAutoFit/>
          </a:bodyPr>
          <a:lstStyle/>
          <a:p>
            <a:pPr marL="285750" indent="-285750">
              <a:buFontTx/>
              <a:buChar char="-"/>
            </a:pPr>
            <a:r>
              <a:rPr lang="ru-RU" sz="1400" dirty="0" err="1"/>
              <a:t>Обґрунтований</a:t>
            </a:r>
            <a:r>
              <a:rPr lang="ru-RU" sz="1400" dirty="0"/>
              <a:t> </a:t>
            </a:r>
            <a:r>
              <a:rPr lang="ru-RU" sz="1400" dirty="0" err="1"/>
              <a:t>вибір</a:t>
            </a:r>
            <a:r>
              <a:rPr lang="ru-RU" sz="1400" dirty="0"/>
              <a:t> </a:t>
            </a:r>
            <a:r>
              <a:rPr lang="en" sz="1400" dirty="0"/>
              <a:t>Free vs Premium </a:t>
            </a:r>
            <a:r>
              <a:rPr lang="ru-RU" sz="1400" dirty="0" err="1"/>
              <a:t>замість</a:t>
            </a:r>
            <a:r>
              <a:rPr lang="ru-RU" sz="1400" dirty="0"/>
              <a:t> </a:t>
            </a:r>
            <a:r>
              <a:rPr lang="ru-RU" sz="1400" dirty="0" err="1"/>
              <a:t>сліпої</a:t>
            </a:r>
            <a:r>
              <a:rPr lang="ru-RU" sz="1400" dirty="0"/>
              <a:t> оплати за </a:t>
            </a:r>
            <a:r>
              <a:rPr lang="ru-RU" sz="1400" dirty="0" err="1"/>
              <a:t>замовчуванням</a:t>
            </a:r>
            <a:r>
              <a:rPr lang="ru-RU" sz="1400" dirty="0"/>
              <a:t> </a:t>
            </a:r>
          </a:p>
          <a:p>
            <a:pPr marL="285750" indent="-285750">
              <a:buFontTx/>
              <a:buChar char="-"/>
            </a:pPr>
            <a:r>
              <a:rPr lang="ru-RU" sz="1400" dirty="0" err="1"/>
              <a:t>Зниження</a:t>
            </a:r>
            <a:r>
              <a:rPr lang="ru-RU" sz="1400" dirty="0"/>
              <a:t> </a:t>
            </a:r>
            <a:r>
              <a:rPr lang="ru-RU" sz="1400" dirty="0" err="1"/>
              <a:t>вартості</a:t>
            </a:r>
            <a:r>
              <a:rPr lang="ru-RU" sz="1400" dirty="0"/>
              <a:t> </a:t>
            </a:r>
            <a:r>
              <a:rPr lang="ru-RU" sz="1400" dirty="0" err="1"/>
              <a:t>послуг</a:t>
            </a:r>
            <a:r>
              <a:rPr lang="ru-RU" sz="1400" dirty="0"/>
              <a:t> </a:t>
            </a:r>
            <a:r>
              <a:rPr lang="ru-RU" sz="1400" dirty="0" err="1"/>
              <a:t>безпеки</a:t>
            </a:r>
            <a:r>
              <a:rPr lang="ru-RU" sz="1400" dirty="0"/>
              <a:t> </a:t>
            </a:r>
          </a:p>
          <a:p>
            <a:pPr marL="285750" indent="-285750">
              <a:buFontTx/>
              <a:buChar char="-"/>
            </a:pPr>
            <a:r>
              <a:rPr lang="ru-RU" sz="1400" dirty="0" err="1"/>
              <a:t>Економія</a:t>
            </a:r>
            <a:r>
              <a:rPr lang="ru-RU" sz="1400" dirty="0"/>
              <a:t> бюджету для </a:t>
            </a:r>
            <a:r>
              <a:rPr lang="ru-RU" sz="1400" dirty="0" err="1"/>
              <a:t>агенцій</a:t>
            </a:r>
            <a:r>
              <a:rPr lang="ru-RU" sz="1400" dirty="0"/>
              <a:t> та </a:t>
            </a:r>
            <a:r>
              <a:rPr lang="ru-RU" sz="1400" dirty="0" err="1"/>
              <a:t>тімлідів</a:t>
            </a:r>
            <a:endParaRPr lang="ru-RU" sz="1400" dirty="0"/>
          </a:p>
          <a:p>
            <a:pPr marL="285750" indent="-285750">
              <a:buFontTx/>
              <a:buChar char="-"/>
            </a:pPr>
            <a:r>
              <a:rPr lang="en" sz="1400" dirty="0"/>
              <a:t>Free-</a:t>
            </a:r>
            <a:r>
              <a:rPr lang="ru-RU" sz="1400" dirty="0" err="1"/>
              <a:t>плагін</a:t>
            </a:r>
            <a:r>
              <a:rPr lang="ru-RU" sz="1400" dirty="0"/>
              <a:t> там, де </a:t>
            </a:r>
            <a:r>
              <a:rPr lang="ru-RU" sz="1400" dirty="0" err="1"/>
              <a:t>він</a:t>
            </a:r>
            <a:r>
              <a:rPr lang="ru-RU" sz="1400" dirty="0"/>
              <a:t> </a:t>
            </a:r>
            <a:r>
              <a:rPr lang="ru-RU" sz="1400" dirty="0" err="1"/>
              <a:t>достатній</a:t>
            </a:r>
            <a:r>
              <a:rPr lang="ru-RU" sz="1400" dirty="0"/>
              <a:t> - без переплати за </a:t>
            </a:r>
            <a:r>
              <a:rPr lang="ru-RU" sz="1400" dirty="0" err="1"/>
              <a:t>преміум</a:t>
            </a:r>
            <a:endParaRPr lang="ru-UA" sz="1400" dirty="0"/>
          </a:p>
        </p:txBody>
      </p:sp>
      <p:sp>
        <p:nvSpPr>
          <p:cNvPr id="27" name="TextBox 26">
            <a:extLst>
              <a:ext uri="{FF2B5EF4-FFF2-40B4-BE49-F238E27FC236}">
                <a16:creationId xmlns:a16="http://schemas.microsoft.com/office/drawing/2014/main" id="{A72EA4AA-F7EF-BB0A-A18D-B42AAEDCA220}"/>
              </a:ext>
            </a:extLst>
          </p:cNvPr>
          <p:cNvSpPr txBox="1"/>
          <p:nvPr/>
        </p:nvSpPr>
        <p:spPr>
          <a:xfrm>
            <a:off x="713556" y="4870129"/>
            <a:ext cx="4707730" cy="369332"/>
          </a:xfrm>
          <a:prstGeom prst="rect">
            <a:avLst/>
          </a:prstGeom>
          <a:noFill/>
        </p:spPr>
        <p:txBody>
          <a:bodyPr wrap="square">
            <a:spAutoFit/>
          </a:bodyPr>
          <a:lstStyle/>
          <a:p>
            <a:r>
              <a:rPr lang="ru-RU" b="1" dirty="0" err="1">
                <a:solidFill>
                  <a:schemeClr val="accent6"/>
                </a:solidFill>
              </a:rPr>
              <a:t>Управління</a:t>
            </a:r>
            <a:r>
              <a:rPr lang="ru-RU" b="1" dirty="0">
                <a:solidFill>
                  <a:schemeClr val="accent6"/>
                </a:solidFill>
              </a:rPr>
              <a:t> </a:t>
            </a:r>
            <a:r>
              <a:rPr lang="ru-RU" b="1" dirty="0" err="1">
                <a:solidFill>
                  <a:schemeClr val="accent6"/>
                </a:solidFill>
              </a:rPr>
              <a:t>ризиками</a:t>
            </a:r>
            <a:endParaRPr lang="ru-UA" b="1" dirty="0">
              <a:solidFill>
                <a:schemeClr val="accent6"/>
              </a:solidFill>
            </a:endParaRPr>
          </a:p>
        </p:txBody>
      </p:sp>
      <p:sp>
        <p:nvSpPr>
          <p:cNvPr id="31" name="TextBox 30">
            <a:extLst>
              <a:ext uri="{FF2B5EF4-FFF2-40B4-BE49-F238E27FC236}">
                <a16:creationId xmlns:a16="http://schemas.microsoft.com/office/drawing/2014/main" id="{1C3A397F-86EF-810C-4CD1-31FEE93EADE7}"/>
              </a:ext>
            </a:extLst>
          </p:cNvPr>
          <p:cNvSpPr txBox="1"/>
          <p:nvPr/>
        </p:nvSpPr>
        <p:spPr>
          <a:xfrm>
            <a:off x="738675" y="5419258"/>
            <a:ext cx="6670495" cy="954107"/>
          </a:xfrm>
          <a:prstGeom prst="rect">
            <a:avLst/>
          </a:prstGeom>
          <a:noFill/>
        </p:spPr>
        <p:txBody>
          <a:bodyPr wrap="square">
            <a:spAutoFit/>
          </a:bodyPr>
          <a:lstStyle/>
          <a:p>
            <a:pPr marL="285750" indent="-285750">
              <a:buFontTx/>
              <a:buChar char="-"/>
            </a:pPr>
            <a:r>
              <a:rPr lang="ru-RU" sz="1400" dirty="0" err="1"/>
              <a:t>Нівелювання</a:t>
            </a:r>
            <a:r>
              <a:rPr lang="ru-RU" sz="1400" dirty="0"/>
              <a:t> </a:t>
            </a:r>
            <a:r>
              <a:rPr lang="ru-RU" sz="1400" dirty="0" err="1"/>
              <a:t>ризику</a:t>
            </a:r>
            <a:r>
              <a:rPr lang="ru-RU" sz="1400" dirty="0"/>
              <a:t> пропуску </a:t>
            </a:r>
            <a:r>
              <a:rPr lang="ru-RU" sz="1400" dirty="0" err="1"/>
              <a:t>загроз</a:t>
            </a:r>
            <a:r>
              <a:rPr lang="ru-RU" sz="1400" dirty="0"/>
              <a:t> </a:t>
            </a:r>
            <a:r>
              <a:rPr lang="ru-RU" sz="1400" dirty="0" err="1"/>
              <a:t>замість</a:t>
            </a:r>
            <a:r>
              <a:rPr lang="ru-RU" sz="1400" dirty="0"/>
              <a:t> «</a:t>
            </a:r>
            <a:r>
              <a:rPr lang="ru-RU" sz="1400" dirty="0" err="1"/>
              <a:t>приймаємо</a:t>
            </a:r>
            <a:r>
              <a:rPr lang="ru-RU" sz="1400" dirty="0"/>
              <a:t> і платимо»</a:t>
            </a:r>
          </a:p>
          <a:p>
            <a:pPr marL="285750" indent="-285750">
              <a:buFontTx/>
              <a:buChar char="-"/>
            </a:pPr>
            <a:r>
              <a:rPr lang="ru-RU" sz="1400" dirty="0" err="1"/>
              <a:t>Зменшення</a:t>
            </a:r>
            <a:r>
              <a:rPr lang="ru-RU" sz="1400" dirty="0"/>
              <a:t> </a:t>
            </a:r>
            <a:r>
              <a:rPr lang="ru-RU" sz="1400" dirty="0" err="1"/>
              <a:t>витрат</a:t>
            </a:r>
            <a:r>
              <a:rPr lang="ru-RU" sz="1400" dirty="0"/>
              <a:t> на: </a:t>
            </a:r>
            <a:r>
              <a:rPr lang="ru-RU" sz="1400" dirty="0" err="1"/>
              <a:t>судові</a:t>
            </a:r>
            <a:r>
              <a:rPr lang="ru-RU" sz="1400" dirty="0"/>
              <a:t> </a:t>
            </a:r>
            <a:r>
              <a:rPr lang="ru-RU" sz="1400" dirty="0" err="1"/>
              <a:t>виплати</a:t>
            </a:r>
            <a:r>
              <a:rPr lang="ru-RU" sz="1400" dirty="0"/>
              <a:t> за </a:t>
            </a:r>
            <a:r>
              <a:rPr lang="ru-RU" sz="1400" dirty="0" err="1"/>
              <a:t>витоки</a:t>
            </a:r>
            <a:r>
              <a:rPr lang="ru-RU" sz="1400" dirty="0"/>
              <a:t> </a:t>
            </a:r>
            <a:r>
              <a:rPr lang="ru-RU" sz="1400" dirty="0" err="1"/>
              <a:t>даних</a:t>
            </a:r>
            <a:r>
              <a:rPr lang="ru-RU" sz="1400" dirty="0"/>
              <a:t>, </a:t>
            </a:r>
            <a:r>
              <a:rPr lang="ru-RU" sz="1400" dirty="0" err="1"/>
              <a:t>штрафи</a:t>
            </a:r>
            <a:r>
              <a:rPr lang="ru-RU" sz="1400" dirty="0"/>
              <a:t> </a:t>
            </a:r>
            <a:r>
              <a:rPr lang="en" sz="1400" dirty="0"/>
              <a:t>GDPR / </a:t>
            </a:r>
            <a:r>
              <a:rPr lang="ru-RU" sz="1400" dirty="0" err="1"/>
              <a:t>законодавство</a:t>
            </a:r>
            <a:r>
              <a:rPr lang="ru-RU" sz="1400" dirty="0"/>
              <a:t>, </a:t>
            </a:r>
            <a:r>
              <a:rPr lang="ru-RU" sz="1400" dirty="0" err="1"/>
              <a:t>відновлення</a:t>
            </a:r>
            <a:r>
              <a:rPr lang="ru-RU" sz="1400" dirty="0"/>
              <a:t> </a:t>
            </a:r>
            <a:r>
              <a:rPr lang="ru-RU" sz="1400" dirty="0" err="1"/>
              <a:t>репутації</a:t>
            </a:r>
            <a:endParaRPr lang="ru-RU" sz="1400" dirty="0"/>
          </a:p>
          <a:p>
            <a:pPr marL="285750" indent="-285750">
              <a:buFontTx/>
              <a:buChar char="-"/>
            </a:pPr>
            <a:r>
              <a:rPr lang="ru-RU" sz="1400" dirty="0" err="1"/>
              <a:t>Перехід</a:t>
            </a:r>
            <a:r>
              <a:rPr lang="ru-RU" sz="1400" dirty="0"/>
              <a:t> </a:t>
            </a:r>
            <a:r>
              <a:rPr lang="ru-RU" sz="1400" dirty="0" err="1"/>
              <a:t>ризику</a:t>
            </a:r>
            <a:r>
              <a:rPr lang="ru-RU" sz="1400" dirty="0"/>
              <a:t> з </a:t>
            </a:r>
            <a:r>
              <a:rPr lang="ru-RU" sz="1400" dirty="0" err="1"/>
              <a:t>категорії</a:t>
            </a:r>
            <a:r>
              <a:rPr lang="ru-RU" sz="1400" dirty="0"/>
              <a:t> «</a:t>
            </a:r>
            <a:r>
              <a:rPr lang="ru-RU" sz="1400" dirty="0" err="1"/>
              <a:t>приймаємо</a:t>
            </a:r>
            <a:r>
              <a:rPr lang="ru-RU" sz="1400" dirty="0"/>
              <a:t>» → «</a:t>
            </a:r>
            <a:r>
              <a:rPr lang="ru-RU" sz="1400" dirty="0" err="1"/>
              <a:t>нівелюємо</a:t>
            </a:r>
            <a:r>
              <a:rPr lang="ru-RU" sz="1400" dirty="0"/>
              <a:t>»</a:t>
            </a:r>
            <a:endParaRPr lang="ru-UA" sz="1400" dirty="0"/>
          </a:p>
        </p:txBody>
      </p:sp>
    </p:spTree>
    <p:extLst>
      <p:ext uri="{BB962C8B-B14F-4D97-AF65-F5344CB8AC3E}">
        <p14:creationId xmlns:p14="http://schemas.microsoft.com/office/powerpoint/2010/main" val="1644336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lumMod val="5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28" name="Freeform: Shape 27">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30" name="Picture 29">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2" name="Rectangle 31">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590693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6" name="Rectangle 3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8" name="Oval 37">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421698"/>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84118" y="253642"/>
            <a:ext cx="7460945" cy="1077229"/>
          </a:xfrm>
        </p:spPr>
        <p:txBody>
          <a:bodyPr vert="horz" lIns="91440" tIns="45720" rIns="91440" bIns="45720" rtlCol="0" anchor="t">
            <a:normAutofit/>
          </a:bodyPr>
          <a:lstStyle/>
          <a:p>
            <a:pPr algn="l" defTabSz="914400">
              <a:defRPr sz="3400" b="1"/>
            </a:pPr>
            <a:r>
              <a:rPr lang="en-US" sz="3300" dirty="0" err="1"/>
              <a:t>Висновки</a:t>
            </a:r>
            <a:r>
              <a:rPr lang="en-US" sz="3300" dirty="0"/>
              <a:t> </a:t>
            </a:r>
            <a:r>
              <a:rPr lang="en-US" sz="3300" dirty="0" err="1"/>
              <a:t>та</a:t>
            </a:r>
            <a:r>
              <a:rPr lang="en-US" sz="3300" dirty="0"/>
              <a:t> </a:t>
            </a:r>
            <a:r>
              <a:rPr lang="en-US" sz="3300" dirty="0" err="1"/>
              <a:t>перспективи</a:t>
            </a:r>
            <a:r>
              <a:rPr lang="en-US" sz="3300" dirty="0"/>
              <a:t> </a:t>
            </a:r>
            <a:r>
              <a:rPr lang="en-US" sz="3300" dirty="0" err="1"/>
              <a:t>подальших</a:t>
            </a:r>
            <a:r>
              <a:rPr lang="en-US" sz="3300" dirty="0"/>
              <a:t> </a:t>
            </a:r>
            <a:r>
              <a:rPr lang="en-US" sz="3300" dirty="0" err="1"/>
              <a:t>досліджень</a:t>
            </a:r>
            <a:endParaRPr lang="en-US" sz="3300" dirty="0"/>
          </a:p>
        </p:txBody>
      </p:sp>
      <p:sp>
        <p:nvSpPr>
          <p:cNvPr id="3" name="TextBox 2"/>
          <p:cNvSpPr txBox="1"/>
          <p:nvPr/>
        </p:nvSpPr>
        <p:spPr>
          <a:xfrm>
            <a:off x="1291413" y="2030328"/>
            <a:ext cx="7642379" cy="2278913"/>
          </a:xfrm>
          <a:prstGeom prst="rect">
            <a:avLst/>
          </a:prstGeom>
        </p:spPr>
        <p:txBody>
          <a:bodyPr vert="horz" lIns="91440" tIns="45720" rIns="91440" bIns="45720" rtlCol="0" anchor="t">
            <a:normAutofit/>
          </a:bodyPr>
          <a:lstStyle/>
          <a:p>
            <a:pPr algn="just" defTabSz="914400">
              <a:lnSpc>
                <a:spcPct val="120000"/>
              </a:lnSpc>
              <a:spcBef>
                <a:spcPts val="500"/>
              </a:spcBef>
              <a:spcAft>
                <a:spcPts val="600"/>
              </a:spcAft>
              <a:buClr>
                <a:schemeClr val="accent6"/>
              </a:buClr>
              <a:buSzPct val="90000"/>
              <a:defRPr sz="1800"/>
            </a:pPr>
            <a:endParaRPr lang="en-US" sz="1400" dirty="0"/>
          </a:p>
        </p:txBody>
      </p:sp>
      <p:sp>
        <p:nvSpPr>
          <p:cNvPr id="5" name="Номер слайда 4">
            <a:extLst>
              <a:ext uri="{FF2B5EF4-FFF2-40B4-BE49-F238E27FC236}">
                <a16:creationId xmlns:a16="http://schemas.microsoft.com/office/drawing/2014/main" id="{0D9FFFC3-52AE-2AF8-CFF7-435DF5278BD5}"/>
              </a:ext>
            </a:extLst>
          </p:cNvPr>
          <p:cNvSpPr>
            <a:spLocks noGrp="1"/>
          </p:cNvSpPr>
          <p:nvPr>
            <p:ph type="sldNum" sz="quarter" idx="12"/>
          </p:nvPr>
        </p:nvSpPr>
        <p:spPr/>
        <p:txBody>
          <a:bodyPr/>
          <a:lstStyle/>
          <a:p>
            <a:fld id="{C1FF6DA9-008F-8B48-92A6-B652298478BF}" type="slidenum">
              <a:rPr lang="en-US" smtClean="0"/>
              <a:t>30</a:t>
            </a:fld>
            <a:endParaRPr lang="en-US" dirty="0"/>
          </a:p>
        </p:txBody>
      </p:sp>
      <p:sp>
        <p:nvSpPr>
          <p:cNvPr id="6" name="TextBox 5">
            <a:extLst>
              <a:ext uri="{FF2B5EF4-FFF2-40B4-BE49-F238E27FC236}">
                <a16:creationId xmlns:a16="http://schemas.microsoft.com/office/drawing/2014/main" id="{A8ACB114-FFE4-95D9-8546-F0A72A984C3A}"/>
              </a:ext>
            </a:extLst>
          </p:cNvPr>
          <p:cNvSpPr txBox="1"/>
          <p:nvPr/>
        </p:nvSpPr>
        <p:spPr>
          <a:xfrm>
            <a:off x="864230" y="1392573"/>
            <a:ext cx="8167990" cy="5078313"/>
          </a:xfrm>
          <a:prstGeom prst="rect">
            <a:avLst/>
          </a:prstGeom>
          <a:noFill/>
        </p:spPr>
        <p:txBody>
          <a:bodyPr wrap="square">
            <a:spAutoFit/>
          </a:bodyPr>
          <a:lstStyle/>
          <a:p>
            <a:pPr marL="342900" indent="-342900" algn="just">
              <a:buFont typeface="+mj-lt"/>
              <a:buAutoNum type="arabicPeriod"/>
            </a:pPr>
            <a:r>
              <a:rPr lang="ru-RU" dirty="0" err="1"/>
              <a:t>Проаналізовано</a:t>
            </a:r>
            <a:r>
              <a:rPr lang="ru-RU" dirty="0"/>
              <a:t> </a:t>
            </a:r>
            <a:r>
              <a:rPr lang="ru-RU" dirty="0" err="1"/>
              <a:t>предметну</a:t>
            </a:r>
            <a:r>
              <a:rPr lang="ru-RU" dirty="0"/>
              <a:t> </a:t>
            </a:r>
            <a:r>
              <a:rPr lang="ru-RU" dirty="0" err="1"/>
              <a:t>галузь</a:t>
            </a:r>
            <a:r>
              <a:rPr lang="ru-RU" dirty="0"/>
              <a:t> та </a:t>
            </a:r>
            <a:r>
              <a:rPr lang="ru-RU" dirty="0" err="1"/>
              <a:t>ідентифіковано</a:t>
            </a:r>
            <a:r>
              <a:rPr lang="ru-RU" dirty="0"/>
              <a:t> </a:t>
            </a:r>
            <a:r>
              <a:rPr lang="ru-RU" dirty="0" err="1"/>
              <a:t>недоліки</a:t>
            </a:r>
            <a:r>
              <a:rPr lang="ru-RU" dirty="0"/>
              <a:t> </a:t>
            </a:r>
            <a:r>
              <a:rPr lang="ru-RU" dirty="0" err="1"/>
              <a:t>традиційних</a:t>
            </a:r>
            <a:r>
              <a:rPr lang="ru-RU" dirty="0"/>
              <a:t> </a:t>
            </a:r>
            <a:r>
              <a:rPr lang="ru-RU" dirty="0" err="1"/>
              <a:t>підходів</a:t>
            </a:r>
            <a:r>
              <a:rPr lang="ru-RU" dirty="0"/>
              <a:t> до </a:t>
            </a:r>
            <a:r>
              <a:rPr lang="ru-RU" dirty="0" err="1"/>
              <a:t>захисту</a:t>
            </a:r>
            <a:r>
              <a:rPr lang="ru-RU" dirty="0"/>
              <a:t> </a:t>
            </a:r>
            <a:r>
              <a:rPr lang="en" dirty="0"/>
              <a:t>WordPress </a:t>
            </a:r>
            <a:r>
              <a:rPr lang="ru-RU" dirty="0"/>
              <a:t>в </a:t>
            </a:r>
            <a:r>
              <a:rPr lang="ru-RU" dirty="0" err="1"/>
              <a:t>умовах</a:t>
            </a:r>
            <a:r>
              <a:rPr lang="ru-RU" dirty="0"/>
              <a:t> </a:t>
            </a:r>
            <a:r>
              <a:rPr lang="ru-RU" dirty="0" err="1"/>
              <a:t>зростання</a:t>
            </a:r>
            <a:r>
              <a:rPr lang="ru-RU" dirty="0"/>
              <a:t> </a:t>
            </a:r>
            <a:r>
              <a:rPr lang="ru-RU" dirty="0" err="1"/>
              <a:t>інтенсивності</a:t>
            </a:r>
            <a:r>
              <a:rPr lang="ru-RU" dirty="0"/>
              <a:t> </a:t>
            </a:r>
            <a:r>
              <a:rPr lang="ru-RU" dirty="0" err="1"/>
              <a:t>автоматизованих</a:t>
            </a:r>
            <a:r>
              <a:rPr lang="ru-RU" dirty="0"/>
              <a:t> атак </a:t>
            </a:r>
          </a:p>
          <a:p>
            <a:pPr marL="342900" indent="-342900" algn="just">
              <a:buFont typeface="+mj-lt"/>
              <a:buAutoNum type="arabicPeriod"/>
            </a:pPr>
            <a:endParaRPr lang="ru-RU" dirty="0"/>
          </a:p>
          <a:p>
            <a:pPr marL="342900" indent="-342900" algn="just">
              <a:buFont typeface="+mj-lt"/>
              <a:buAutoNum type="arabicPeriod"/>
            </a:pPr>
            <a:r>
              <a:rPr lang="ru-RU" dirty="0" err="1"/>
              <a:t>Виконано</a:t>
            </a:r>
            <a:r>
              <a:rPr lang="ru-RU" dirty="0"/>
              <a:t> </a:t>
            </a:r>
            <a:r>
              <a:rPr lang="ru-RU" dirty="0" err="1"/>
              <a:t>аналіз</a:t>
            </a:r>
            <a:r>
              <a:rPr lang="ru-RU" dirty="0"/>
              <a:t> </a:t>
            </a:r>
            <a:r>
              <a:rPr lang="ru-RU" dirty="0" err="1"/>
              <a:t>наукової</a:t>
            </a:r>
            <a:r>
              <a:rPr lang="ru-RU" dirty="0"/>
              <a:t> </a:t>
            </a:r>
            <a:r>
              <a:rPr lang="ru-RU" dirty="0" err="1"/>
              <a:t>літератури</a:t>
            </a:r>
            <a:r>
              <a:rPr lang="ru-RU" dirty="0"/>
              <a:t> та </a:t>
            </a:r>
            <a:r>
              <a:rPr lang="ru-RU" dirty="0" err="1"/>
              <a:t>існуючих</a:t>
            </a:r>
            <a:r>
              <a:rPr lang="ru-RU" dirty="0"/>
              <a:t> </a:t>
            </a:r>
            <a:r>
              <a:rPr lang="ru-RU" dirty="0" err="1"/>
              <a:t>технологічних</a:t>
            </a:r>
            <a:r>
              <a:rPr lang="ru-RU" dirty="0"/>
              <a:t> </a:t>
            </a:r>
            <a:r>
              <a:rPr lang="ru-RU" dirty="0" err="1"/>
              <a:t>рішень</a:t>
            </a:r>
            <a:r>
              <a:rPr lang="ru-RU" dirty="0"/>
              <a:t>: </a:t>
            </a:r>
            <a:r>
              <a:rPr lang="en" dirty="0"/>
              <a:t>WAF, </a:t>
            </a:r>
            <a:r>
              <a:rPr lang="ru-RU" dirty="0"/>
              <a:t>сигнатурного </a:t>
            </a:r>
            <a:r>
              <a:rPr lang="ru-RU" dirty="0" err="1"/>
              <a:t>аналізу</a:t>
            </a:r>
            <a:r>
              <a:rPr lang="ru-RU" dirty="0"/>
              <a:t>, </a:t>
            </a:r>
            <a:r>
              <a:rPr lang="ru-RU" dirty="0" err="1"/>
              <a:t>фільтрації</a:t>
            </a:r>
            <a:r>
              <a:rPr lang="ru-RU" dirty="0"/>
              <a:t> </a:t>
            </a:r>
            <a:r>
              <a:rPr lang="ru-RU" dirty="0" err="1"/>
              <a:t>трафіку</a:t>
            </a:r>
            <a:r>
              <a:rPr lang="ru-RU" dirty="0"/>
              <a:t> для </a:t>
            </a:r>
            <a:r>
              <a:rPr lang="ru-RU" dirty="0" err="1"/>
              <a:t>модульних</a:t>
            </a:r>
            <a:r>
              <a:rPr lang="ru-RU" dirty="0"/>
              <a:t> веб-структур </a:t>
            </a:r>
          </a:p>
          <a:p>
            <a:pPr marL="342900" indent="-342900" algn="just">
              <a:buFont typeface="+mj-lt"/>
              <a:buAutoNum type="arabicPeriod"/>
            </a:pPr>
            <a:endParaRPr lang="ru-RU" dirty="0"/>
          </a:p>
          <a:p>
            <a:pPr marL="342900" indent="-342900" algn="just">
              <a:buFont typeface="+mj-lt"/>
              <a:buAutoNum type="arabicPeriod"/>
            </a:pPr>
            <a:r>
              <a:rPr lang="ru-RU" dirty="0" err="1"/>
              <a:t>Проаналізовано</a:t>
            </a:r>
            <a:r>
              <a:rPr lang="ru-RU" dirty="0"/>
              <a:t> </a:t>
            </a:r>
            <a:r>
              <a:rPr lang="ru-RU" dirty="0" err="1"/>
              <a:t>типові</a:t>
            </a:r>
            <a:r>
              <a:rPr lang="ru-RU" dirty="0"/>
              <a:t> </a:t>
            </a:r>
            <a:r>
              <a:rPr lang="ru-RU" dirty="0" err="1"/>
              <a:t>загрози</a:t>
            </a:r>
            <a:r>
              <a:rPr lang="ru-RU" dirty="0"/>
              <a:t> для </a:t>
            </a:r>
            <a:r>
              <a:rPr lang="en" dirty="0"/>
              <a:t>WordPress e-commerce </a:t>
            </a:r>
            <a:r>
              <a:rPr lang="ru-RU" dirty="0"/>
              <a:t>та сформовано </a:t>
            </a:r>
            <a:r>
              <a:rPr lang="ru-RU" dirty="0" err="1"/>
              <a:t>репрезентативний</a:t>
            </a:r>
            <a:r>
              <a:rPr lang="ru-RU" dirty="0"/>
              <a:t> </a:t>
            </a:r>
            <a:r>
              <a:rPr lang="ru-RU" dirty="0" err="1"/>
              <a:t>набір</a:t>
            </a:r>
            <a:r>
              <a:rPr lang="ru-RU" dirty="0"/>
              <a:t> з 6 </a:t>
            </a:r>
            <a:r>
              <a:rPr lang="ru-RU" dirty="0" err="1"/>
              <a:t>класів</a:t>
            </a:r>
            <a:r>
              <a:rPr lang="ru-RU" dirty="0"/>
              <a:t> </a:t>
            </a:r>
            <a:r>
              <a:rPr lang="ru-RU" dirty="0" err="1"/>
              <a:t>сценаріїв</a:t>
            </a:r>
            <a:r>
              <a:rPr lang="ru-RU" dirty="0"/>
              <a:t> </a:t>
            </a:r>
            <a:r>
              <a:rPr lang="ru-RU" dirty="0" err="1"/>
              <a:t>тестування</a:t>
            </a:r>
            <a:r>
              <a:rPr lang="ru-RU" dirty="0"/>
              <a:t>: </a:t>
            </a:r>
            <a:r>
              <a:rPr lang="en" dirty="0"/>
              <a:t>XSS, SQLi, RCE, CSRF, Brute Force, EICAR </a:t>
            </a:r>
            <a:endParaRPr lang="uk-UA" dirty="0"/>
          </a:p>
          <a:p>
            <a:pPr marL="342900" indent="-342900" algn="just">
              <a:buFont typeface="+mj-lt"/>
              <a:buAutoNum type="arabicPeriod"/>
            </a:pPr>
            <a:endParaRPr lang="uk-UA" dirty="0"/>
          </a:p>
          <a:p>
            <a:pPr marL="342900" indent="-342900" algn="just">
              <a:buFont typeface="+mj-lt"/>
              <a:buAutoNum type="arabicPeriod"/>
            </a:pPr>
            <a:r>
              <a:rPr lang="ru-RU" dirty="0" err="1"/>
              <a:t>Обрано</a:t>
            </a:r>
            <a:r>
              <a:rPr lang="ru-RU" dirty="0"/>
              <a:t> </a:t>
            </a:r>
            <a:r>
              <a:rPr lang="ru-RU" dirty="0" err="1"/>
              <a:t>множину</a:t>
            </a:r>
            <a:r>
              <a:rPr lang="ru-RU" dirty="0"/>
              <a:t> з 11 </a:t>
            </a:r>
            <a:r>
              <a:rPr lang="ru-RU" dirty="0" err="1"/>
              <a:t>плагінів</a:t>
            </a:r>
            <a:r>
              <a:rPr lang="ru-RU" dirty="0"/>
              <a:t> </a:t>
            </a:r>
            <a:r>
              <a:rPr lang="ru-RU" dirty="0" err="1"/>
              <a:t>безпеки</a:t>
            </a:r>
            <a:r>
              <a:rPr lang="ru-RU" dirty="0"/>
              <a:t> та </a:t>
            </a:r>
            <a:r>
              <a:rPr lang="ru-RU" dirty="0" err="1"/>
              <a:t>обґрунтовано</a:t>
            </a:r>
            <a:r>
              <a:rPr lang="ru-RU" dirty="0"/>
              <a:t> 5 </a:t>
            </a:r>
            <a:r>
              <a:rPr lang="ru-RU" dirty="0" err="1"/>
              <a:t>критеріїв</a:t>
            </a:r>
            <a:r>
              <a:rPr lang="ru-RU" dirty="0"/>
              <a:t> </a:t>
            </a:r>
            <a:r>
              <a:rPr lang="ru-RU" dirty="0" err="1"/>
              <a:t>оцінювання</a:t>
            </a:r>
            <a:r>
              <a:rPr lang="ru-RU" dirty="0"/>
              <a:t> </a:t>
            </a:r>
            <a:r>
              <a:rPr lang="ru-RU" dirty="0" err="1"/>
              <a:t>їх</a:t>
            </a:r>
            <a:r>
              <a:rPr lang="ru-RU" dirty="0"/>
              <a:t> </a:t>
            </a:r>
            <a:r>
              <a:rPr lang="ru-RU" dirty="0" err="1"/>
              <a:t>ефективності</a:t>
            </a:r>
            <a:r>
              <a:rPr lang="ru-RU" dirty="0"/>
              <a:t> з </a:t>
            </a:r>
            <a:r>
              <a:rPr lang="ru-RU" dirty="0" err="1"/>
              <a:t>ваговими</a:t>
            </a:r>
            <a:r>
              <a:rPr lang="ru-RU" dirty="0"/>
              <a:t> </a:t>
            </a:r>
            <a:r>
              <a:rPr lang="ru-RU" dirty="0" err="1"/>
              <a:t>коефіцієнтами</a:t>
            </a:r>
            <a:r>
              <a:rPr lang="ru-RU" dirty="0"/>
              <a:t> на </a:t>
            </a:r>
            <a:r>
              <a:rPr lang="ru-RU" dirty="0" err="1"/>
              <a:t>основі</a:t>
            </a:r>
            <a:r>
              <a:rPr lang="ru-RU" dirty="0"/>
              <a:t> </a:t>
            </a:r>
            <a:r>
              <a:rPr lang="ru-RU" dirty="0" err="1"/>
              <a:t>експертного</a:t>
            </a:r>
            <a:r>
              <a:rPr lang="ru-RU" dirty="0"/>
              <a:t> </a:t>
            </a:r>
            <a:r>
              <a:rPr lang="ru-RU" dirty="0" err="1"/>
              <a:t>оцінювання</a:t>
            </a:r>
            <a:r>
              <a:rPr lang="ru-RU" dirty="0"/>
              <a:t> </a:t>
            </a:r>
          </a:p>
          <a:p>
            <a:pPr marL="342900" indent="-342900" algn="just">
              <a:buFont typeface="+mj-lt"/>
              <a:buAutoNum type="arabicPeriod"/>
            </a:pPr>
            <a:endParaRPr lang="ru-RU" dirty="0"/>
          </a:p>
          <a:p>
            <a:pPr marL="342900" indent="-342900" algn="just">
              <a:buFont typeface="+mj-lt"/>
              <a:buAutoNum type="arabicPeriod"/>
            </a:pPr>
            <a:r>
              <a:rPr lang="ru-RU" dirty="0" err="1"/>
              <a:t>Розроблено</a:t>
            </a:r>
            <a:r>
              <a:rPr lang="ru-RU" dirty="0"/>
              <a:t> </a:t>
            </a:r>
            <a:r>
              <a:rPr lang="ru-RU" dirty="0" err="1"/>
              <a:t>формальну</a:t>
            </a:r>
            <a:r>
              <a:rPr lang="ru-RU" dirty="0"/>
              <a:t> </a:t>
            </a:r>
            <a:r>
              <a:rPr lang="ru-RU" dirty="0" err="1"/>
              <a:t>математичну</a:t>
            </a:r>
            <a:r>
              <a:rPr lang="ru-RU" dirty="0"/>
              <a:t> модель </a:t>
            </a:r>
            <a:r>
              <a:rPr lang="ru-RU" dirty="0" err="1"/>
              <a:t>оцінювання</a:t>
            </a:r>
            <a:r>
              <a:rPr lang="ru-RU" dirty="0"/>
              <a:t> </a:t>
            </a:r>
            <a:r>
              <a:rPr lang="ru-RU" dirty="0" err="1"/>
              <a:t>процесу</a:t>
            </a:r>
            <a:r>
              <a:rPr lang="ru-RU" dirty="0"/>
              <a:t> </a:t>
            </a:r>
            <a:r>
              <a:rPr lang="ru-RU" dirty="0" err="1"/>
              <a:t>виявлення</a:t>
            </a:r>
            <a:r>
              <a:rPr lang="ru-RU" dirty="0"/>
              <a:t> </a:t>
            </a:r>
            <a:r>
              <a:rPr lang="ru-RU" dirty="0" err="1"/>
              <a:t>загроз</a:t>
            </a:r>
            <a:r>
              <a:rPr lang="ru-RU" dirty="0"/>
              <a:t> на </a:t>
            </a:r>
            <a:r>
              <a:rPr lang="ru-RU" dirty="0" err="1"/>
              <a:t>основі</a:t>
            </a:r>
            <a:r>
              <a:rPr lang="ru-RU" dirty="0"/>
              <a:t> </a:t>
            </a:r>
            <a:r>
              <a:rPr lang="ru-RU" dirty="0" err="1"/>
              <a:t>алгебраїчного</a:t>
            </a:r>
            <a:r>
              <a:rPr lang="ru-RU" dirty="0"/>
              <a:t> та </a:t>
            </a:r>
            <a:r>
              <a:rPr lang="ru-RU" dirty="0" err="1"/>
              <a:t>аксіоматичного</a:t>
            </a:r>
            <a:r>
              <a:rPr lang="ru-RU" dirty="0"/>
              <a:t> </a:t>
            </a:r>
            <a:r>
              <a:rPr lang="ru-RU" dirty="0" err="1"/>
              <a:t>підходів</a:t>
            </a:r>
            <a:endParaRPr lang="ru-RU" dirty="0"/>
          </a:p>
        </p:txBody>
      </p:sp>
    </p:spTree>
    <p:extLst>
      <p:ext uri="{BB962C8B-B14F-4D97-AF65-F5344CB8AC3E}">
        <p14:creationId xmlns:p14="http://schemas.microsoft.com/office/powerpoint/2010/main" val="3976635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01900C-265D-4146-A578-477541E3D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lumMod val="5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sp>
        <p:nvSpPr>
          <p:cNvPr id="28" name="Freeform: Shape 27">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029111" y="-262376"/>
            <a:ext cx="5838229" cy="839155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pic>
        <p:nvPicPr>
          <p:cNvPr id="30" name="Picture 29">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2" name="Rectangle 31">
            <a:extLst>
              <a:ext uri="{FF2B5EF4-FFF2-40B4-BE49-F238E27FC236}">
                <a16:creationId xmlns:a16="http://schemas.microsoft.com/office/drawing/2014/main" id="{41F8C064-2DC5-4758-B49C-76BFF6405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solidFill>
            <a:schemeClr val="tx2">
              <a:lumMod val="1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590693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15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6" name="Rectangle 35">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8" name="Oval 37">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0675" y="421698"/>
            <a:ext cx="725361"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9696" y="249240"/>
            <a:ext cx="7460945" cy="1077229"/>
          </a:xfrm>
        </p:spPr>
        <p:txBody>
          <a:bodyPr vert="horz" lIns="91440" tIns="45720" rIns="91440" bIns="45720" rtlCol="0" anchor="t">
            <a:normAutofit/>
          </a:bodyPr>
          <a:lstStyle/>
          <a:p>
            <a:pPr algn="l" defTabSz="914400">
              <a:defRPr sz="3400" b="1"/>
            </a:pPr>
            <a:r>
              <a:rPr lang="en-US" sz="3300" dirty="0" err="1"/>
              <a:t>Висновки</a:t>
            </a:r>
            <a:r>
              <a:rPr lang="en-US" sz="3300" dirty="0"/>
              <a:t> </a:t>
            </a:r>
            <a:r>
              <a:rPr lang="en-US" sz="3300" dirty="0" err="1"/>
              <a:t>та</a:t>
            </a:r>
            <a:r>
              <a:rPr lang="en-US" sz="3300" dirty="0"/>
              <a:t> </a:t>
            </a:r>
            <a:r>
              <a:rPr lang="en-US" sz="3300" dirty="0" err="1"/>
              <a:t>перспективи</a:t>
            </a:r>
            <a:r>
              <a:rPr lang="en-US" sz="3300" dirty="0"/>
              <a:t> </a:t>
            </a:r>
            <a:r>
              <a:rPr lang="en-US" sz="3300" dirty="0" err="1"/>
              <a:t>подальших</a:t>
            </a:r>
            <a:r>
              <a:rPr lang="en-US" sz="3300" dirty="0"/>
              <a:t> </a:t>
            </a:r>
            <a:r>
              <a:rPr lang="en-US" sz="3300" dirty="0" err="1"/>
              <a:t>досліджень</a:t>
            </a:r>
            <a:endParaRPr lang="en-US" sz="3300" dirty="0"/>
          </a:p>
        </p:txBody>
      </p:sp>
      <p:sp>
        <p:nvSpPr>
          <p:cNvPr id="3" name="TextBox 2"/>
          <p:cNvSpPr txBox="1"/>
          <p:nvPr/>
        </p:nvSpPr>
        <p:spPr>
          <a:xfrm>
            <a:off x="1291413" y="2030328"/>
            <a:ext cx="7642379" cy="2278913"/>
          </a:xfrm>
          <a:prstGeom prst="rect">
            <a:avLst/>
          </a:prstGeom>
        </p:spPr>
        <p:txBody>
          <a:bodyPr vert="horz" lIns="91440" tIns="45720" rIns="91440" bIns="45720" rtlCol="0" anchor="t">
            <a:normAutofit/>
          </a:bodyPr>
          <a:lstStyle/>
          <a:p>
            <a:pPr algn="just" defTabSz="914400">
              <a:lnSpc>
                <a:spcPct val="120000"/>
              </a:lnSpc>
              <a:spcBef>
                <a:spcPts val="500"/>
              </a:spcBef>
              <a:spcAft>
                <a:spcPts val="600"/>
              </a:spcAft>
              <a:buClr>
                <a:schemeClr val="accent6"/>
              </a:buClr>
              <a:buSzPct val="90000"/>
              <a:defRPr sz="1800"/>
            </a:pPr>
            <a:endParaRPr lang="en-US" sz="1400" dirty="0"/>
          </a:p>
        </p:txBody>
      </p:sp>
      <p:sp>
        <p:nvSpPr>
          <p:cNvPr id="5" name="Номер слайда 4">
            <a:extLst>
              <a:ext uri="{FF2B5EF4-FFF2-40B4-BE49-F238E27FC236}">
                <a16:creationId xmlns:a16="http://schemas.microsoft.com/office/drawing/2014/main" id="{0D9FFFC3-52AE-2AF8-CFF7-435DF5278BD5}"/>
              </a:ext>
            </a:extLst>
          </p:cNvPr>
          <p:cNvSpPr>
            <a:spLocks noGrp="1"/>
          </p:cNvSpPr>
          <p:nvPr>
            <p:ph type="sldNum" sz="quarter" idx="12"/>
          </p:nvPr>
        </p:nvSpPr>
        <p:spPr/>
        <p:txBody>
          <a:bodyPr/>
          <a:lstStyle/>
          <a:p>
            <a:fld id="{C1FF6DA9-008F-8B48-92A6-B652298478BF}" type="slidenum">
              <a:rPr lang="en-US" smtClean="0"/>
              <a:t>31</a:t>
            </a:fld>
            <a:endParaRPr lang="en-US" dirty="0"/>
          </a:p>
        </p:txBody>
      </p:sp>
      <p:sp>
        <p:nvSpPr>
          <p:cNvPr id="6" name="TextBox 5">
            <a:extLst>
              <a:ext uri="{FF2B5EF4-FFF2-40B4-BE49-F238E27FC236}">
                <a16:creationId xmlns:a16="http://schemas.microsoft.com/office/drawing/2014/main" id="{A8ACB114-FFE4-95D9-8546-F0A72A984C3A}"/>
              </a:ext>
            </a:extLst>
          </p:cNvPr>
          <p:cNvSpPr txBox="1"/>
          <p:nvPr/>
        </p:nvSpPr>
        <p:spPr>
          <a:xfrm>
            <a:off x="909334" y="1326469"/>
            <a:ext cx="8024458" cy="5078313"/>
          </a:xfrm>
          <a:prstGeom prst="rect">
            <a:avLst/>
          </a:prstGeom>
          <a:noFill/>
        </p:spPr>
        <p:txBody>
          <a:bodyPr wrap="square">
            <a:spAutoFit/>
          </a:bodyPr>
          <a:lstStyle/>
          <a:p>
            <a:pPr marL="342900" indent="-342900" algn="just">
              <a:buFont typeface="+mj-lt"/>
              <a:buAutoNum type="arabicPeriod" startAt="6"/>
            </a:pPr>
            <a:r>
              <a:rPr lang="ru-RU" dirty="0" err="1"/>
              <a:t>Обґрунтовано</a:t>
            </a:r>
            <a:r>
              <a:rPr lang="ru-RU" dirty="0"/>
              <a:t> </a:t>
            </a:r>
            <a:r>
              <a:rPr lang="ru-RU" dirty="0" err="1"/>
              <a:t>формалізовані</a:t>
            </a:r>
            <a:r>
              <a:rPr lang="ru-RU" dirty="0"/>
              <a:t> </a:t>
            </a:r>
            <a:r>
              <a:rPr lang="ru-RU" dirty="0" err="1"/>
              <a:t>шкали</a:t>
            </a:r>
            <a:r>
              <a:rPr lang="ru-RU" dirty="0"/>
              <a:t> </a:t>
            </a:r>
            <a:r>
              <a:rPr lang="ru-RU" dirty="0" err="1"/>
              <a:t>оцінювання</a:t>
            </a:r>
            <a:r>
              <a:rPr lang="ru-RU" dirty="0"/>
              <a:t> на </a:t>
            </a:r>
            <a:r>
              <a:rPr lang="ru-RU" dirty="0" err="1"/>
              <a:t>основі</a:t>
            </a:r>
            <a:r>
              <a:rPr lang="ru-RU" dirty="0"/>
              <a:t> метрик </a:t>
            </a:r>
            <a:r>
              <a:rPr lang="en" dirty="0"/>
              <a:t>Precision, Recall, F1-score </a:t>
            </a:r>
            <a:r>
              <a:rPr lang="ru-RU" dirty="0"/>
              <a:t>та </a:t>
            </a:r>
            <a:r>
              <a:rPr lang="ru-RU" dirty="0" err="1"/>
              <a:t>показників</a:t>
            </a:r>
            <a:r>
              <a:rPr lang="ru-RU" dirty="0"/>
              <a:t> </a:t>
            </a:r>
            <a:r>
              <a:rPr lang="ru-RU" dirty="0" err="1"/>
              <a:t>навантаження</a:t>
            </a:r>
            <a:r>
              <a:rPr lang="ru-RU" dirty="0"/>
              <a:t> на </a:t>
            </a:r>
            <a:r>
              <a:rPr lang="en" dirty="0"/>
              <a:t>CPU, RAM, </a:t>
            </a:r>
            <a:r>
              <a:rPr lang="ru-RU" dirty="0"/>
              <a:t>БД </a:t>
            </a:r>
          </a:p>
          <a:p>
            <a:pPr marL="342900" indent="-342900" algn="just">
              <a:buFont typeface="+mj-lt"/>
              <a:buAutoNum type="arabicPeriod" startAt="6"/>
            </a:pPr>
            <a:endParaRPr lang="ru-RU" dirty="0"/>
          </a:p>
          <a:p>
            <a:pPr marL="342900" indent="-342900" algn="just">
              <a:buFont typeface="+mj-lt"/>
              <a:buAutoNum type="arabicPeriod" startAt="6"/>
            </a:pPr>
            <a:r>
              <a:rPr lang="ru-RU" dirty="0" err="1"/>
              <a:t>Здійснено</a:t>
            </a:r>
            <a:r>
              <a:rPr lang="ru-RU" dirty="0"/>
              <a:t> </a:t>
            </a:r>
            <a:r>
              <a:rPr lang="ru-RU" dirty="0" err="1"/>
              <a:t>багатокритеріальний</a:t>
            </a:r>
            <a:r>
              <a:rPr lang="ru-RU" dirty="0"/>
              <a:t> </a:t>
            </a:r>
            <a:r>
              <a:rPr lang="ru-RU" dirty="0" err="1"/>
              <a:t>аналіз</a:t>
            </a:r>
            <a:r>
              <a:rPr lang="ru-RU" dirty="0"/>
              <a:t> </a:t>
            </a:r>
            <a:r>
              <a:rPr lang="ru-RU" dirty="0" err="1"/>
              <a:t>результатів</a:t>
            </a:r>
            <a:r>
              <a:rPr lang="ru-RU" dirty="0"/>
              <a:t> методом </a:t>
            </a:r>
            <a:r>
              <a:rPr lang="ru-RU" dirty="0" err="1"/>
              <a:t>лінійної</a:t>
            </a:r>
            <a:r>
              <a:rPr lang="ru-RU" dirty="0"/>
              <a:t> </a:t>
            </a:r>
            <a:r>
              <a:rPr lang="ru-RU" dirty="0" err="1"/>
              <a:t>адитивної</a:t>
            </a:r>
            <a:r>
              <a:rPr lang="ru-RU" dirty="0"/>
              <a:t> </a:t>
            </a:r>
            <a:r>
              <a:rPr lang="ru-RU" dirty="0" err="1"/>
              <a:t>згортки</a:t>
            </a:r>
            <a:r>
              <a:rPr lang="ru-RU" dirty="0"/>
              <a:t> для </a:t>
            </a:r>
            <a:r>
              <a:rPr lang="ru-RU" dirty="0" err="1"/>
              <a:t>визначення</a:t>
            </a:r>
            <a:r>
              <a:rPr lang="ru-RU" dirty="0"/>
              <a:t> </a:t>
            </a:r>
            <a:r>
              <a:rPr lang="ru-RU" dirty="0" err="1"/>
              <a:t>впливу</a:t>
            </a:r>
            <a:r>
              <a:rPr lang="ru-RU" dirty="0"/>
              <a:t> </a:t>
            </a:r>
            <a:r>
              <a:rPr lang="ru-RU" dirty="0" err="1"/>
              <a:t>засобів</a:t>
            </a:r>
            <a:r>
              <a:rPr lang="ru-RU" dirty="0"/>
              <a:t> </a:t>
            </a:r>
            <a:r>
              <a:rPr lang="ru-RU" dirty="0" err="1"/>
              <a:t>захисту</a:t>
            </a:r>
            <a:r>
              <a:rPr lang="ru-RU" dirty="0"/>
              <a:t> на </a:t>
            </a:r>
            <a:r>
              <a:rPr lang="ru-RU" dirty="0" err="1"/>
              <a:t>працездатність</a:t>
            </a:r>
            <a:r>
              <a:rPr lang="ru-RU" dirty="0"/>
              <a:t> </a:t>
            </a:r>
          </a:p>
          <a:p>
            <a:pPr marL="342900" indent="-342900" algn="just">
              <a:buFont typeface="+mj-lt"/>
              <a:buAutoNum type="arabicPeriod" startAt="6"/>
            </a:pPr>
            <a:endParaRPr lang="ru-RU" dirty="0"/>
          </a:p>
          <a:p>
            <a:pPr marL="342900" indent="-342900" algn="just">
              <a:buFont typeface="+mj-lt"/>
              <a:buAutoNum type="arabicPeriod" startAt="6"/>
            </a:pPr>
            <a:r>
              <a:rPr lang="ru-RU" dirty="0" err="1"/>
              <a:t>Розгорнуто</a:t>
            </a:r>
            <a:r>
              <a:rPr lang="ru-RU" dirty="0"/>
              <a:t> </a:t>
            </a:r>
            <a:r>
              <a:rPr lang="ru-RU" dirty="0" err="1"/>
              <a:t>експериментальний</a:t>
            </a:r>
            <a:r>
              <a:rPr lang="ru-RU" dirty="0"/>
              <a:t> стенд </a:t>
            </a:r>
            <a:r>
              <a:rPr lang="en" dirty="0"/>
              <a:t>WordPress 6.9.4 + WooCommerce 10.7.0 </a:t>
            </a:r>
            <a:r>
              <a:rPr lang="ru-RU" dirty="0"/>
              <a:t>на </a:t>
            </a:r>
            <a:r>
              <a:rPr lang="en" dirty="0" err="1"/>
              <a:t>LocalWP</a:t>
            </a:r>
            <a:r>
              <a:rPr lang="en" dirty="0"/>
              <a:t> </a:t>
            </a:r>
            <a:r>
              <a:rPr lang="ru-RU" dirty="0"/>
              <a:t>та сформовано </a:t>
            </a:r>
            <a:r>
              <a:rPr lang="ru-RU" dirty="0" err="1"/>
              <a:t>набір</a:t>
            </a:r>
            <a:r>
              <a:rPr lang="ru-RU" dirty="0"/>
              <a:t> з 51 </a:t>
            </a:r>
            <a:r>
              <a:rPr lang="ru-RU" dirty="0" err="1"/>
              <a:t>контрольної</a:t>
            </a:r>
            <a:r>
              <a:rPr lang="ru-RU" dirty="0"/>
              <a:t> </a:t>
            </a:r>
            <a:r>
              <a:rPr lang="ru-RU" dirty="0" err="1"/>
              <a:t>загрози</a:t>
            </a:r>
            <a:r>
              <a:rPr lang="ru-RU" dirty="0"/>
              <a:t> з </a:t>
            </a:r>
            <a:r>
              <a:rPr lang="ru-RU" dirty="0" err="1"/>
              <a:t>відомими</a:t>
            </a:r>
            <a:r>
              <a:rPr lang="ru-RU" dirty="0"/>
              <a:t> </a:t>
            </a:r>
            <a:r>
              <a:rPr lang="en" dirty="0"/>
              <a:t>CVE; </a:t>
            </a:r>
            <a:r>
              <a:rPr lang="ru-RU" dirty="0"/>
              <a:t>проведено </a:t>
            </a:r>
            <a:r>
              <a:rPr lang="ru-RU" dirty="0" err="1"/>
              <a:t>експериментальне</a:t>
            </a:r>
            <a:r>
              <a:rPr lang="ru-RU" dirty="0"/>
              <a:t> </a:t>
            </a:r>
            <a:r>
              <a:rPr lang="ru-RU" dirty="0" err="1"/>
              <a:t>тестування</a:t>
            </a:r>
            <a:r>
              <a:rPr lang="ru-RU" dirty="0"/>
              <a:t> 11 </a:t>
            </a:r>
            <a:r>
              <a:rPr lang="ru-RU" dirty="0" err="1"/>
              <a:t>плагінів</a:t>
            </a:r>
            <a:r>
              <a:rPr lang="ru-RU" dirty="0"/>
              <a:t> </a:t>
            </a:r>
            <a:r>
              <a:rPr lang="ru-RU" dirty="0" err="1"/>
              <a:t>безпеки</a:t>
            </a:r>
            <a:r>
              <a:rPr lang="ru-RU" dirty="0"/>
              <a:t> </a:t>
            </a:r>
          </a:p>
          <a:p>
            <a:pPr marL="342900" indent="-342900" algn="just">
              <a:buFont typeface="+mj-lt"/>
              <a:buAutoNum type="arabicPeriod" startAt="6"/>
            </a:pPr>
            <a:endParaRPr lang="ru-RU" dirty="0"/>
          </a:p>
          <a:p>
            <a:pPr marL="342900" indent="-342900" algn="just">
              <a:buFont typeface="+mj-lt"/>
              <a:buAutoNum type="arabicPeriod" startAt="6"/>
            </a:pPr>
            <a:r>
              <a:rPr lang="ru-RU" dirty="0"/>
              <a:t>Сформовано </a:t>
            </a:r>
            <a:r>
              <a:rPr lang="ru-RU" dirty="0" err="1"/>
              <a:t>практичні</a:t>
            </a:r>
            <a:r>
              <a:rPr lang="ru-RU" dirty="0"/>
              <a:t> </a:t>
            </a:r>
            <a:r>
              <a:rPr lang="ru-RU" dirty="0" err="1"/>
              <a:t>рекомендації</a:t>
            </a:r>
            <a:r>
              <a:rPr lang="ru-RU" dirty="0"/>
              <a:t> для </a:t>
            </a:r>
            <a:r>
              <a:rPr lang="en" dirty="0"/>
              <a:t>e-commerce, </a:t>
            </a:r>
            <a:r>
              <a:rPr lang="ru-RU" dirty="0" err="1"/>
              <a:t>корпоративних</a:t>
            </a:r>
            <a:r>
              <a:rPr lang="ru-RU" dirty="0"/>
              <a:t> </a:t>
            </a:r>
            <a:r>
              <a:rPr lang="ru-RU" dirty="0" err="1"/>
              <a:t>сайтів</a:t>
            </a:r>
            <a:r>
              <a:rPr lang="ru-RU" dirty="0"/>
              <a:t> та </a:t>
            </a:r>
            <a:r>
              <a:rPr lang="ru-RU" dirty="0" err="1"/>
              <a:t>блогів</a:t>
            </a:r>
            <a:r>
              <a:rPr lang="ru-RU" dirty="0"/>
              <a:t> </a:t>
            </a:r>
            <a:r>
              <a:rPr lang="ru-RU" dirty="0" err="1"/>
              <a:t>відповідно</a:t>
            </a:r>
            <a:r>
              <a:rPr lang="ru-RU" dirty="0"/>
              <a:t> до </a:t>
            </a:r>
            <a:r>
              <a:rPr lang="ru-RU" dirty="0" err="1"/>
              <a:t>отриманих</a:t>
            </a:r>
            <a:r>
              <a:rPr lang="ru-RU" dirty="0"/>
              <a:t> </a:t>
            </a:r>
            <a:r>
              <a:rPr lang="ru-RU" dirty="0" err="1"/>
              <a:t>результатів</a:t>
            </a:r>
            <a:r>
              <a:rPr lang="ru-RU" dirty="0"/>
              <a:t> </a:t>
            </a:r>
            <a:r>
              <a:rPr lang="ru-RU" dirty="0" err="1"/>
              <a:t>дослідження</a:t>
            </a:r>
            <a:r>
              <a:rPr lang="ru-RU" dirty="0"/>
              <a:t> </a:t>
            </a:r>
          </a:p>
          <a:p>
            <a:pPr marL="342900" indent="-342900" algn="just">
              <a:buFont typeface="+mj-lt"/>
              <a:buAutoNum type="arabicPeriod" startAt="6"/>
            </a:pPr>
            <a:endParaRPr lang="ru-RU" dirty="0"/>
          </a:p>
          <a:p>
            <a:pPr marL="342900" indent="-342900" algn="just">
              <a:buFont typeface="+mj-lt"/>
              <a:buAutoNum type="arabicPeriod" startAt="6"/>
            </a:pPr>
            <a:r>
              <a:rPr lang="ru-RU" dirty="0" err="1"/>
              <a:t>Оцінено</a:t>
            </a:r>
            <a:r>
              <a:rPr lang="ru-RU" dirty="0"/>
              <a:t> </a:t>
            </a:r>
            <a:r>
              <a:rPr lang="ru-RU" dirty="0" err="1"/>
              <a:t>можливості</a:t>
            </a:r>
            <a:r>
              <a:rPr lang="ru-RU" dirty="0"/>
              <a:t> </a:t>
            </a:r>
            <a:r>
              <a:rPr lang="ru-RU" dirty="0" err="1"/>
              <a:t>впровадження</a:t>
            </a:r>
            <a:r>
              <a:rPr lang="ru-RU" dirty="0"/>
              <a:t> </a:t>
            </a:r>
            <a:r>
              <a:rPr lang="ru-RU" dirty="0" err="1"/>
              <a:t>розробленої</a:t>
            </a:r>
            <a:r>
              <a:rPr lang="ru-RU" dirty="0"/>
              <a:t> </a:t>
            </a:r>
            <a:r>
              <a:rPr lang="ru-RU" dirty="0" err="1"/>
              <a:t>моделі</a:t>
            </a:r>
            <a:r>
              <a:rPr lang="ru-RU" dirty="0"/>
              <a:t> в </a:t>
            </a:r>
            <a:r>
              <a:rPr lang="en" dirty="0"/>
              <a:t>e-commerce </a:t>
            </a:r>
            <a:r>
              <a:rPr lang="ru-RU" dirty="0" err="1"/>
              <a:t>рішення</a:t>
            </a:r>
            <a:r>
              <a:rPr lang="ru-RU" dirty="0"/>
              <a:t>; </a:t>
            </a:r>
            <a:r>
              <a:rPr lang="ru-RU" dirty="0" err="1"/>
              <a:t>визначено</a:t>
            </a:r>
            <a:r>
              <a:rPr lang="ru-RU" dirty="0"/>
              <a:t> </a:t>
            </a:r>
            <a:r>
              <a:rPr lang="ru-RU" dirty="0" err="1"/>
              <a:t>перспективи</a:t>
            </a:r>
            <a:r>
              <a:rPr lang="ru-RU" dirty="0"/>
              <a:t> </a:t>
            </a:r>
            <a:r>
              <a:rPr lang="ru-RU" dirty="0" err="1"/>
              <a:t>подальшого</a:t>
            </a:r>
            <a:r>
              <a:rPr lang="ru-RU" dirty="0"/>
              <a:t> </a:t>
            </a:r>
            <a:r>
              <a:rPr lang="ru-RU" dirty="0" err="1"/>
              <a:t>розвитку</a:t>
            </a:r>
            <a:r>
              <a:rPr lang="ru-RU" dirty="0"/>
              <a:t> методики</a:t>
            </a:r>
            <a:endParaRPr lang="ru-UA"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D44207-99B1-488E-B506-E104606435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123845" y="2105202"/>
            <a:ext cx="7020154" cy="4752798"/>
          </a:xfrm>
          <a:prstGeom prst="rect">
            <a:avLst/>
          </a:prstGeom>
        </p:spPr>
      </p:pic>
      <p:pic>
        <p:nvPicPr>
          <p:cNvPr id="10" name="Picture 9">
            <a:extLst>
              <a:ext uri="{FF2B5EF4-FFF2-40B4-BE49-F238E27FC236}">
                <a16:creationId xmlns:a16="http://schemas.microsoft.com/office/drawing/2014/main" id="{8E4A938E-9D51-410D-8201-7886588064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12" name="Rectangle 11">
            <a:extLst>
              <a:ext uri="{FF2B5EF4-FFF2-40B4-BE49-F238E27FC236}">
                <a16:creationId xmlns:a16="http://schemas.microsoft.com/office/drawing/2014/main" id="{2A2042E9-E104-4EB2-BC2A-7202C91C2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313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4" name="Rectangle 13">
            <a:extLst>
              <a:ext uri="{FF2B5EF4-FFF2-40B4-BE49-F238E27FC236}">
                <a16:creationId xmlns:a16="http://schemas.microsoft.com/office/drawing/2014/main" id="{B359973E-2127-4A68-8122-FD45CCA53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31" y="0"/>
            <a:ext cx="3428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6" name="Rectangle 15">
            <a:extLst>
              <a:ext uri="{FF2B5EF4-FFF2-40B4-BE49-F238E27FC236}">
                <a16:creationId xmlns:a16="http://schemas.microsoft.com/office/drawing/2014/main" id="{F47A0283-2935-47AD-B886-C5B5BFEA7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359" y="0"/>
            <a:ext cx="7779237"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18" name="Rectangle 17">
            <a:extLst>
              <a:ext uri="{FF2B5EF4-FFF2-40B4-BE49-F238E27FC236}">
                <a16:creationId xmlns:a16="http://schemas.microsoft.com/office/drawing/2014/main" id="{B73A6FDC-BE73-45FD-9D5A-AB060E12F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2996" y="0"/>
            <a:ext cx="2057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20" name="TextBox 19">
            <a:extLst>
              <a:ext uri="{FF2B5EF4-FFF2-40B4-BE49-F238E27FC236}">
                <a16:creationId xmlns:a16="http://schemas.microsoft.com/office/drawing/2014/main" id="{B2A1C54C-1FB9-46CF-A2C4-738F9B0E4F7E}"/>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46207" y="641225"/>
            <a:ext cx="311727" cy="369332"/>
          </a:xfrm>
          <a:prstGeom prst="rect">
            <a:avLst/>
          </a:prstGeom>
          <a:noFill/>
        </p:spPr>
        <p:txBody>
          <a:bodyPr wrap="square" rtlCol="0">
            <a:spAutoFit/>
          </a:bodyPr>
          <a:lstStyle/>
          <a:p>
            <a:pPr algn="r">
              <a:spcAft>
                <a:spcPts val="600"/>
              </a:spcAft>
            </a:pP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useBgFill="1">
        <p:nvSpPr>
          <p:cNvPr id="22" name="Rectangle 21">
            <a:extLst>
              <a:ext uri="{FF2B5EF4-FFF2-40B4-BE49-F238E27FC236}">
                <a16:creationId xmlns:a16="http://schemas.microsoft.com/office/drawing/2014/main" id="{441B7737-E3D8-47F4-8B54-7529C7A8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CDAD12E-853D-4E20-9104-7129A3BF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1"/>
          </a:xfrm>
          <a:prstGeom prst="rect">
            <a:avLst/>
          </a:prstGeom>
          <a:gradFill flip="none" rotWithShape="1">
            <a:gsLst>
              <a:gs pos="100000">
                <a:schemeClr val="tx2">
                  <a:lumMod val="25000"/>
                  <a:alpha val="10000"/>
                </a:schemeClr>
              </a:gs>
              <a:gs pos="0">
                <a:schemeClr val="bg2">
                  <a:lumMod val="75000"/>
                  <a:lumOff val="25000"/>
                  <a:alpha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DA59AFC-4552-4608-9A63-AFBBC2C02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BEBA8EAE-BF5A-486C-A8C5-ECC9F3942E4B}">
                <a14:imgProps xmlns:a14="http://schemas.microsoft.com/office/drawing/2010/main">
                  <a14:imgLayer r:embed="rId6">
                    <a14:imgEffect>
                      <a14:brightnessContrast bright="-19000"/>
                    </a14:imgEffect>
                  </a14:imgLayer>
                </a14:imgProps>
              </a:ext>
              <a:ext uri="{28A0092B-C50C-407E-A947-70E740481C1C}">
                <a14:useLocalDpi xmlns:a14="http://schemas.microsoft.com/office/drawing/2010/main" val="0"/>
              </a:ext>
            </a:extLst>
          </a:blip>
          <a:stretch>
            <a:fillRect/>
          </a:stretch>
        </p:blipFill>
        <p:spPr>
          <a:xfrm>
            <a:off x="2123845" y="2105202"/>
            <a:ext cx="7020154" cy="4752798"/>
          </a:xfrm>
          <a:prstGeom prst="rect">
            <a:avLst/>
          </a:prstGeom>
          <a:noFill/>
        </p:spPr>
      </p:pic>
      <p:pic>
        <p:nvPicPr>
          <p:cNvPr id="28" name="Picture 27">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2400" cy="6858000"/>
          </a:xfrm>
          <a:prstGeom prst="rect">
            <a:avLst/>
          </a:prstGeom>
        </p:spPr>
      </p:pic>
      <p:sp>
        <p:nvSpPr>
          <p:cNvPr id="30" name="Rectangle 29">
            <a:extLst>
              <a:ext uri="{FF2B5EF4-FFF2-40B4-BE49-F238E27FC236}">
                <a16:creationId xmlns:a16="http://schemas.microsoft.com/office/drawing/2014/main" id="{AC1E939A-6A69-42AE-8471-3AD3A74AD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156" y="0"/>
            <a:ext cx="8427245" cy="6858000"/>
          </a:xfrm>
          <a:prstGeom prst="rect">
            <a:avLst/>
          </a:prstGeom>
          <a:gradFill flip="none" rotWithShape="1">
            <a:gsLst>
              <a:gs pos="0">
                <a:schemeClr val="bg2">
                  <a:alpha val="0"/>
                </a:schemeClr>
              </a:gs>
              <a:gs pos="100000">
                <a:schemeClr val="bg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2" name="Rectangle 31">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9931"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u-UA"/>
          </a:p>
        </p:txBody>
      </p:sp>
      <p:sp>
        <p:nvSpPr>
          <p:cNvPr id="34" name="TextBox 33">
            <a:extLst>
              <a:ext uri="{FF2B5EF4-FFF2-40B4-BE49-F238E27FC236}">
                <a16:creationId xmlns:a16="http://schemas.microsoft.com/office/drawing/2014/main" id="{4B7BAF6C-CC6F-4F1B-AB92-3ABDF1D44541}"/>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5322" y="836910"/>
            <a:ext cx="521353" cy="584775"/>
          </a:xfrm>
          <a:prstGeom prst="rect">
            <a:avLst/>
          </a:prstGeom>
          <a:noFill/>
        </p:spPr>
        <p:txBody>
          <a:bodyPr wrap="square" rtlCol="0">
            <a:spAutoFit/>
          </a:bodyPr>
          <a:lstStyle/>
          <a:p>
            <a:pPr algn="r"/>
            <a:endParaRPr lang="en-US" sz="32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882124" y="425050"/>
            <a:ext cx="6813052" cy="850913"/>
          </a:xfrm>
        </p:spPr>
        <p:txBody>
          <a:bodyPr vert="horz" lIns="91440" tIns="45720" rIns="91440" bIns="45720" rtlCol="0" anchor="t">
            <a:normAutofit fontScale="90000"/>
          </a:bodyPr>
          <a:lstStyle/>
          <a:p>
            <a:pPr algn="l" defTabSz="914400">
              <a:defRPr sz="3400" b="1"/>
            </a:pPr>
            <a:r>
              <a:rPr lang="ru-RU" sz="2900" dirty="0" err="1"/>
              <a:t>Результати</a:t>
            </a:r>
            <a:r>
              <a:rPr lang="ru-RU" sz="2900" dirty="0"/>
              <a:t> </a:t>
            </a:r>
            <a:r>
              <a:rPr lang="ru-RU" sz="2900" dirty="0" err="1"/>
              <a:t>магістерської</a:t>
            </a:r>
            <a:r>
              <a:rPr lang="ru-RU" sz="2900" dirty="0"/>
              <a:t> </a:t>
            </a:r>
            <a:r>
              <a:rPr lang="ru-RU" sz="2900" dirty="0" err="1"/>
              <a:t>роботи</a:t>
            </a:r>
            <a:r>
              <a:rPr lang="ru-RU" sz="2900" dirty="0"/>
              <a:t> </a:t>
            </a:r>
            <a:r>
              <a:rPr lang="ru-RU" sz="2900" dirty="0" err="1"/>
              <a:t>опубліковано</a:t>
            </a:r>
            <a:r>
              <a:rPr lang="ru-RU" sz="2900" dirty="0"/>
              <a:t> у 2 </a:t>
            </a:r>
            <a:r>
              <a:rPr lang="ru-RU" sz="2900" dirty="0" err="1"/>
              <a:t>наукових</a:t>
            </a:r>
            <a:r>
              <a:rPr lang="ru-RU" sz="2900" dirty="0"/>
              <a:t> </a:t>
            </a:r>
            <a:r>
              <a:rPr lang="ru-RU" sz="2900" dirty="0" err="1"/>
              <a:t>збірках</a:t>
            </a:r>
            <a:br>
              <a:rPr lang="ru-RU" sz="2900" dirty="0"/>
            </a:br>
            <a:endParaRPr lang="en-US" sz="2900" dirty="0"/>
          </a:p>
        </p:txBody>
      </p:sp>
      <p:sp>
        <p:nvSpPr>
          <p:cNvPr id="3" name="TextBox 2"/>
          <p:cNvSpPr txBox="1"/>
          <p:nvPr/>
        </p:nvSpPr>
        <p:spPr>
          <a:xfrm>
            <a:off x="882124" y="1743379"/>
            <a:ext cx="5393787" cy="4473395"/>
          </a:xfrm>
          <a:prstGeom prst="rect">
            <a:avLst/>
          </a:prstGeom>
        </p:spPr>
        <p:txBody>
          <a:bodyPr vert="horz" lIns="91440" tIns="45720" rIns="91440" bIns="45720" rtlCol="0" anchor="t">
            <a:normAutofit/>
          </a:bodyPr>
          <a:lstStyle/>
          <a:p>
            <a:pPr algn="just"/>
            <a:r>
              <a:rPr lang="ru-RU" sz="1400" b="1" dirty="0" err="1"/>
              <a:t>Публікація</a:t>
            </a:r>
            <a:r>
              <a:rPr lang="ru-RU" sz="1400" b="1" dirty="0"/>
              <a:t> № 1</a:t>
            </a:r>
            <a:endParaRPr lang="ru-RU" sz="1400" dirty="0"/>
          </a:p>
          <a:p>
            <a:pPr algn="just"/>
            <a:r>
              <a:rPr lang="ru-RU" sz="1400" dirty="0"/>
              <a:t>Собко Д. С., </a:t>
            </a:r>
            <a:r>
              <a:rPr lang="ru-RU" sz="1400" dirty="0" err="1"/>
              <a:t>Груздо</a:t>
            </a:r>
            <a:r>
              <a:rPr lang="ru-RU" sz="1400" dirty="0"/>
              <a:t> І. В.</a:t>
            </a:r>
          </a:p>
          <a:p>
            <a:pPr algn="just"/>
            <a:r>
              <a:rPr lang="ru-RU" sz="1400" dirty="0"/>
              <a:t>«</a:t>
            </a:r>
            <a:r>
              <a:rPr lang="ru-RU" sz="1400" dirty="0" err="1"/>
              <a:t>Вибір</a:t>
            </a:r>
            <a:r>
              <a:rPr lang="ru-RU" sz="1400" dirty="0"/>
              <a:t> </a:t>
            </a:r>
            <a:r>
              <a:rPr lang="ru-RU" sz="1400" dirty="0" err="1"/>
              <a:t>критеріїв</a:t>
            </a:r>
            <a:r>
              <a:rPr lang="ru-RU" sz="1400" dirty="0"/>
              <a:t> </a:t>
            </a:r>
            <a:r>
              <a:rPr lang="ru-RU" sz="1400" dirty="0" err="1"/>
              <a:t>оцінки</a:t>
            </a:r>
            <a:r>
              <a:rPr lang="ru-RU" sz="1400" dirty="0"/>
              <a:t> </a:t>
            </a:r>
            <a:r>
              <a:rPr lang="ru-RU" sz="1400" dirty="0" err="1"/>
              <a:t>ефективності</a:t>
            </a:r>
            <a:r>
              <a:rPr lang="ru-RU" sz="1400" dirty="0"/>
              <a:t> </a:t>
            </a:r>
            <a:r>
              <a:rPr lang="ru-RU" sz="1400" dirty="0" err="1"/>
              <a:t>виявлення</a:t>
            </a:r>
            <a:r>
              <a:rPr lang="ru-RU" sz="1400" dirty="0"/>
              <a:t> </a:t>
            </a:r>
            <a:r>
              <a:rPr lang="ru-RU" sz="1400" dirty="0" err="1"/>
              <a:t>загроз</a:t>
            </a:r>
            <a:r>
              <a:rPr lang="ru-RU" sz="1400" dirty="0"/>
              <a:t> у веб-</a:t>
            </a:r>
            <a:r>
              <a:rPr lang="ru-RU" sz="1400" dirty="0" err="1"/>
              <a:t>рішеннях</a:t>
            </a:r>
            <a:r>
              <a:rPr lang="ru-RU" sz="1400" dirty="0"/>
              <a:t>»</a:t>
            </a:r>
          </a:p>
          <a:p>
            <a:pPr algn="just"/>
            <a:r>
              <a:rPr lang="ru-RU" sz="1400" dirty="0" err="1"/>
              <a:t>Сучасні</a:t>
            </a:r>
            <a:r>
              <a:rPr lang="ru-RU" sz="1400" dirty="0"/>
              <a:t> </a:t>
            </a:r>
            <a:r>
              <a:rPr lang="ru-RU" sz="1400" dirty="0" err="1"/>
              <a:t>інформаційні</a:t>
            </a:r>
            <a:r>
              <a:rPr lang="ru-RU" sz="1400" dirty="0"/>
              <a:t> </a:t>
            </a:r>
            <a:r>
              <a:rPr lang="ru-RU" sz="1400" dirty="0" err="1"/>
              <a:t>технології</a:t>
            </a:r>
            <a:r>
              <a:rPr lang="ru-RU" sz="1400" dirty="0"/>
              <a:t> та </a:t>
            </a:r>
            <a:r>
              <a:rPr lang="ru-RU" sz="1400" dirty="0" err="1"/>
              <a:t>системи</a:t>
            </a:r>
            <a:r>
              <a:rPr lang="ru-RU" sz="1400" dirty="0"/>
              <a:t> штучного </a:t>
            </a:r>
            <a:r>
              <a:rPr lang="ru-RU" sz="1400" dirty="0" err="1"/>
              <a:t>інтелекту</a:t>
            </a:r>
            <a:r>
              <a:rPr lang="ru-RU" sz="1400" dirty="0"/>
              <a:t> (</a:t>
            </a:r>
            <a:r>
              <a:rPr lang="en" sz="1400" dirty="0"/>
              <a:t>MIT&amp;AIS-2026): </a:t>
            </a:r>
            <a:r>
              <a:rPr lang="ru-RU" sz="1400" dirty="0" err="1"/>
              <a:t>матеріали</a:t>
            </a:r>
            <a:r>
              <a:rPr lang="ru-RU" sz="1400" dirty="0"/>
              <a:t> 2-ї </a:t>
            </a:r>
            <a:r>
              <a:rPr lang="ru-RU" sz="1400" dirty="0" err="1"/>
              <a:t>Міжнародної</a:t>
            </a:r>
            <a:r>
              <a:rPr lang="ru-RU" sz="1400" dirty="0"/>
              <a:t> </a:t>
            </a:r>
            <a:r>
              <a:rPr lang="ru-RU" sz="1400" dirty="0" err="1"/>
              <a:t>науково-практичної</a:t>
            </a:r>
            <a:r>
              <a:rPr lang="ru-RU" sz="1400" dirty="0"/>
              <a:t> </a:t>
            </a:r>
            <a:r>
              <a:rPr lang="ru-RU" sz="1400" dirty="0" err="1"/>
              <a:t>конференції</a:t>
            </a:r>
            <a:r>
              <a:rPr lang="ru-RU" sz="1400" dirty="0"/>
              <a:t>, м. </a:t>
            </a:r>
            <a:r>
              <a:rPr lang="ru-RU" sz="1400" dirty="0" err="1"/>
              <a:t>Харків</a:t>
            </a:r>
            <a:r>
              <a:rPr lang="ru-RU" sz="1400" dirty="0"/>
              <a:t> - Яремче, 27–29 </a:t>
            </a:r>
            <a:r>
              <a:rPr lang="ru-RU" sz="1400" dirty="0" err="1"/>
              <a:t>квітня</a:t>
            </a:r>
            <a:r>
              <a:rPr lang="ru-RU" sz="1400" dirty="0"/>
              <a:t> 2026 р. - </a:t>
            </a:r>
            <a:r>
              <a:rPr lang="ru-RU" sz="1400" dirty="0" err="1"/>
              <a:t>Харків</a:t>
            </a:r>
            <a:r>
              <a:rPr lang="ru-RU" sz="1400" dirty="0"/>
              <a:t>: ХНУРЕ, 2026. - С. 159–161. </a:t>
            </a:r>
            <a:r>
              <a:rPr lang="en" sz="1400" dirty="0"/>
              <a:t>ISBN 978-966-659-422-1</a:t>
            </a:r>
            <a:endParaRPr lang="uk-UA" sz="1400" dirty="0"/>
          </a:p>
          <a:p>
            <a:pPr algn="just"/>
            <a:endParaRPr lang="uk-UA" sz="1400" dirty="0"/>
          </a:p>
          <a:p>
            <a:pPr algn="just"/>
            <a:endParaRPr lang="en" sz="1400" dirty="0"/>
          </a:p>
          <a:p>
            <a:pPr algn="just"/>
            <a:r>
              <a:rPr lang="ru-RU" sz="1400" b="1" dirty="0" err="1"/>
              <a:t>Публікація</a:t>
            </a:r>
            <a:r>
              <a:rPr lang="ru-RU" sz="1400" b="1" dirty="0"/>
              <a:t> № 2</a:t>
            </a:r>
            <a:endParaRPr lang="ru-RU" sz="1400" dirty="0"/>
          </a:p>
          <a:p>
            <a:pPr algn="just"/>
            <a:r>
              <a:rPr lang="ru-RU" sz="1400" dirty="0"/>
              <a:t>Собко Д. С., </a:t>
            </a:r>
            <a:r>
              <a:rPr lang="ru-RU" sz="1400" dirty="0" err="1"/>
              <a:t>Груздо</a:t>
            </a:r>
            <a:r>
              <a:rPr lang="ru-RU" sz="1400" dirty="0"/>
              <a:t> І. В.</a:t>
            </a:r>
          </a:p>
          <a:p>
            <a:pPr algn="just"/>
            <a:r>
              <a:rPr lang="ru-RU" sz="1400" dirty="0"/>
              <a:t>«</a:t>
            </a:r>
            <a:r>
              <a:rPr lang="ru-RU" sz="1400" dirty="0" err="1"/>
              <a:t>Аналіз</a:t>
            </a:r>
            <a:r>
              <a:rPr lang="ru-RU" sz="1400" dirty="0"/>
              <a:t> </a:t>
            </a:r>
            <a:r>
              <a:rPr lang="ru-RU" sz="1400" dirty="0" err="1"/>
              <a:t>ефективності</a:t>
            </a:r>
            <a:r>
              <a:rPr lang="ru-RU" sz="1400" dirty="0"/>
              <a:t> </a:t>
            </a:r>
            <a:r>
              <a:rPr lang="ru-RU" sz="1400" dirty="0" err="1"/>
              <a:t>плагінів</a:t>
            </a:r>
            <a:r>
              <a:rPr lang="ru-RU" sz="1400" dirty="0"/>
              <a:t> </a:t>
            </a:r>
            <a:r>
              <a:rPr lang="ru-RU" sz="1400" dirty="0" err="1"/>
              <a:t>безпеки</a:t>
            </a:r>
            <a:r>
              <a:rPr lang="ru-RU" sz="1400" dirty="0"/>
              <a:t> </a:t>
            </a:r>
            <a:r>
              <a:rPr lang="en" sz="1400" dirty="0"/>
              <a:t>WordPress </a:t>
            </a:r>
            <a:r>
              <a:rPr lang="ru-RU" sz="1400" dirty="0"/>
              <a:t>для </a:t>
            </a:r>
            <a:r>
              <a:rPr lang="ru-RU" sz="1400" dirty="0" err="1"/>
              <a:t>виявлення</a:t>
            </a:r>
            <a:r>
              <a:rPr lang="ru-RU" sz="1400" dirty="0"/>
              <a:t> </a:t>
            </a:r>
            <a:r>
              <a:rPr lang="ru-RU" sz="1400" dirty="0" err="1"/>
              <a:t>реальних</a:t>
            </a:r>
            <a:r>
              <a:rPr lang="ru-RU" sz="1400" dirty="0"/>
              <a:t> </a:t>
            </a:r>
            <a:r>
              <a:rPr lang="ru-RU" sz="1400" dirty="0" err="1"/>
              <a:t>загроз</a:t>
            </a:r>
            <a:r>
              <a:rPr lang="ru-RU" sz="1400" dirty="0"/>
              <a:t> у веб-</a:t>
            </a:r>
            <a:r>
              <a:rPr lang="ru-RU" sz="1400" dirty="0" err="1"/>
              <a:t>рішеннях</a:t>
            </a:r>
            <a:r>
              <a:rPr lang="ru-RU" sz="1400" dirty="0"/>
              <a:t> для </a:t>
            </a:r>
            <a:r>
              <a:rPr lang="en" sz="1400" dirty="0"/>
              <a:t>e-commerce»</a:t>
            </a:r>
            <a:r>
              <a:rPr lang="uk-UA" sz="1400" dirty="0"/>
              <a:t> </a:t>
            </a:r>
            <a:r>
              <a:rPr lang="ru-RU" sz="1400" dirty="0" err="1"/>
              <a:t>Комп'ютерна</a:t>
            </a:r>
            <a:r>
              <a:rPr lang="ru-RU" sz="1400" dirty="0"/>
              <a:t> </a:t>
            </a:r>
            <a:r>
              <a:rPr lang="ru-RU" sz="1400" dirty="0" err="1"/>
              <a:t>інженерія</a:t>
            </a:r>
            <a:r>
              <a:rPr lang="ru-RU" sz="1400" dirty="0"/>
              <a:t>: </a:t>
            </a:r>
            <a:r>
              <a:rPr lang="ru-RU" sz="1400" dirty="0" err="1"/>
              <a:t>сучасний</a:t>
            </a:r>
            <a:r>
              <a:rPr lang="ru-RU" sz="1400" dirty="0"/>
              <a:t> стан та </a:t>
            </a:r>
            <a:r>
              <a:rPr lang="ru-RU" sz="1400" dirty="0" err="1"/>
              <a:t>особливості</a:t>
            </a:r>
            <a:r>
              <a:rPr lang="ru-RU" sz="1400" dirty="0"/>
              <a:t> </a:t>
            </a:r>
            <a:r>
              <a:rPr lang="ru-RU" sz="1400" dirty="0" err="1"/>
              <a:t>підготовки</a:t>
            </a:r>
            <a:r>
              <a:rPr lang="ru-RU" sz="1400" dirty="0"/>
              <a:t> </a:t>
            </a:r>
            <a:r>
              <a:rPr lang="ru-RU" sz="1400" dirty="0" err="1"/>
              <a:t>фахівців</a:t>
            </a:r>
            <a:r>
              <a:rPr lang="ru-RU" sz="1400" dirty="0"/>
              <a:t>: </a:t>
            </a:r>
            <a:r>
              <a:rPr lang="ru-RU" sz="1400" dirty="0" err="1"/>
              <a:t>матеріали</a:t>
            </a:r>
            <a:r>
              <a:rPr lang="ru-RU" sz="1400" dirty="0"/>
              <a:t> </a:t>
            </a:r>
            <a:r>
              <a:rPr lang="ru-RU" sz="1400" dirty="0" err="1"/>
              <a:t>Всеукраїнської</a:t>
            </a:r>
            <a:r>
              <a:rPr lang="ru-RU" sz="1400" dirty="0"/>
              <a:t> </a:t>
            </a:r>
            <a:r>
              <a:rPr lang="ru-RU" sz="1400" dirty="0" err="1"/>
              <a:t>науково-практичної</a:t>
            </a:r>
            <a:r>
              <a:rPr lang="ru-RU" sz="1400" dirty="0"/>
              <a:t> </a:t>
            </a:r>
            <a:r>
              <a:rPr lang="ru-RU" sz="1400" dirty="0" err="1"/>
              <a:t>конференції</a:t>
            </a:r>
            <a:r>
              <a:rPr lang="ru-RU" sz="1400" dirty="0"/>
              <a:t>, м. Полтава, 15–16 </a:t>
            </a:r>
            <a:r>
              <a:rPr lang="ru-RU" sz="1400" dirty="0" err="1"/>
              <a:t>квітня</a:t>
            </a:r>
            <a:r>
              <a:rPr lang="ru-RU" sz="1400" dirty="0"/>
              <a:t> 2026 р. УДК 004.738.5:004.056.57</a:t>
            </a:r>
          </a:p>
          <a:p>
            <a:pPr algn="just" defTabSz="914400">
              <a:lnSpc>
                <a:spcPct val="120000"/>
              </a:lnSpc>
              <a:spcBef>
                <a:spcPts val="500"/>
              </a:spcBef>
              <a:spcAft>
                <a:spcPts val="600"/>
              </a:spcAft>
              <a:buClr>
                <a:schemeClr val="accent6"/>
              </a:buClr>
              <a:buSzPct val="90000"/>
              <a:defRPr sz="1800"/>
            </a:pPr>
            <a:endParaRPr lang="en-US" sz="1400" dirty="0"/>
          </a:p>
        </p:txBody>
      </p:sp>
      <p:sp>
        <p:nvSpPr>
          <p:cNvPr id="5" name="Номер слайда 4">
            <a:extLst>
              <a:ext uri="{FF2B5EF4-FFF2-40B4-BE49-F238E27FC236}">
                <a16:creationId xmlns:a16="http://schemas.microsoft.com/office/drawing/2014/main" id="{3959DD4B-E988-FA1B-667B-3A203EAF28F6}"/>
              </a:ext>
            </a:extLst>
          </p:cNvPr>
          <p:cNvSpPr>
            <a:spLocks noGrp="1"/>
          </p:cNvSpPr>
          <p:nvPr>
            <p:ph type="sldNum" sz="quarter" idx="12"/>
          </p:nvPr>
        </p:nvSpPr>
        <p:spPr/>
        <p:txBody>
          <a:bodyPr/>
          <a:lstStyle/>
          <a:p>
            <a:fld id="{C1FF6DA9-008F-8B48-92A6-B652298478BF}" type="slidenum">
              <a:rPr lang="en-US" smtClean="0"/>
              <a:t>32</a:t>
            </a:fld>
            <a:endParaRPr lang="en-US" dirty="0"/>
          </a:p>
        </p:txBody>
      </p:sp>
      <p:pic>
        <p:nvPicPr>
          <p:cNvPr id="6" name="Рисунок 5" descr="Изображение выглядит как текст, бумага, Шрифт, письмо&#10;&#10;Автоматически созданное описание">
            <a:extLst>
              <a:ext uri="{FF2B5EF4-FFF2-40B4-BE49-F238E27FC236}">
                <a16:creationId xmlns:a16="http://schemas.microsoft.com/office/drawing/2014/main" id="{EBD2E522-D2BB-4CA7-27BA-ECDBD5840DA7}"/>
              </a:ext>
            </a:extLst>
          </p:cNvPr>
          <p:cNvPicPr>
            <a:picLocks noChangeAspect="1"/>
          </p:cNvPicPr>
          <p:nvPr/>
        </p:nvPicPr>
        <p:blipFill>
          <a:blip r:embed="rId7"/>
          <a:stretch>
            <a:fillRect/>
          </a:stretch>
        </p:blipFill>
        <p:spPr>
          <a:xfrm>
            <a:off x="6693596" y="1491131"/>
            <a:ext cx="1965304" cy="2795715"/>
          </a:xfrm>
          <a:prstGeom prst="rect">
            <a:avLst/>
          </a:prstGeom>
        </p:spPr>
      </p:pic>
      <p:pic>
        <p:nvPicPr>
          <p:cNvPr id="9" name="Рисунок 8" descr="Изображение выглядит как текст, Шрифт, снимок экрана, бумага&#10;&#10;Автоматически созданное описание">
            <a:extLst>
              <a:ext uri="{FF2B5EF4-FFF2-40B4-BE49-F238E27FC236}">
                <a16:creationId xmlns:a16="http://schemas.microsoft.com/office/drawing/2014/main" id="{ADB82913-1A68-EA2A-4433-77162ADBEA78}"/>
              </a:ext>
            </a:extLst>
          </p:cNvPr>
          <p:cNvPicPr>
            <a:picLocks noChangeAspect="1"/>
          </p:cNvPicPr>
          <p:nvPr/>
        </p:nvPicPr>
        <p:blipFill>
          <a:blip r:embed="rId8"/>
          <a:stretch>
            <a:fillRect/>
          </a:stretch>
        </p:blipFill>
        <p:spPr>
          <a:xfrm>
            <a:off x="7212192" y="4370765"/>
            <a:ext cx="1759063" cy="2403316"/>
          </a:xfrm>
          <a:prstGeom prst="rect">
            <a:avLst/>
          </a:prstGeom>
        </p:spPr>
      </p:pic>
    </p:spTree>
    <p:extLst>
      <p:ext uri="{BB962C8B-B14F-4D97-AF65-F5344CB8AC3E}">
        <p14:creationId xmlns:p14="http://schemas.microsoft.com/office/powerpoint/2010/main" val="2756218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94F16C-7BAC-4F89-4808-F8F50C2657FF}"/>
              </a:ext>
            </a:extLst>
          </p:cNvPr>
          <p:cNvSpPr>
            <a:spLocks noGrp="1"/>
          </p:cNvSpPr>
          <p:nvPr>
            <p:ph type="title"/>
          </p:nvPr>
        </p:nvSpPr>
        <p:spPr>
          <a:xfrm>
            <a:off x="3119514" y="2950159"/>
            <a:ext cx="2904972" cy="478841"/>
          </a:xfrm>
        </p:spPr>
        <p:txBody>
          <a:bodyPr/>
          <a:lstStyle/>
          <a:p>
            <a:pPr algn="l"/>
            <a:r>
              <a:rPr lang="ru-UA" dirty="0"/>
              <a:t>Дякую за увагу!</a:t>
            </a:r>
          </a:p>
        </p:txBody>
      </p:sp>
      <p:sp>
        <p:nvSpPr>
          <p:cNvPr id="4" name="Номер слайда 3">
            <a:extLst>
              <a:ext uri="{FF2B5EF4-FFF2-40B4-BE49-F238E27FC236}">
                <a16:creationId xmlns:a16="http://schemas.microsoft.com/office/drawing/2014/main" id="{EB41CEED-EFCD-6B92-1050-B5C0823D21CF}"/>
              </a:ext>
            </a:extLst>
          </p:cNvPr>
          <p:cNvSpPr>
            <a:spLocks noGrp="1"/>
          </p:cNvSpPr>
          <p:nvPr>
            <p:ph type="sldNum" sz="quarter" idx="12"/>
          </p:nvPr>
        </p:nvSpPr>
        <p:spPr/>
        <p:txBody>
          <a:bodyPr/>
          <a:lstStyle/>
          <a:p>
            <a:fld id="{C1FF6DA9-008F-8B48-92A6-B652298478BF}" type="slidenum">
              <a:rPr lang="en-US" smtClean="0"/>
              <a:t>33</a:t>
            </a:fld>
            <a:endParaRPr lang="en-US" dirty="0"/>
          </a:p>
        </p:txBody>
      </p:sp>
    </p:spTree>
    <p:extLst>
      <p:ext uri="{BB962C8B-B14F-4D97-AF65-F5344CB8AC3E}">
        <p14:creationId xmlns:p14="http://schemas.microsoft.com/office/powerpoint/2010/main" val="32932127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Мэдисон">
  <a:themeElements>
    <a:clrScheme name="Мэдисон">
      <a:dk1>
        <a:sysClr val="windowText" lastClr="000000"/>
      </a:dk1>
      <a:lt1>
        <a:sysClr val="window" lastClr="FFFFFF"/>
      </a:lt1>
      <a:dk2>
        <a:srgbClr val="2D251F"/>
      </a:dk2>
      <a:lt2>
        <a:srgbClr val="FAE9C5"/>
      </a:lt2>
      <a:accent1>
        <a:srgbClr val="ED3846"/>
      </a:accent1>
      <a:accent2>
        <a:srgbClr val="F87184"/>
      </a:accent2>
      <a:accent3>
        <a:srgbClr val="EC9DA9"/>
      </a:accent3>
      <a:accent4>
        <a:srgbClr val="ECC190"/>
      </a:accent4>
      <a:accent5>
        <a:srgbClr val="FFB268"/>
      </a:accent5>
      <a:accent6>
        <a:srgbClr val="F98657"/>
      </a:accent6>
      <a:hlink>
        <a:srgbClr val="B97669"/>
      </a:hlink>
      <a:folHlink>
        <a:srgbClr val="9E9483"/>
      </a:folHlink>
    </a:clrScheme>
    <a:fontScheme name="Мэдисон">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Мэдисон">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BCCF8060-3FCB-4641-B728-8A589529B13F}"/>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4820</TotalTime>
  <Words>3407</Words>
  <Application>Microsoft Macintosh PowerPoint</Application>
  <PresentationFormat>Экран (4:3)</PresentationFormat>
  <Paragraphs>763</Paragraphs>
  <Slides>33</Slides>
  <Notes>2</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33</vt:i4>
      </vt:variant>
    </vt:vector>
  </HeadingPairs>
  <TitlesOfParts>
    <vt:vector size="40" baseType="lpstr">
      <vt:lpstr>Aptos</vt:lpstr>
      <vt:lpstr>Arial</vt:lpstr>
      <vt:lpstr>Calibri</vt:lpstr>
      <vt:lpstr>MS Shell Dlg 2</vt:lpstr>
      <vt:lpstr>Wingdings</vt:lpstr>
      <vt:lpstr>Wingdings 3</vt:lpstr>
      <vt:lpstr>Мэдисон</vt:lpstr>
      <vt:lpstr>Дослідження ефективності плагінів безпеки в Wordpress для виявлення реальних загроз на web-рішення </vt:lpstr>
      <vt:lpstr>Тема та актуальність дослідження</vt:lpstr>
      <vt:lpstr>Мета, об’єкт і предмет роботи</vt:lpstr>
      <vt:lpstr>Постановка задачі та критерії оцінювання</vt:lpstr>
      <vt:lpstr>Постановка задачі та критерії оцінювання</vt:lpstr>
      <vt:lpstr>Презентация PowerPoint</vt:lpstr>
      <vt:lpstr>Огляд підходів до захисту WordPress</vt:lpstr>
      <vt:lpstr>Методика оцінки ефективності плагінів безпеки WordPress</vt:lpstr>
      <vt:lpstr>Методика оцінки ефективності плагінів безпеки WordPress</vt:lpstr>
      <vt:lpstr>Методика оцінки ефективності плагінів безпеки WordPress</vt:lpstr>
      <vt:lpstr>Методика оцінки ефективності плагінів безпеки WordPress</vt:lpstr>
      <vt:lpstr>Формальна модель оцінювання плагінів безпеки</vt:lpstr>
      <vt:lpstr>Формальна модель оцінювання плагінів безпеки</vt:lpstr>
      <vt:lpstr>Класи загроз для веб‑рішень</vt:lpstr>
      <vt:lpstr>Критерії та вагові коефіцієнти (експертне оцінювання)</vt:lpstr>
      <vt:lpstr>Метрики якості: Precision, Recall, F1</vt:lpstr>
      <vt:lpstr>Коротка характеристика плагінів безпеки</vt:lpstr>
      <vt:lpstr>Обмеження дослідження та валідність</vt:lpstr>
      <vt:lpstr>Презентация PowerPoint</vt:lpstr>
      <vt:lpstr>Презентация PowerPoint</vt:lpstr>
      <vt:lpstr>Презентация PowerPoint</vt:lpstr>
      <vt:lpstr>Презентация PowerPoint</vt:lpstr>
      <vt:lpstr>Розрахунки метрик якості  Precision, Recall, F1</vt:lpstr>
      <vt:lpstr>Оцінювання продуктивності</vt:lpstr>
      <vt:lpstr>Оцінювання продуктивності</vt:lpstr>
      <vt:lpstr>Порівняльний аналіз результатів</vt:lpstr>
      <vt:lpstr>Інтерпретація та практичні рекомендації</vt:lpstr>
      <vt:lpstr>Інтерпретація та практичні рекомендації</vt:lpstr>
      <vt:lpstr>Ефекти від дослідження</vt:lpstr>
      <vt:lpstr>Висновки та перспективи подальших досліджень</vt:lpstr>
      <vt:lpstr>Висновки та перспективи подальших досліджень</vt:lpstr>
      <vt:lpstr>Результати магістерської роботи опубліковано у 2 наукових збірках </vt:lpstr>
      <vt:lpstr>Дякую за увагу!</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Дар`я Собко</cp:lastModifiedBy>
  <cp:revision>17</cp:revision>
  <dcterms:created xsi:type="dcterms:W3CDTF">2013-01-27T09:14:16Z</dcterms:created>
  <dcterms:modified xsi:type="dcterms:W3CDTF">2026-05-25T15:10:22Z</dcterms:modified>
  <cp:category/>
</cp:coreProperties>
</file>